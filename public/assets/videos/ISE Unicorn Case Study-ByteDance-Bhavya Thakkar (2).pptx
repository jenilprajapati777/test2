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5"/>
  </p:notesMasterIdLst>
  <p:sldIdLst>
    <p:sldId id="270"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5143500" cy="9144000"/>
  <p:embeddedFontLst>
    <p:embeddedFont>
      <p:font typeface="Inter" panose="020B0604020202020204" charset="0"/>
      <p:regular r:id="rId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00" d="100"/>
          <a:sy n="100" d="100"/>
        </p:scale>
        <p:origin x="946" y="-2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447583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8712183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p:cNvSpPr txBox="1"/>
          <p:nvPr/>
        </p:nvSpPr>
        <p:spPr>
          <a:xfrm>
            <a:off x="3974238" y="4757395"/>
            <a:ext cx="1242921" cy="219291"/>
          </a:xfrm>
          <a:prstGeom prst="rect">
            <a:avLst/>
          </a:prstGeom>
          <a:noFill/>
        </p:spPr>
        <p:txBody>
          <a:bodyPr wrap="square" anchor="t">
            <a:spAutoFit/>
          </a:bodyPr>
          <a:lstStyle/>
          <a:p>
            <a:pPr algn="ctr"/>
            <a:r>
              <a:rPr sz="825" dirty="0">
                <a:solidFill>
                  <a:srgbClr val="7D7D7D"/>
                </a:solidFill>
                <a:latin typeface="Times New Roman" panose="02020603050405020304" pitchFamily="18" charset="0"/>
                <a:cs typeface="Times New Roman" panose="02020603050405020304" pitchFamily="18" charset="0"/>
              </a:rPr>
              <a:t>Academic Year 2026–27</a:t>
            </a:r>
          </a:p>
        </p:txBody>
      </p:sp>
      <p:pic>
        <p:nvPicPr>
          <p:cNvPr id="19" name="Picture 18">
            <a:extLst>
              <a:ext uri="{FF2B5EF4-FFF2-40B4-BE49-F238E27FC236}">
                <a16:creationId xmlns:a16="http://schemas.microsoft.com/office/drawing/2014/main" id="{24B9570A-6C77-DA33-F4B5-D8B06B3A0660}"/>
              </a:ext>
            </a:extLst>
          </p:cNvPr>
          <p:cNvPicPr>
            <a:picLocks noChangeAspect="1"/>
          </p:cNvPicPr>
          <p:nvPr/>
        </p:nvPicPr>
        <p:blipFill>
          <a:blip r:embed="rId2"/>
          <a:srcRect l="11213" t="32615" r="12965" b="32915"/>
          <a:stretch>
            <a:fillRect/>
          </a:stretch>
        </p:blipFill>
        <p:spPr>
          <a:xfrm>
            <a:off x="6498474" y="216642"/>
            <a:ext cx="2443766" cy="785390"/>
          </a:xfrm>
          <a:prstGeom prst="rect">
            <a:avLst/>
          </a:prstGeom>
        </p:spPr>
      </p:pic>
      <p:sp>
        <p:nvSpPr>
          <p:cNvPr id="5" name="Rectangle 4"/>
          <p:cNvSpPr/>
          <p:nvPr/>
        </p:nvSpPr>
        <p:spPr>
          <a:xfrm>
            <a:off x="1" y="0"/>
            <a:ext cx="9143771" cy="98675"/>
          </a:xfrm>
          <a:prstGeom prst="rect">
            <a:avLst/>
          </a:prstGeom>
          <a:solidFill>
            <a:srgbClr val="2643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latin typeface="Times New Roman" panose="02020603050405020304" pitchFamily="18" charset="0"/>
              <a:cs typeface="Times New Roman" panose="02020603050405020304" pitchFamily="18" charset="0"/>
            </a:endParaRPr>
          </a:p>
        </p:txBody>
      </p:sp>
      <p:pic>
        <p:nvPicPr>
          <p:cNvPr id="20" name="Picture 19">
            <a:extLst>
              <a:ext uri="{FF2B5EF4-FFF2-40B4-BE49-F238E27FC236}">
                <a16:creationId xmlns:a16="http://schemas.microsoft.com/office/drawing/2014/main" id="{57F0E36B-97EB-A820-9119-0C65E23A0827}"/>
              </a:ext>
            </a:extLst>
          </p:cNvPr>
          <p:cNvPicPr>
            <a:picLocks noChangeAspect="1"/>
          </p:cNvPicPr>
          <p:nvPr/>
        </p:nvPicPr>
        <p:blipFill>
          <a:blip r:embed="rId3"/>
          <a:srcRect l="5703" t="17210" r="5813" b="22160"/>
          <a:stretch>
            <a:fillRect/>
          </a:stretch>
        </p:blipFill>
        <p:spPr>
          <a:xfrm>
            <a:off x="230739" y="203203"/>
            <a:ext cx="1749389" cy="846590"/>
          </a:xfrm>
          <a:prstGeom prst="rect">
            <a:avLst/>
          </a:prstGeom>
        </p:spPr>
      </p:pic>
      <p:sp>
        <p:nvSpPr>
          <p:cNvPr id="6" name="TextBox 5"/>
          <p:cNvSpPr txBox="1"/>
          <p:nvPr/>
        </p:nvSpPr>
        <p:spPr>
          <a:xfrm>
            <a:off x="1758578" y="1002032"/>
            <a:ext cx="5626605" cy="873572"/>
          </a:xfrm>
          <a:prstGeom prst="rect">
            <a:avLst/>
          </a:prstGeom>
          <a:noFill/>
        </p:spPr>
        <p:txBody>
          <a:bodyPr wrap="none" anchor="t">
            <a:spAutoFit/>
          </a:bodyPr>
          <a:lstStyle/>
          <a:p>
            <a:pPr algn="ctr">
              <a:lnSpc>
                <a:spcPct val="150000"/>
              </a:lnSpc>
            </a:pPr>
            <a:r>
              <a:rPr lang="en-US" b="1" dirty="0">
                <a:solidFill>
                  <a:srgbClr val="26436E"/>
                </a:solidFill>
                <a:latin typeface="Times New Roman" panose="02020603050405020304" pitchFamily="18" charset="0"/>
                <a:cs typeface="Times New Roman" panose="02020603050405020304" pitchFamily="18" charset="0"/>
              </a:rPr>
              <a:t>GLS UNIVERSITY</a:t>
            </a:r>
            <a:br>
              <a:rPr lang="en-US" b="1" dirty="0">
                <a:solidFill>
                  <a:srgbClr val="26436E"/>
                </a:solidFill>
                <a:latin typeface="Times New Roman" panose="02020603050405020304" pitchFamily="18" charset="0"/>
                <a:cs typeface="Times New Roman" panose="02020603050405020304" pitchFamily="18" charset="0"/>
              </a:rPr>
            </a:br>
            <a:r>
              <a:rPr b="1" dirty="0">
                <a:solidFill>
                  <a:srgbClr val="26436E"/>
                </a:solidFill>
                <a:latin typeface="Times New Roman" panose="02020603050405020304" pitchFamily="18" charset="0"/>
                <a:cs typeface="Times New Roman" panose="02020603050405020304" pitchFamily="18" charset="0"/>
              </a:rPr>
              <a:t>FACULTY OF ENGINEERING AND TECHNOLOGY</a:t>
            </a:r>
          </a:p>
        </p:txBody>
      </p:sp>
      <p:sp>
        <p:nvSpPr>
          <p:cNvPr id="8" name="TextBox 7"/>
          <p:cNvSpPr txBox="1"/>
          <p:nvPr/>
        </p:nvSpPr>
        <p:spPr>
          <a:xfrm>
            <a:off x="2680146" y="1986230"/>
            <a:ext cx="3783473" cy="300082"/>
          </a:xfrm>
          <a:prstGeom prst="rect">
            <a:avLst/>
          </a:prstGeom>
          <a:noFill/>
        </p:spPr>
        <p:txBody>
          <a:bodyPr wrap="none" anchor="t">
            <a:spAutoFit/>
          </a:bodyPr>
          <a:lstStyle/>
          <a:p>
            <a:pPr algn="ctr"/>
            <a:r>
              <a:rPr sz="1350" b="1" dirty="0">
                <a:solidFill>
                  <a:srgbClr val="232323"/>
                </a:solidFill>
                <a:latin typeface="Times New Roman" panose="02020603050405020304" pitchFamily="18" charset="0"/>
                <a:cs typeface="Times New Roman" panose="02020603050405020304" pitchFamily="18" charset="0"/>
              </a:rPr>
              <a:t>CASE STUDY ON THE UNICORN COMPANY</a:t>
            </a:r>
          </a:p>
        </p:txBody>
      </p:sp>
      <p:sp>
        <p:nvSpPr>
          <p:cNvPr id="21" name="Rectangle 20">
            <a:extLst>
              <a:ext uri="{FF2B5EF4-FFF2-40B4-BE49-F238E27FC236}">
                <a16:creationId xmlns:a16="http://schemas.microsoft.com/office/drawing/2014/main" id="{F3CA159C-4791-486D-19A1-66D14B50A0BC}"/>
              </a:ext>
            </a:extLst>
          </p:cNvPr>
          <p:cNvSpPr/>
          <p:nvPr/>
        </p:nvSpPr>
        <p:spPr>
          <a:xfrm>
            <a:off x="229" y="5008149"/>
            <a:ext cx="9143543" cy="113194"/>
          </a:xfrm>
          <a:prstGeom prst="rect">
            <a:avLst/>
          </a:prstGeom>
          <a:solidFill>
            <a:srgbClr val="2643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latin typeface="Times New Roman" panose="02020603050405020304" pitchFamily="18" charset="0"/>
              <a:cs typeface="Times New Roman" panose="02020603050405020304" pitchFamily="18" charset="0"/>
            </a:endParaRPr>
          </a:p>
        </p:txBody>
      </p:sp>
      <p:sp>
        <p:nvSpPr>
          <p:cNvPr id="9" name="TextBox 8"/>
          <p:cNvSpPr txBox="1"/>
          <p:nvPr/>
        </p:nvSpPr>
        <p:spPr>
          <a:xfrm>
            <a:off x="3827036" y="2410048"/>
            <a:ext cx="1467068" cy="288541"/>
          </a:xfrm>
          <a:prstGeom prst="rect">
            <a:avLst/>
          </a:prstGeom>
          <a:noFill/>
        </p:spPr>
        <p:txBody>
          <a:bodyPr wrap="none" anchor="t">
            <a:spAutoFit/>
          </a:bodyPr>
          <a:lstStyle/>
          <a:p>
            <a:pPr algn="ctr"/>
            <a:r>
              <a:rPr sz="1275" dirty="0">
                <a:solidFill>
                  <a:srgbClr val="4B4B4B"/>
                </a:solidFill>
                <a:latin typeface="Times New Roman" panose="02020603050405020304" pitchFamily="18" charset="0"/>
                <a:cs typeface="Times New Roman" panose="02020603050405020304" pitchFamily="18" charset="0"/>
              </a:rPr>
              <a:t>Named: </a:t>
            </a:r>
            <a:r>
              <a:rPr lang="en-US" sz="1275" dirty="0">
                <a:solidFill>
                  <a:srgbClr val="4B4B4B"/>
                </a:solidFill>
                <a:latin typeface="Times New Roman" panose="02020603050405020304" pitchFamily="18" charset="0"/>
                <a:cs typeface="Times New Roman" panose="02020603050405020304" pitchFamily="18" charset="0"/>
              </a:rPr>
              <a:t>ByteDance</a:t>
            </a:r>
            <a:endParaRPr sz="1275" dirty="0">
              <a:solidFill>
                <a:srgbClr val="4B4B4B"/>
              </a:solidFill>
              <a:latin typeface="Times New Roman" panose="02020603050405020304" pitchFamily="18" charset="0"/>
              <a:cs typeface="Times New Roman" panose="02020603050405020304" pitchFamily="18" charset="0"/>
            </a:endParaRPr>
          </a:p>
        </p:txBody>
      </p:sp>
      <p:sp>
        <p:nvSpPr>
          <p:cNvPr id="11" name="TextBox 10"/>
          <p:cNvSpPr txBox="1"/>
          <p:nvPr/>
        </p:nvSpPr>
        <p:spPr>
          <a:xfrm>
            <a:off x="4175777" y="2846025"/>
            <a:ext cx="792205" cy="253916"/>
          </a:xfrm>
          <a:prstGeom prst="rect">
            <a:avLst/>
          </a:prstGeom>
          <a:noFill/>
        </p:spPr>
        <p:txBody>
          <a:bodyPr wrap="none" anchor="t">
            <a:spAutoFit/>
          </a:bodyPr>
          <a:lstStyle/>
          <a:p>
            <a:pPr algn="ctr"/>
            <a:r>
              <a:rPr sz="1050" b="1" dirty="0">
                <a:solidFill>
                  <a:srgbClr val="26436E"/>
                </a:solidFill>
                <a:latin typeface="Times New Roman" panose="02020603050405020304" pitchFamily="18" charset="0"/>
                <a:cs typeface="Times New Roman" panose="02020603050405020304" pitchFamily="18" charset="0"/>
              </a:rPr>
              <a:t>SUBJECT</a:t>
            </a:r>
          </a:p>
        </p:txBody>
      </p:sp>
      <p:sp>
        <p:nvSpPr>
          <p:cNvPr id="12" name="TextBox 11"/>
          <p:cNvSpPr txBox="1"/>
          <p:nvPr/>
        </p:nvSpPr>
        <p:spPr>
          <a:xfrm>
            <a:off x="2797135" y="3096718"/>
            <a:ext cx="3549498" cy="300082"/>
          </a:xfrm>
          <a:prstGeom prst="rect">
            <a:avLst/>
          </a:prstGeom>
          <a:noFill/>
        </p:spPr>
        <p:txBody>
          <a:bodyPr wrap="none" anchor="t">
            <a:spAutoFit/>
          </a:bodyPr>
          <a:lstStyle/>
          <a:p>
            <a:pPr algn="ctr"/>
            <a:r>
              <a:rPr sz="1350" b="1" dirty="0">
                <a:solidFill>
                  <a:srgbClr val="323232"/>
                </a:solidFill>
                <a:latin typeface="Times New Roman" panose="02020603050405020304" pitchFamily="18" charset="0"/>
                <a:cs typeface="Times New Roman" panose="02020603050405020304" pitchFamily="18" charset="0"/>
              </a:rPr>
              <a:t>Innovation, Start</a:t>
            </a:r>
            <a:r>
              <a:rPr lang="en-US" sz="1350" b="1" dirty="0">
                <a:solidFill>
                  <a:srgbClr val="323232"/>
                </a:solidFill>
                <a:latin typeface="Times New Roman" panose="02020603050405020304" pitchFamily="18" charset="0"/>
                <a:cs typeface="Times New Roman" panose="02020603050405020304" pitchFamily="18" charset="0"/>
              </a:rPr>
              <a:t> - </a:t>
            </a:r>
            <a:r>
              <a:rPr sz="1350" b="1" dirty="0">
                <a:solidFill>
                  <a:srgbClr val="323232"/>
                </a:solidFill>
                <a:latin typeface="Times New Roman" panose="02020603050405020304" pitchFamily="18" charset="0"/>
                <a:cs typeface="Times New Roman" panose="02020603050405020304" pitchFamily="18" charset="0"/>
              </a:rPr>
              <a:t>Up, and Entrepreneurship</a:t>
            </a:r>
          </a:p>
        </p:txBody>
      </p:sp>
      <p:sp>
        <p:nvSpPr>
          <p:cNvPr id="13" name="TextBox 12"/>
          <p:cNvSpPr txBox="1"/>
          <p:nvPr/>
        </p:nvSpPr>
        <p:spPr>
          <a:xfrm>
            <a:off x="4020864" y="3750383"/>
            <a:ext cx="1102033" cy="276999"/>
          </a:xfrm>
          <a:prstGeom prst="rect">
            <a:avLst/>
          </a:prstGeom>
          <a:noFill/>
        </p:spPr>
        <p:txBody>
          <a:bodyPr wrap="none" anchor="t">
            <a:spAutoFit/>
          </a:bodyPr>
          <a:lstStyle/>
          <a:p>
            <a:pPr algn="ctr"/>
            <a:r>
              <a:rPr sz="1200" b="1" dirty="0">
                <a:solidFill>
                  <a:srgbClr val="26436E"/>
                </a:solidFill>
                <a:latin typeface="Times New Roman" panose="02020603050405020304" pitchFamily="18" charset="0"/>
                <a:cs typeface="Times New Roman" panose="02020603050405020304" pitchFamily="18" charset="0"/>
              </a:rPr>
              <a:t>Presented By:</a:t>
            </a:r>
          </a:p>
        </p:txBody>
      </p:sp>
      <p:sp>
        <p:nvSpPr>
          <p:cNvPr id="25" name="TextBox 24">
            <a:extLst>
              <a:ext uri="{FF2B5EF4-FFF2-40B4-BE49-F238E27FC236}">
                <a16:creationId xmlns:a16="http://schemas.microsoft.com/office/drawing/2014/main" id="{820DF782-1350-63FB-A3EA-62C3DB806A74}"/>
              </a:ext>
            </a:extLst>
          </p:cNvPr>
          <p:cNvSpPr txBox="1"/>
          <p:nvPr/>
        </p:nvSpPr>
        <p:spPr>
          <a:xfrm>
            <a:off x="4101269" y="3454701"/>
            <a:ext cx="1056123" cy="300082"/>
          </a:xfrm>
          <a:prstGeom prst="rect">
            <a:avLst/>
          </a:prstGeom>
          <a:noFill/>
        </p:spPr>
        <p:txBody>
          <a:bodyPr wrap="none" anchor="t">
            <a:spAutoFit/>
          </a:bodyPr>
          <a:lstStyle/>
          <a:p>
            <a:r>
              <a:rPr sz="1350" dirty="0"/>
              <a:t>Semester : 7</a:t>
            </a:r>
          </a:p>
        </p:txBody>
      </p:sp>
      <p:sp>
        <p:nvSpPr>
          <p:cNvPr id="14" name="TextBox 13"/>
          <p:cNvSpPr txBox="1"/>
          <p:nvPr/>
        </p:nvSpPr>
        <p:spPr>
          <a:xfrm>
            <a:off x="3968774" y="4056021"/>
            <a:ext cx="1206228" cy="276999"/>
          </a:xfrm>
          <a:prstGeom prst="rect">
            <a:avLst/>
          </a:prstGeom>
          <a:noFill/>
        </p:spPr>
        <p:txBody>
          <a:bodyPr wrap="none" anchor="t">
            <a:spAutoFit/>
          </a:bodyPr>
          <a:lstStyle/>
          <a:p>
            <a:pPr algn="ctr"/>
            <a:r>
              <a:rPr lang="en-IN" sz="1200" dirty="0">
                <a:solidFill>
                  <a:srgbClr val="4B4B4B"/>
                </a:solidFill>
                <a:latin typeface="Times New Roman" panose="02020603050405020304" pitchFamily="18" charset="0"/>
                <a:cs typeface="Times New Roman" panose="02020603050405020304" pitchFamily="18" charset="0"/>
              </a:rPr>
              <a:t>Bhavya Thakkar</a:t>
            </a:r>
            <a:endParaRPr sz="1200" dirty="0">
              <a:solidFill>
                <a:srgbClr val="4B4B4B"/>
              </a:solidFill>
              <a:latin typeface="Times New Roman" panose="02020603050405020304" pitchFamily="18" charset="0"/>
              <a:cs typeface="Times New Roman" panose="02020603050405020304" pitchFamily="18" charset="0"/>
            </a:endParaRPr>
          </a:p>
        </p:txBody>
      </p:sp>
      <p:sp>
        <p:nvSpPr>
          <p:cNvPr id="15" name="TextBox 14"/>
          <p:cNvSpPr txBox="1"/>
          <p:nvPr/>
        </p:nvSpPr>
        <p:spPr>
          <a:xfrm>
            <a:off x="2810466" y="4437563"/>
            <a:ext cx="3513100" cy="265457"/>
          </a:xfrm>
          <a:prstGeom prst="rect">
            <a:avLst/>
          </a:prstGeom>
          <a:noFill/>
        </p:spPr>
        <p:txBody>
          <a:bodyPr wrap="square" anchor="t">
            <a:spAutoFit/>
          </a:bodyPr>
          <a:lstStyle/>
          <a:p>
            <a:pPr algn="ctr"/>
            <a:r>
              <a:rPr sz="1125" dirty="0">
                <a:solidFill>
                  <a:srgbClr val="4B4B4B"/>
                </a:solidFill>
                <a:latin typeface="Times New Roman" panose="02020603050405020304" pitchFamily="18" charset="0"/>
                <a:cs typeface="Times New Roman" panose="02020603050405020304" pitchFamily="18" charset="0"/>
              </a:rPr>
              <a:t>Enrolment No.:</a:t>
            </a:r>
            <a:r>
              <a:rPr lang="en-US" sz="1125" dirty="0">
                <a:solidFill>
                  <a:srgbClr val="4B4B4B"/>
                </a:solidFill>
                <a:latin typeface="Times New Roman" panose="02020603050405020304" pitchFamily="18" charset="0"/>
                <a:cs typeface="Times New Roman" panose="02020603050405020304" pitchFamily="18" charset="0"/>
              </a:rPr>
              <a:t> 202302626010136</a:t>
            </a:r>
            <a:endParaRPr sz="1125" dirty="0">
              <a:solidFill>
                <a:srgbClr val="4B4B4B"/>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C"/>
        </a:solidFill>
        <a:effectLst/>
      </p:bgPr>
    </p:bg>
    <p:spTree>
      <p:nvGrpSpPr>
        <p:cNvPr id="1" name=""/>
        <p:cNvGrpSpPr/>
        <p:nvPr/>
      </p:nvGrpSpPr>
      <p:grpSpPr>
        <a:xfrm>
          <a:off x="0" y="0"/>
          <a:ext cx="0" cy="0"/>
          <a:chOff x="0" y="0"/>
          <a:chExt cx="0" cy="0"/>
        </a:xfrm>
      </p:grpSpPr>
      <p:sp>
        <p:nvSpPr>
          <p:cNvPr id="2" name="Shape 0"/>
          <p:cNvSpPr/>
          <p:nvPr/>
        </p:nvSpPr>
        <p:spPr>
          <a:xfrm>
            <a:off x="571500" y="533400"/>
            <a:ext cx="38100" cy="285750"/>
          </a:xfrm>
          <a:prstGeom prst="rect">
            <a:avLst/>
          </a:prstGeom>
          <a:solidFill>
            <a:srgbClr val="25F4EE"/>
          </a:solidFill>
          <a:ln/>
        </p:spPr>
      </p:sp>
      <p:sp>
        <p:nvSpPr>
          <p:cNvPr id="3" name="Shape 1"/>
          <p:cNvSpPr/>
          <p:nvPr/>
        </p:nvSpPr>
        <p:spPr>
          <a:xfrm>
            <a:off x="638175" y="571500"/>
            <a:ext cx="38100" cy="285750"/>
          </a:xfrm>
          <a:prstGeom prst="rect">
            <a:avLst/>
          </a:prstGeom>
          <a:solidFill>
            <a:srgbClr val="FE2C55"/>
          </a:solidFill>
          <a:ln/>
        </p:spPr>
      </p:sp>
      <p:sp>
        <p:nvSpPr>
          <p:cNvPr id="4" name="Text 2"/>
          <p:cNvSpPr/>
          <p:nvPr/>
        </p:nvSpPr>
        <p:spPr>
          <a:xfrm>
            <a:off x="781050" y="514350"/>
            <a:ext cx="504825" cy="128588"/>
          </a:xfrm>
          <a:prstGeom prst="rect">
            <a:avLst/>
          </a:prstGeom>
          <a:noFill/>
          <a:ln/>
        </p:spPr>
        <p:txBody>
          <a:bodyPr wrap="square" lIns="0" tIns="0" rIns="0" bIns="0" rtlCol="0" anchor="t"/>
          <a:lstStyle/>
          <a:p>
            <a:pPr marL="0" indent="0" algn="l">
              <a:lnSpc>
                <a:spcPts val="949"/>
              </a:lnSpc>
              <a:buNone/>
            </a:pPr>
            <a:r>
              <a:rPr lang="en-US" sz="784" b="1" kern="0" spc="94" dirty="0">
                <a:solidFill>
                  <a:srgbClr val="FE2C55">
                    <a:alpha val="99000"/>
                  </a:srgbClr>
                </a:solidFill>
                <a:latin typeface="Inter" pitchFamily="34" charset="0"/>
                <a:ea typeface="Inter" pitchFamily="34" charset="-122"/>
                <a:cs typeface="Inter" pitchFamily="34" charset="-120"/>
              </a:rPr>
              <a:t>AGENDA</a:t>
            </a:r>
            <a:endParaRPr lang="en-US" sz="784" dirty="0"/>
          </a:p>
        </p:txBody>
      </p:sp>
      <p:sp>
        <p:nvSpPr>
          <p:cNvPr id="5" name="Text 3"/>
          <p:cNvSpPr/>
          <p:nvPr/>
        </p:nvSpPr>
        <p:spPr>
          <a:xfrm>
            <a:off x="781050" y="666750"/>
            <a:ext cx="7429500" cy="314325"/>
          </a:xfrm>
          <a:prstGeom prst="rect">
            <a:avLst/>
          </a:prstGeom>
          <a:noFill/>
          <a:ln/>
        </p:spPr>
        <p:txBody>
          <a:bodyPr wrap="square" lIns="0" tIns="0" rIns="0" bIns="0" rtlCol="0" anchor="t"/>
          <a:lstStyle/>
          <a:p>
            <a:pPr marL="0" indent="0" algn="l">
              <a:lnSpc>
                <a:spcPts val="2351"/>
              </a:lnSpc>
              <a:buNone/>
            </a:pPr>
            <a:r>
              <a:rPr lang="en-US" sz="2138" b="1" dirty="0">
                <a:solidFill>
                  <a:srgbClr val="121726">
                    <a:alpha val="99000"/>
                  </a:srgbClr>
                </a:solidFill>
                <a:latin typeface="Inter" pitchFamily="34" charset="0"/>
                <a:ea typeface="Inter" pitchFamily="34" charset="-122"/>
                <a:cs typeface="Inter" pitchFamily="34" charset="-120"/>
              </a:rPr>
              <a:t>Outline of Presentation</a:t>
            </a:r>
            <a:endParaRPr lang="en-US" sz="2138" dirty="0"/>
          </a:p>
        </p:txBody>
      </p:sp>
      <p:sp>
        <p:nvSpPr>
          <p:cNvPr id="6" name="Text 4"/>
          <p:cNvSpPr/>
          <p:nvPr/>
        </p:nvSpPr>
        <p:spPr>
          <a:xfrm>
            <a:off x="571500" y="4819650"/>
            <a:ext cx="2547938" cy="104775"/>
          </a:xfrm>
          <a:prstGeom prst="rect">
            <a:avLst/>
          </a:prstGeom>
          <a:noFill/>
          <a:ln/>
        </p:spPr>
        <p:txBody>
          <a:bodyPr wrap="square" lIns="0" tIns="0" rIns="0" bIns="0" rtlCol="0" anchor="t"/>
          <a:lstStyle/>
          <a:p>
            <a:pPr marL="0" indent="0" algn="l">
              <a:lnSpc>
                <a:spcPts val="776"/>
              </a:lnSpc>
              <a:buNone/>
            </a:pPr>
            <a:r>
              <a:rPr lang="en-US" sz="641" dirty="0">
                <a:solidFill>
                  <a:srgbClr val="596378">
                    <a:alpha val="99000"/>
                  </a:srgbClr>
                </a:solidFill>
                <a:latin typeface="Inter" pitchFamily="34" charset="0"/>
                <a:ea typeface="Inter" pitchFamily="34" charset="-122"/>
                <a:cs typeface="Inter" pitchFamily="34" charset="-120"/>
              </a:rPr>
              <a:t>ByteDance  ·  Unicorn Company Case Study  ·  ISE, Semester 7</a:t>
            </a:r>
            <a:endParaRPr lang="en-US" sz="641" dirty="0"/>
          </a:p>
        </p:txBody>
      </p:sp>
      <p:sp>
        <p:nvSpPr>
          <p:cNvPr id="7" name="Text 5"/>
          <p:cNvSpPr/>
          <p:nvPr/>
        </p:nvSpPr>
        <p:spPr>
          <a:xfrm>
            <a:off x="8096250" y="4819650"/>
            <a:ext cx="476250" cy="104775"/>
          </a:xfrm>
          <a:prstGeom prst="rect">
            <a:avLst/>
          </a:prstGeom>
          <a:noFill/>
          <a:ln/>
        </p:spPr>
        <p:txBody>
          <a:bodyPr wrap="square" lIns="0" tIns="0" rIns="0" bIns="0" rtlCol="0" anchor="t"/>
          <a:lstStyle/>
          <a:p>
            <a:pPr marL="0" indent="0" algn="r">
              <a:lnSpc>
                <a:spcPts val="776"/>
              </a:lnSpc>
              <a:buNone/>
            </a:pPr>
            <a:r>
              <a:rPr lang="en-US" sz="641" b="1" dirty="0">
                <a:solidFill>
                  <a:srgbClr val="FE2C55">
                    <a:alpha val="99000"/>
                  </a:srgbClr>
                </a:solidFill>
                <a:latin typeface="Inter" pitchFamily="34" charset="0"/>
                <a:ea typeface="Inter" pitchFamily="34" charset="-122"/>
                <a:cs typeface="Inter" pitchFamily="34" charset="-120"/>
              </a:rPr>
              <a:t>02</a:t>
            </a:r>
            <a:endParaRPr lang="en-US" sz="641" dirty="0"/>
          </a:p>
        </p:txBody>
      </p:sp>
      <p:sp>
        <p:nvSpPr>
          <p:cNvPr id="8" name="Shape 6"/>
          <p:cNvSpPr/>
          <p:nvPr/>
        </p:nvSpPr>
        <p:spPr>
          <a:xfrm>
            <a:off x="571500" y="1428750"/>
            <a:ext cx="3952875" cy="552450"/>
          </a:xfrm>
          <a:prstGeom prst="roundRect">
            <a:avLst>
              <a:gd name="adj" fmla="val 26483"/>
            </a:avLst>
          </a:prstGeom>
          <a:solidFill>
            <a:srgbClr val="FFFFFF"/>
          </a:solidFill>
          <a:ln/>
        </p:spPr>
      </p:sp>
      <p:sp>
        <p:nvSpPr>
          <p:cNvPr id="9" name="Text 7"/>
          <p:cNvSpPr/>
          <p:nvPr/>
        </p:nvSpPr>
        <p:spPr>
          <a:xfrm>
            <a:off x="742950" y="1581150"/>
            <a:ext cx="228600" cy="228600"/>
          </a:xfrm>
          <a:prstGeom prst="rect">
            <a:avLst/>
          </a:prstGeom>
          <a:noFill/>
          <a:ln/>
        </p:spPr>
        <p:txBody>
          <a:bodyPr wrap="square" lIns="0" tIns="0" rIns="0" bIns="0" rtlCol="0" anchor="t"/>
          <a:lstStyle/>
          <a:p>
            <a:pPr marL="0" indent="0" algn="l">
              <a:lnSpc>
                <a:spcPts val="1725"/>
              </a:lnSpc>
              <a:buNone/>
            </a:pPr>
            <a:r>
              <a:rPr lang="en-US" sz="1425" b="1" dirty="0">
                <a:solidFill>
                  <a:srgbClr val="FE2C55">
                    <a:alpha val="99000"/>
                  </a:srgbClr>
                </a:solidFill>
                <a:latin typeface="Inter" pitchFamily="34" charset="0"/>
                <a:ea typeface="Inter" pitchFamily="34" charset="-122"/>
                <a:cs typeface="Inter" pitchFamily="34" charset="-120"/>
              </a:rPr>
              <a:t>01</a:t>
            </a:r>
            <a:endParaRPr lang="en-US" sz="1425" dirty="0"/>
          </a:p>
        </p:txBody>
      </p:sp>
      <p:sp>
        <p:nvSpPr>
          <p:cNvPr id="10" name="Text 8"/>
          <p:cNvSpPr/>
          <p:nvPr/>
        </p:nvSpPr>
        <p:spPr>
          <a:xfrm>
            <a:off x="1238250" y="1609725"/>
            <a:ext cx="3143250" cy="185738"/>
          </a:xfrm>
          <a:prstGeom prst="rect">
            <a:avLst/>
          </a:prstGeom>
          <a:noFill/>
          <a:ln/>
        </p:spPr>
        <p:txBody>
          <a:bodyPr wrap="square" lIns="0" tIns="0" rIns="0" bIns="0" rtlCol="0" anchor="t"/>
          <a:lstStyle/>
          <a:p>
            <a:pPr marL="0" indent="0" algn="l">
              <a:lnSpc>
                <a:spcPts val="1380"/>
              </a:lnSpc>
              <a:buNone/>
            </a:pPr>
            <a:r>
              <a:rPr lang="en-US" sz="1140" b="1" dirty="0">
                <a:solidFill>
                  <a:srgbClr val="121726">
                    <a:alpha val="99000"/>
                  </a:srgbClr>
                </a:solidFill>
                <a:latin typeface="Inter" pitchFamily="34" charset="0"/>
                <a:ea typeface="Inter" pitchFamily="34" charset="-122"/>
                <a:cs typeface="Inter" pitchFamily="34" charset="-120"/>
              </a:rPr>
              <a:t>Introduction of the Company</a:t>
            </a:r>
            <a:endParaRPr lang="en-US" sz="1140" dirty="0"/>
          </a:p>
        </p:txBody>
      </p:sp>
      <p:sp>
        <p:nvSpPr>
          <p:cNvPr id="11" name="Shape 9"/>
          <p:cNvSpPr/>
          <p:nvPr/>
        </p:nvSpPr>
        <p:spPr>
          <a:xfrm>
            <a:off x="571500" y="2066925"/>
            <a:ext cx="3952875" cy="552450"/>
          </a:xfrm>
          <a:prstGeom prst="roundRect">
            <a:avLst>
              <a:gd name="adj" fmla="val 26483"/>
            </a:avLst>
          </a:prstGeom>
          <a:solidFill>
            <a:srgbClr val="FFFFFF"/>
          </a:solidFill>
          <a:ln/>
        </p:spPr>
      </p:sp>
      <p:sp>
        <p:nvSpPr>
          <p:cNvPr id="12" name="Text 10"/>
          <p:cNvSpPr/>
          <p:nvPr/>
        </p:nvSpPr>
        <p:spPr>
          <a:xfrm>
            <a:off x="742950" y="2219325"/>
            <a:ext cx="252413" cy="228600"/>
          </a:xfrm>
          <a:prstGeom prst="rect">
            <a:avLst/>
          </a:prstGeom>
          <a:noFill/>
          <a:ln/>
        </p:spPr>
        <p:txBody>
          <a:bodyPr wrap="square" lIns="0" tIns="0" rIns="0" bIns="0" rtlCol="0" anchor="t"/>
          <a:lstStyle/>
          <a:p>
            <a:pPr marL="0" indent="0" algn="l">
              <a:lnSpc>
                <a:spcPts val="1725"/>
              </a:lnSpc>
              <a:buNone/>
            </a:pPr>
            <a:r>
              <a:rPr lang="en-US" sz="1425" b="1" dirty="0">
                <a:solidFill>
                  <a:srgbClr val="00999E">
                    <a:alpha val="99000"/>
                  </a:srgbClr>
                </a:solidFill>
                <a:latin typeface="Inter" pitchFamily="34" charset="0"/>
                <a:ea typeface="Inter" pitchFamily="34" charset="-122"/>
                <a:cs typeface="Inter" pitchFamily="34" charset="-120"/>
              </a:rPr>
              <a:t>02</a:t>
            </a:r>
            <a:endParaRPr lang="en-US" sz="1425" dirty="0"/>
          </a:p>
        </p:txBody>
      </p:sp>
      <p:sp>
        <p:nvSpPr>
          <p:cNvPr id="13" name="Text 11"/>
          <p:cNvSpPr/>
          <p:nvPr/>
        </p:nvSpPr>
        <p:spPr>
          <a:xfrm>
            <a:off x="1238250" y="2247900"/>
            <a:ext cx="3143250" cy="185738"/>
          </a:xfrm>
          <a:prstGeom prst="rect">
            <a:avLst/>
          </a:prstGeom>
          <a:noFill/>
          <a:ln/>
        </p:spPr>
        <p:txBody>
          <a:bodyPr wrap="square" lIns="0" tIns="0" rIns="0" bIns="0" rtlCol="0" anchor="t"/>
          <a:lstStyle/>
          <a:p>
            <a:pPr marL="0" indent="0" algn="l">
              <a:lnSpc>
                <a:spcPts val="1380"/>
              </a:lnSpc>
              <a:buNone/>
            </a:pPr>
            <a:r>
              <a:rPr lang="en-US" sz="1140" b="1" dirty="0">
                <a:solidFill>
                  <a:srgbClr val="121726">
                    <a:alpha val="99000"/>
                  </a:srgbClr>
                </a:solidFill>
                <a:latin typeface="Inter" pitchFamily="34" charset="0"/>
                <a:ea typeface="Inter" pitchFamily="34" charset="-122"/>
                <a:cs typeface="Inter" pitchFamily="34" charset="-120"/>
              </a:rPr>
              <a:t>Problem Statement</a:t>
            </a:r>
            <a:endParaRPr lang="en-US" sz="1140" dirty="0"/>
          </a:p>
        </p:txBody>
      </p:sp>
      <p:sp>
        <p:nvSpPr>
          <p:cNvPr id="14" name="Shape 12"/>
          <p:cNvSpPr/>
          <p:nvPr/>
        </p:nvSpPr>
        <p:spPr>
          <a:xfrm>
            <a:off x="571500" y="2705100"/>
            <a:ext cx="3952875" cy="552450"/>
          </a:xfrm>
          <a:prstGeom prst="roundRect">
            <a:avLst>
              <a:gd name="adj" fmla="val 26483"/>
            </a:avLst>
          </a:prstGeom>
          <a:solidFill>
            <a:srgbClr val="FFFFFF"/>
          </a:solidFill>
          <a:ln/>
        </p:spPr>
      </p:sp>
      <p:sp>
        <p:nvSpPr>
          <p:cNvPr id="15" name="Text 13"/>
          <p:cNvSpPr/>
          <p:nvPr/>
        </p:nvSpPr>
        <p:spPr>
          <a:xfrm>
            <a:off x="742950" y="2857500"/>
            <a:ext cx="257175" cy="228600"/>
          </a:xfrm>
          <a:prstGeom prst="rect">
            <a:avLst/>
          </a:prstGeom>
          <a:noFill/>
          <a:ln/>
        </p:spPr>
        <p:txBody>
          <a:bodyPr wrap="square" lIns="0" tIns="0" rIns="0" bIns="0" rtlCol="0" anchor="t"/>
          <a:lstStyle/>
          <a:p>
            <a:pPr marL="0" indent="0" algn="l">
              <a:lnSpc>
                <a:spcPts val="1725"/>
              </a:lnSpc>
              <a:buNone/>
            </a:pPr>
            <a:r>
              <a:rPr lang="en-US" sz="1425" b="1" dirty="0">
                <a:solidFill>
                  <a:srgbClr val="FE2C55">
                    <a:alpha val="99000"/>
                  </a:srgbClr>
                </a:solidFill>
                <a:latin typeface="Inter" pitchFamily="34" charset="0"/>
                <a:ea typeface="Inter" pitchFamily="34" charset="-122"/>
                <a:cs typeface="Inter" pitchFamily="34" charset="-120"/>
              </a:rPr>
              <a:t>03</a:t>
            </a:r>
            <a:endParaRPr lang="en-US" sz="1425" dirty="0"/>
          </a:p>
        </p:txBody>
      </p:sp>
      <p:sp>
        <p:nvSpPr>
          <p:cNvPr id="16" name="Text 14"/>
          <p:cNvSpPr/>
          <p:nvPr/>
        </p:nvSpPr>
        <p:spPr>
          <a:xfrm>
            <a:off x="1238250" y="2886075"/>
            <a:ext cx="3143250" cy="185738"/>
          </a:xfrm>
          <a:prstGeom prst="rect">
            <a:avLst/>
          </a:prstGeom>
          <a:noFill/>
          <a:ln/>
        </p:spPr>
        <p:txBody>
          <a:bodyPr wrap="square" lIns="0" tIns="0" rIns="0" bIns="0" rtlCol="0" anchor="t"/>
          <a:lstStyle/>
          <a:p>
            <a:pPr marL="0" indent="0" algn="l">
              <a:lnSpc>
                <a:spcPts val="1380"/>
              </a:lnSpc>
              <a:buNone/>
            </a:pPr>
            <a:r>
              <a:rPr lang="en-US" sz="1140" b="1" dirty="0">
                <a:solidFill>
                  <a:srgbClr val="121726">
                    <a:alpha val="99000"/>
                  </a:srgbClr>
                </a:solidFill>
                <a:latin typeface="Inter" pitchFamily="34" charset="0"/>
                <a:ea typeface="Inter" pitchFamily="34" charset="-122"/>
                <a:cs typeface="Inter" pitchFamily="34" charset="-120"/>
              </a:rPr>
              <a:t>Literature Review</a:t>
            </a:r>
            <a:endParaRPr lang="en-US" sz="1140" dirty="0"/>
          </a:p>
        </p:txBody>
      </p:sp>
      <p:sp>
        <p:nvSpPr>
          <p:cNvPr id="17" name="Shape 15"/>
          <p:cNvSpPr/>
          <p:nvPr/>
        </p:nvSpPr>
        <p:spPr>
          <a:xfrm>
            <a:off x="571500" y="3343275"/>
            <a:ext cx="3952875" cy="552450"/>
          </a:xfrm>
          <a:prstGeom prst="roundRect">
            <a:avLst>
              <a:gd name="adj" fmla="val 26483"/>
            </a:avLst>
          </a:prstGeom>
          <a:solidFill>
            <a:srgbClr val="FFFFFF"/>
          </a:solidFill>
          <a:ln/>
        </p:spPr>
      </p:sp>
      <p:sp>
        <p:nvSpPr>
          <p:cNvPr id="18" name="Text 16"/>
          <p:cNvSpPr/>
          <p:nvPr/>
        </p:nvSpPr>
        <p:spPr>
          <a:xfrm>
            <a:off x="742950" y="3495675"/>
            <a:ext cx="261937" cy="228600"/>
          </a:xfrm>
          <a:prstGeom prst="rect">
            <a:avLst/>
          </a:prstGeom>
          <a:noFill/>
          <a:ln/>
        </p:spPr>
        <p:txBody>
          <a:bodyPr wrap="square" lIns="0" tIns="0" rIns="0" bIns="0" rtlCol="0" anchor="t"/>
          <a:lstStyle/>
          <a:p>
            <a:pPr marL="0" indent="0" algn="l">
              <a:lnSpc>
                <a:spcPts val="1725"/>
              </a:lnSpc>
              <a:buNone/>
            </a:pPr>
            <a:r>
              <a:rPr lang="en-US" sz="1425" b="1" dirty="0">
                <a:solidFill>
                  <a:srgbClr val="00999E">
                    <a:alpha val="99000"/>
                  </a:srgbClr>
                </a:solidFill>
                <a:latin typeface="Inter" pitchFamily="34" charset="0"/>
                <a:ea typeface="Inter" pitchFamily="34" charset="-122"/>
                <a:cs typeface="Inter" pitchFamily="34" charset="-120"/>
              </a:rPr>
              <a:t>04</a:t>
            </a:r>
            <a:endParaRPr lang="en-US" sz="1425" dirty="0"/>
          </a:p>
        </p:txBody>
      </p:sp>
      <p:sp>
        <p:nvSpPr>
          <p:cNvPr id="19" name="Text 17"/>
          <p:cNvSpPr/>
          <p:nvPr/>
        </p:nvSpPr>
        <p:spPr>
          <a:xfrm>
            <a:off x="1238250" y="3524250"/>
            <a:ext cx="3143250" cy="185738"/>
          </a:xfrm>
          <a:prstGeom prst="rect">
            <a:avLst/>
          </a:prstGeom>
          <a:noFill/>
          <a:ln/>
        </p:spPr>
        <p:txBody>
          <a:bodyPr wrap="square" lIns="0" tIns="0" rIns="0" bIns="0" rtlCol="0" anchor="t"/>
          <a:lstStyle/>
          <a:p>
            <a:pPr marL="0" indent="0" algn="l">
              <a:lnSpc>
                <a:spcPts val="1380"/>
              </a:lnSpc>
              <a:buNone/>
            </a:pPr>
            <a:r>
              <a:rPr lang="en-US" sz="1140" b="1" dirty="0">
                <a:solidFill>
                  <a:srgbClr val="121726">
                    <a:alpha val="99000"/>
                  </a:srgbClr>
                </a:solidFill>
                <a:latin typeface="Inter" pitchFamily="34" charset="0"/>
                <a:ea typeface="Inter" pitchFamily="34" charset="-122"/>
                <a:cs typeface="Inter" pitchFamily="34" charset="-120"/>
              </a:rPr>
              <a:t>Objectives</a:t>
            </a:r>
            <a:endParaRPr lang="en-US" sz="1140" dirty="0"/>
          </a:p>
        </p:txBody>
      </p:sp>
      <p:sp>
        <p:nvSpPr>
          <p:cNvPr id="20" name="Shape 18"/>
          <p:cNvSpPr/>
          <p:nvPr/>
        </p:nvSpPr>
        <p:spPr>
          <a:xfrm>
            <a:off x="571500" y="3981450"/>
            <a:ext cx="3952875" cy="552450"/>
          </a:xfrm>
          <a:prstGeom prst="roundRect">
            <a:avLst>
              <a:gd name="adj" fmla="val 26483"/>
            </a:avLst>
          </a:prstGeom>
          <a:solidFill>
            <a:srgbClr val="FFFFFF"/>
          </a:solidFill>
          <a:ln/>
        </p:spPr>
      </p:sp>
      <p:sp>
        <p:nvSpPr>
          <p:cNvPr id="21" name="Text 19"/>
          <p:cNvSpPr/>
          <p:nvPr/>
        </p:nvSpPr>
        <p:spPr>
          <a:xfrm>
            <a:off x="742950" y="4133850"/>
            <a:ext cx="257175" cy="228600"/>
          </a:xfrm>
          <a:prstGeom prst="rect">
            <a:avLst/>
          </a:prstGeom>
          <a:noFill/>
          <a:ln/>
        </p:spPr>
        <p:txBody>
          <a:bodyPr wrap="square" lIns="0" tIns="0" rIns="0" bIns="0" rtlCol="0" anchor="t"/>
          <a:lstStyle/>
          <a:p>
            <a:pPr marL="0" indent="0" algn="l">
              <a:lnSpc>
                <a:spcPts val="1725"/>
              </a:lnSpc>
              <a:buNone/>
            </a:pPr>
            <a:r>
              <a:rPr lang="en-US" sz="1425" b="1" dirty="0">
                <a:solidFill>
                  <a:srgbClr val="FE2C55">
                    <a:alpha val="99000"/>
                  </a:srgbClr>
                </a:solidFill>
                <a:latin typeface="Inter" pitchFamily="34" charset="0"/>
                <a:ea typeface="Inter" pitchFamily="34" charset="-122"/>
                <a:cs typeface="Inter" pitchFamily="34" charset="-120"/>
              </a:rPr>
              <a:t>05</a:t>
            </a:r>
            <a:endParaRPr lang="en-US" sz="1425" dirty="0"/>
          </a:p>
        </p:txBody>
      </p:sp>
      <p:sp>
        <p:nvSpPr>
          <p:cNvPr id="22" name="Text 20"/>
          <p:cNvSpPr/>
          <p:nvPr/>
        </p:nvSpPr>
        <p:spPr>
          <a:xfrm>
            <a:off x="1238250" y="4162425"/>
            <a:ext cx="3143250" cy="185738"/>
          </a:xfrm>
          <a:prstGeom prst="rect">
            <a:avLst/>
          </a:prstGeom>
          <a:noFill/>
          <a:ln/>
        </p:spPr>
        <p:txBody>
          <a:bodyPr wrap="square" lIns="0" tIns="0" rIns="0" bIns="0" rtlCol="0" anchor="t"/>
          <a:lstStyle/>
          <a:p>
            <a:pPr marL="0" indent="0" algn="l">
              <a:lnSpc>
                <a:spcPts val="1380"/>
              </a:lnSpc>
              <a:buNone/>
            </a:pPr>
            <a:r>
              <a:rPr lang="en-US" sz="1140" b="1" dirty="0">
                <a:solidFill>
                  <a:srgbClr val="121726">
                    <a:alpha val="99000"/>
                  </a:srgbClr>
                </a:solidFill>
                <a:latin typeface="Inter" pitchFamily="34" charset="0"/>
                <a:ea typeface="Inter" pitchFamily="34" charset="-122"/>
                <a:cs typeface="Inter" pitchFamily="34" charset="-120"/>
              </a:rPr>
              <a:t>Research Questions</a:t>
            </a:r>
            <a:endParaRPr lang="en-US" sz="1140" dirty="0"/>
          </a:p>
        </p:txBody>
      </p:sp>
      <p:sp>
        <p:nvSpPr>
          <p:cNvPr id="23" name="Shape 21"/>
          <p:cNvSpPr/>
          <p:nvPr/>
        </p:nvSpPr>
        <p:spPr>
          <a:xfrm>
            <a:off x="4619625" y="1428750"/>
            <a:ext cx="3952875" cy="552450"/>
          </a:xfrm>
          <a:prstGeom prst="roundRect">
            <a:avLst>
              <a:gd name="adj" fmla="val 26483"/>
            </a:avLst>
          </a:prstGeom>
          <a:solidFill>
            <a:srgbClr val="FFFFFF"/>
          </a:solidFill>
          <a:ln/>
        </p:spPr>
      </p:sp>
      <p:sp>
        <p:nvSpPr>
          <p:cNvPr id="24" name="Text 22"/>
          <p:cNvSpPr/>
          <p:nvPr/>
        </p:nvSpPr>
        <p:spPr>
          <a:xfrm>
            <a:off x="4791075" y="1581150"/>
            <a:ext cx="257175" cy="228600"/>
          </a:xfrm>
          <a:prstGeom prst="rect">
            <a:avLst/>
          </a:prstGeom>
          <a:noFill/>
          <a:ln/>
        </p:spPr>
        <p:txBody>
          <a:bodyPr wrap="square" lIns="0" tIns="0" rIns="0" bIns="0" rtlCol="0" anchor="t"/>
          <a:lstStyle/>
          <a:p>
            <a:pPr marL="0" indent="0" algn="l">
              <a:lnSpc>
                <a:spcPts val="1725"/>
              </a:lnSpc>
              <a:buNone/>
            </a:pPr>
            <a:r>
              <a:rPr lang="en-US" sz="1425" b="1" dirty="0">
                <a:solidFill>
                  <a:srgbClr val="00999E">
                    <a:alpha val="99000"/>
                  </a:srgbClr>
                </a:solidFill>
                <a:latin typeface="Inter" pitchFamily="34" charset="0"/>
                <a:ea typeface="Inter" pitchFamily="34" charset="-122"/>
                <a:cs typeface="Inter" pitchFamily="34" charset="-120"/>
              </a:rPr>
              <a:t>06</a:t>
            </a:r>
            <a:endParaRPr lang="en-US" sz="1425" dirty="0"/>
          </a:p>
        </p:txBody>
      </p:sp>
      <p:sp>
        <p:nvSpPr>
          <p:cNvPr id="25" name="Text 23"/>
          <p:cNvSpPr/>
          <p:nvPr/>
        </p:nvSpPr>
        <p:spPr>
          <a:xfrm>
            <a:off x="5286375" y="1609725"/>
            <a:ext cx="3143250" cy="185738"/>
          </a:xfrm>
          <a:prstGeom prst="rect">
            <a:avLst/>
          </a:prstGeom>
          <a:noFill/>
          <a:ln/>
        </p:spPr>
        <p:txBody>
          <a:bodyPr wrap="square" lIns="0" tIns="0" rIns="0" bIns="0" rtlCol="0" anchor="t"/>
          <a:lstStyle/>
          <a:p>
            <a:pPr marL="0" indent="0" algn="l">
              <a:lnSpc>
                <a:spcPts val="1380"/>
              </a:lnSpc>
              <a:buNone/>
            </a:pPr>
            <a:r>
              <a:rPr lang="en-US" sz="1140" b="1" dirty="0">
                <a:solidFill>
                  <a:srgbClr val="121726">
                    <a:alpha val="99000"/>
                  </a:srgbClr>
                </a:solidFill>
                <a:latin typeface="Inter" pitchFamily="34" charset="0"/>
                <a:ea typeface="Inter" pitchFamily="34" charset="-122"/>
                <a:cs typeface="Inter" pitchFamily="34" charset="-120"/>
              </a:rPr>
              <a:t>Methodology</a:t>
            </a:r>
            <a:endParaRPr lang="en-US" sz="1140" dirty="0"/>
          </a:p>
        </p:txBody>
      </p:sp>
      <p:sp>
        <p:nvSpPr>
          <p:cNvPr id="26" name="Shape 24"/>
          <p:cNvSpPr/>
          <p:nvPr/>
        </p:nvSpPr>
        <p:spPr>
          <a:xfrm>
            <a:off x="4619625" y="2066925"/>
            <a:ext cx="3952875" cy="552450"/>
          </a:xfrm>
          <a:prstGeom prst="roundRect">
            <a:avLst>
              <a:gd name="adj" fmla="val 26483"/>
            </a:avLst>
          </a:prstGeom>
          <a:solidFill>
            <a:srgbClr val="FFFFFF"/>
          </a:solidFill>
          <a:ln/>
        </p:spPr>
      </p:sp>
      <p:sp>
        <p:nvSpPr>
          <p:cNvPr id="27" name="Text 25"/>
          <p:cNvSpPr/>
          <p:nvPr/>
        </p:nvSpPr>
        <p:spPr>
          <a:xfrm>
            <a:off x="4791075" y="2219325"/>
            <a:ext cx="242888" cy="228600"/>
          </a:xfrm>
          <a:prstGeom prst="rect">
            <a:avLst/>
          </a:prstGeom>
          <a:noFill/>
          <a:ln/>
        </p:spPr>
        <p:txBody>
          <a:bodyPr wrap="square" lIns="0" tIns="0" rIns="0" bIns="0" rtlCol="0" anchor="t"/>
          <a:lstStyle/>
          <a:p>
            <a:pPr marL="0" indent="0" algn="l">
              <a:lnSpc>
                <a:spcPts val="1725"/>
              </a:lnSpc>
              <a:buNone/>
            </a:pPr>
            <a:r>
              <a:rPr lang="en-US" sz="1425" b="1" dirty="0">
                <a:solidFill>
                  <a:srgbClr val="FE2C55">
                    <a:alpha val="99000"/>
                  </a:srgbClr>
                </a:solidFill>
                <a:latin typeface="Inter" pitchFamily="34" charset="0"/>
                <a:ea typeface="Inter" pitchFamily="34" charset="-122"/>
                <a:cs typeface="Inter" pitchFamily="34" charset="-120"/>
              </a:rPr>
              <a:t>07</a:t>
            </a:r>
            <a:endParaRPr lang="en-US" sz="1425" dirty="0"/>
          </a:p>
        </p:txBody>
      </p:sp>
      <p:sp>
        <p:nvSpPr>
          <p:cNvPr id="28" name="Text 26"/>
          <p:cNvSpPr/>
          <p:nvPr/>
        </p:nvSpPr>
        <p:spPr>
          <a:xfrm>
            <a:off x="5286375" y="2247900"/>
            <a:ext cx="3143250" cy="185738"/>
          </a:xfrm>
          <a:prstGeom prst="rect">
            <a:avLst/>
          </a:prstGeom>
          <a:noFill/>
          <a:ln/>
        </p:spPr>
        <p:txBody>
          <a:bodyPr wrap="square" lIns="0" tIns="0" rIns="0" bIns="0" rtlCol="0" anchor="t"/>
          <a:lstStyle/>
          <a:p>
            <a:pPr marL="0" indent="0" algn="l">
              <a:lnSpc>
                <a:spcPts val="1380"/>
              </a:lnSpc>
              <a:buNone/>
            </a:pPr>
            <a:r>
              <a:rPr lang="en-US" sz="1140" b="1" dirty="0">
                <a:solidFill>
                  <a:srgbClr val="121726">
                    <a:alpha val="99000"/>
                  </a:srgbClr>
                </a:solidFill>
                <a:latin typeface="Inter" pitchFamily="34" charset="0"/>
                <a:ea typeface="Inter" pitchFamily="34" charset="-122"/>
                <a:cs typeface="Inter" pitchFamily="34" charset="-120"/>
              </a:rPr>
              <a:t>Advantages &amp; Disadvantages</a:t>
            </a:r>
            <a:endParaRPr lang="en-US" sz="1140" dirty="0"/>
          </a:p>
        </p:txBody>
      </p:sp>
      <p:sp>
        <p:nvSpPr>
          <p:cNvPr id="29" name="Shape 27"/>
          <p:cNvSpPr/>
          <p:nvPr/>
        </p:nvSpPr>
        <p:spPr>
          <a:xfrm>
            <a:off x="4619625" y="2705100"/>
            <a:ext cx="3952875" cy="552450"/>
          </a:xfrm>
          <a:prstGeom prst="roundRect">
            <a:avLst>
              <a:gd name="adj" fmla="val 26483"/>
            </a:avLst>
          </a:prstGeom>
          <a:solidFill>
            <a:srgbClr val="FFFFFF"/>
          </a:solidFill>
          <a:ln/>
        </p:spPr>
      </p:sp>
      <p:sp>
        <p:nvSpPr>
          <p:cNvPr id="30" name="Text 28"/>
          <p:cNvSpPr/>
          <p:nvPr/>
        </p:nvSpPr>
        <p:spPr>
          <a:xfrm>
            <a:off x="4791075" y="2857500"/>
            <a:ext cx="257175" cy="228600"/>
          </a:xfrm>
          <a:prstGeom prst="rect">
            <a:avLst/>
          </a:prstGeom>
          <a:noFill/>
          <a:ln/>
        </p:spPr>
        <p:txBody>
          <a:bodyPr wrap="square" lIns="0" tIns="0" rIns="0" bIns="0" rtlCol="0" anchor="t"/>
          <a:lstStyle/>
          <a:p>
            <a:pPr marL="0" indent="0" algn="l">
              <a:lnSpc>
                <a:spcPts val="1725"/>
              </a:lnSpc>
              <a:buNone/>
            </a:pPr>
            <a:r>
              <a:rPr lang="en-US" sz="1425" b="1" dirty="0">
                <a:solidFill>
                  <a:srgbClr val="00999E">
                    <a:alpha val="99000"/>
                  </a:srgbClr>
                </a:solidFill>
                <a:latin typeface="Inter" pitchFamily="34" charset="0"/>
                <a:ea typeface="Inter" pitchFamily="34" charset="-122"/>
                <a:cs typeface="Inter" pitchFamily="34" charset="-120"/>
              </a:rPr>
              <a:t>08</a:t>
            </a:r>
            <a:endParaRPr lang="en-US" sz="1425" dirty="0"/>
          </a:p>
        </p:txBody>
      </p:sp>
      <p:sp>
        <p:nvSpPr>
          <p:cNvPr id="31" name="Text 29"/>
          <p:cNvSpPr/>
          <p:nvPr/>
        </p:nvSpPr>
        <p:spPr>
          <a:xfrm>
            <a:off x="5286375" y="2886075"/>
            <a:ext cx="3143250" cy="185738"/>
          </a:xfrm>
          <a:prstGeom prst="rect">
            <a:avLst/>
          </a:prstGeom>
          <a:noFill/>
          <a:ln/>
        </p:spPr>
        <p:txBody>
          <a:bodyPr wrap="square" lIns="0" tIns="0" rIns="0" bIns="0" rtlCol="0" anchor="t"/>
          <a:lstStyle/>
          <a:p>
            <a:pPr marL="0" indent="0" algn="l">
              <a:lnSpc>
                <a:spcPts val="1380"/>
              </a:lnSpc>
              <a:buNone/>
            </a:pPr>
            <a:r>
              <a:rPr lang="en-US" sz="1140" b="1" dirty="0">
                <a:solidFill>
                  <a:srgbClr val="121726">
                    <a:alpha val="99000"/>
                  </a:srgbClr>
                </a:solidFill>
                <a:latin typeface="Inter" pitchFamily="34" charset="0"/>
                <a:ea typeface="Inter" pitchFamily="34" charset="-122"/>
                <a:cs typeface="Inter" pitchFamily="34" charset="-120"/>
              </a:rPr>
              <a:t>Working of the Company</a:t>
            </a:r>
            <a:endParaRPr lang="en-US" sz="1140" dirty="0"/>
          </a:p>
        </p:txBody>
      </p:sp>
      <p:sp>
        <p:nvSpPr>
          <p:cNvPr id="32" name="Shape 30"/>
          <p:cNvSpPr/>
          <p:nvPr/>
        </p:nvSpPr>
        <p:spPr>
          <a:xfrm>
            <a:off x="4619625" y="3343275"/>
            <a:ext cx="3952875" cy="552450"/>
          </a:xfrm>
          <a:prstGeom prst="roundRect">
            <a:avLst>
              <a:gd name="adj" fmla="val 26483"/>
            </a:avLst>
          </a:prstGeom>
          <a:solidFill>
            <a:srgbClr val="FFFFFF"/>
          </a:solidFill>
          <a:ln/>
        </p:spPr>
      </p:sp>
      <p:sp>
        <p:nvSpPr>
          <p:cNvPr id="33" name="Text 31"/>
          <p:cNvSpPr/>
          <p:nvPr/>
        </p:nvSpPr>
        <p:spPr>
          <a:xfrm>
            <a:off x="4791075" y="3495675"/>
            <a:ext cx="257175" cy="228600"/>
          </a:xfrm>
          <a:prstGeom prst="rect">
            <a:avLst/>
          </a:prstGeom>
          <a:noFill/>
          <a:ln/>
        </p:spPr>
        <p:txBody>
          <a:bodyPr wrap="square" lIns="0" tIns="0" rIns="0" bIns="0" rtlCol="0" anchor="t"/>
          <a:lstStyle/>
          <a:p>
            <a:pPr marL="0" indent="0" algn="l">
              <a:lnSpc>
                <a:spcPts val="1725"/>
              </a:lnSpc>
              <a:buNone/>
            </a:pPr>
            <a:r>
              <a:rPr lang="en-US" sz="1425" b="1" dirty="0">
                <a:solidFill>
                  <a:srgbClr val="FE2C55">
                    <a:alpha val="99000"/>
                  </a:srgbClr>
                </a:solidFill>
                <a:latin typeface="Inter" pitchFamily="34" charset="0"/>
                <a:ea typeface="Inter" pitchFamily="34" charset="-122"/>
                <a:cs typeface="Inter" pitchFamily="34" charset="-120"/>
              </a:rPr>
              <a:t>09</a:t>
            </a:r>
            <a:endParaRPr lang="en-US" sz="1425" dirty="0"/>
          </a:p>
        </p:txBody>
      </p:sp>
      <p:sp>
        <p:nvSpPr>
          <p:cNvPr id="34" name="Text 32"/>
          <p:cNvSpPr/>
          <p:nvPr/>
        </p:nvSpPr>
        <p:spPr>
          <a:xfrm>
            <a:off x="5286375" y="3524250"/>
            <a:ext cx="3143250" cy="185738"/>
          </a:xfrm>
          <a:prstGeom prst="rect">
            <a:avLst/>
          </a:prstGeom>
          <a:noFill/>
          <a:ln/>
        </p:spPr>
        <p:txBody>
          <a:bodyPr wrap="square" lIns="0" tIns="0" rIns="0" bIns="0" rtlCol="0" anchor="t"/>
          <a:lstStyle/>
          <a:p>
            <a:pPr marL="0" indent="0" algn="l">
              <a:lnSpc>
                <a:spcPts val="1380"/>
              </a:lnSpc>
              <a:buNone/>
            </a:pPr>
            <a:r>
              <a:rPr lang="en-US" sz="1140" b="1" dirty="0">
                <a:solidFill>
                  <a:srgbClr val="121726">
                    <a:alpha val="99000"/>
                  </a:srgbClr>
                </a:solidFill>
                <a:latin typeface="Inter" pitchFamily="34" charset="0"/>
                <a:ea typeface="Inter" pitchFamily="34" charset="-122"/>
                <a:cs typeface="Inter" pitchFamily="34" charset="-120"/>
              </a:rPr>
              <a:t>My Views</a:t>
            </a:r>
            <a:endParaRPr lang="en-US" sz="1140" dirty="0"/>
          </a:p>
        </p:txBody>
      </p:sp>
      <p:sp>
        <p:nvSpPr>
          <p:cNvPr id="35" name="Shape 33"/>
          <p:cNvSpPr/>
          <p:nvPr/>
        </p:nvSpPr>
        <p:spPr>
          <a:xfrm>
            <a:off x="4619625" y="3981450"/>
            <a:ext cx="3952875" cy="552450"/>
          </a:xfrm>
          <a:prstGeom prst="roundRect">
            <a:avLst>
              <a:gd name="adj" fmla="val 26483"/>
            </a:avLst>
          </a:prstGeom>
          <a:solidFill>
            <a:srgbClr val="FFFFFF"/>
          </a:solidFill>
          <a:ln/>
        </p:spPr>
      </p:sp>
      <p:sp>
        <p:nvSpPr>
          <p:cNvPr id="36" name="Text 34"/>
          <p:cNvSpPr/>
          <p:nvPr/>
        </p:nvSpPr>
        <p:spPr>
          <a:xfrm>
            <a:off x="4791075" y="4133850"/>
            <a:ext cx="228600" cy="228600"/>
          </a:xfrm>
          <a:prstGeom prst="rect">
            <a:avLst/>
          </a:prstGeom>
          <a:noFill/>
          <a:ln/>
        </p:spPr>
        <p:txBody>
          <a:bodyPr wrap="square" lIns="0" tIns="0" rIns="0" bIns="0" rtlCol="0" anchor="t"/>
          <a:lstStyle/>
          <a:p>
            <a:pPr marL="0" indent="0" algn="l">
              <a:lnSpc>
                <a:spcPts val="1725"/>
              </a:lnSpc>
              <a:buNone/>
            </a:pPr>
            <a:r>
              <a:rPr lang="en-US" sz="1425" b="1" dirty="0">
                <a:solidFill>
                  <a:srgbClr val="00999E">
                    <a:alpha val="99000"/>
                  </a:srgbClr>
                </a:solidFill>
                <a:latin typeface="Inter" pitchFamily="34" charset="0"/>
                <a:ea typeface="Inter" pitchFamily="34" charset="-122"/>
                <a:cs typeface="Inter" pitchFamily="34" charset="-120"/>
              </a:rPr>
              <a:t>10</a:t>
            </a:r>
            <a:endParaRPr lang="en-US" sz="1425" dirty="0"/>
          </a:p>
        </p:txBody>
      </p:sp>
      <p:sp>
        <p:nvSpPr>
          <p:cNvPr id="37" name="Text 35"/>
          <p:cNvSpPr/>
          <p:nvPr/>
        </p:nvSpPr>
        <p:spPr>
          <a:xfrm>
            <a:off x="5286375" y="4162425"/>
            <a:ext cx="3143250" cy="185738"/>
          </a:xfrm>
          <a:prstGeom prst="rect">
            <a:avLst/>
          </a:prstGeom>
          <a:noFill/>
          <a:ln/>
        </p:spPr>
        <p:txBody>
          <a:bodyPr wrap="square" lIns="0" tIns="0" rIns="0" bIns="0" rtlCol="0" anchor="t"/>
          <a:lstStyle/>
          <a:p>
            <a:pPr marL="0" indent="0" algn="l">
              <a:lnSpc>
                <a:spcPts val="1380"/>
              </a:lnSpc>
              <a:buNone/>
            </a:pPr>
            <a:r>
              <a:rPr lang="en-US" sz="1140" b="1" dirty="0">
                <a:solidFill>
                  <a:srgbClr val="121726">
                    <a:alpha val="99000"/>
                  </a:srgbClr>
                </a:solidFill>
                <a:latin typeface="Inter" pitchFamily="34" charset="0"/>
                <a:ea typeface="Inter" pitchFamily="34" charset="-122"/>
                <a:cs typeface="Inter" pitchFamily="34" charset="-120"/>
              </a:rPr>
              <a:t>References</a:t>
            </a:r>
            <a:endParaRPr lang="en-US" sz="11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C"/>
        </a:solidFill>
        <a:effectLst/>
      </p:bgPr>
    </p:bg>
    <p:spTree>
      <p:nvGrpSpPr>
        <p:cNvPr id="1" name=""/>
        <p:cNvGrpSpPr/>
        <p:nvPr/>
      </p:nvGrpSpPr>
      <p:grpSpPr>
        <a:xfrm>
          <a:off x="0" y="0"/>
          <a:ext cx="0" cy="0"/>
          <a:chOff x="0" y="0"/>
          <a:chExt cx="0" cy="0"/>
        </a:xfrm>
      </p:grpSpPr>
      <p:sp>
        <p:nvSpPr>
          <p:cNvPr id="2" name="Shape 0"/>
          <p:cNvSpPr/>
          <p:nvPr/>
        </p:nvSpPr>
        <p:spPr>
          <a:xfrm>
            <a:off x="571500" y="533400"/>
            <a:ext cx="38100" cy="285750"/>
          </a:xfrm>
          <a:prstGeom prst="rect">
            <a:avLst/>
          </a:prstGeom>
          <a:solidFill>
            <a:srgbClr val="25F4EE"/>
          </a:solidFill>
          <a:ln/>
        </p:spPr>
      </p:sp>
      <p:sp>
        <p:nvSpPr>
          <p:cNvPr id="3" name="Shape 1"/>
          <p:cNvSpPr/>
          <p:nvPr/>
        </p:nvSpPr>
        <p:spPr>
          <a:xfrm>
            <a:off x="638175" y="571500"/>
            <a:ext cx="38100" cy="285750"/>
          </a:xfrm>
          <a:prstGeom prst="rect">
            <a:avLst/>
          </a:prstGeom>
          <a:solidFill>
            <a:srgbClr val="FE2C55"/>
          </a:solidFill>
          <a:ln/>
        </p:spPr>
      </p:sp>
      <p:sp>
        <p:nvSpPr>
          <p:cNvPr id="4" name="Text 2"/>
          <p:cNvSpPr/>
          <p:nvPr/>
        </p:nvSpPr>
        <p:spPr>
          <a:xfrm>
            <a:off x="781050" y="514350"/>
            <a:ext cx="2114550" cy="128588"/>
          </a:xfrm>
          <a:prstGeom prst="rect">
            <a:avLst/>
          </a:prstGeom>
          <a:noFill/>
          <a:ln/>
        </p:spPr>
        <p:txBody>
          <a:bodyPr wrap="square" lIns="0" tIns="0" rIns="0" bIns="0" rtlCol="0" anchor="t"/>
          <a:lstStyle/>
          <a:p>
            <a:pPr marL="0" indent="0" algn="l">
              <a:lnSpc>
                <a:spcPts val="949"/>
              </a:lnSpc>
              <a:buNone/>
            </a:pPr>
            <a:r>
              <a:rPr lang="en-US" sz="784" b="1" kern="0" spc="94" dirty="0">
                <a:solidFill>
                  <a:srgbClr val="FE2C55">
                    <a:alpha val="99000"/>
                  </a:srgbClr>
                </a:solidFill>
                <a:latin typeface="Inter" pitchFamily="34" charset="0"/>
                <a:ea typeface="Inter" pitchFamily="34" charset="-122"/>
                <a:cs typeface="Inter" pitchFamily="34" charset="-120"/>
              </a:rPr>
              <a:t>INTRODUCTION OF THE COMPANY</a:t>
            </a:r>
            <a:endParaRPr lang="en-US" sz="784" dirty="0"/>
          </a:p>
        </p:txBody>
      </p:sp>
      <p:sp>
        <p:nvSpPr>
          <p:cNvPr id="5" name="Text 3"/>
          <p:cNvSpPr/>
          <p:nvPr/>
        </p:nvSpPr>
        <p:spPr>
          <a:xfrm>
            <a:off x="781050" y="666750"/>
            <a:ext cx="7429500" cy="314325"/>
          </a:xfrm>
          <a:prstGeom prst="rect">
            <a:avLst/>
          </a:prstGeom>
          <a:noFill/>
          <a:ln/>
        </p:spPr>
        <p:txBody>
          <a:bodyPr wrap="square" lIns="0" tIns="0" rIns="0" bIns="0" rtlCol="0" anchor="t"/>
          <a:lstStyle/>
          <a:p>
            <a:pPr marL="0" indent="0" algn="l">
              <a:lnSpc>
                <a:spcPts val="2351"/>
              </a:lnSpc>
              <a:buNone/>
            </a:pPr>
            <a:r>
              <a:rPr lang="en-US" sz="2138" b="1" dirty="0">
                <a:solidFill>
                  <a:srgbClr val="121726">
                    <a:alpha val="99000"/>
                  </a:srgbClr>
                </a:solidFill>
                <a:latin typeface="Inter" pitchFamily="34" charset="0"/>
                <a:ea typeface="Inter" pitchFamily="34" charset="-122"/>
                <a:cs typeface="Inter" pitchFamily="34" charset="-120"/>
              </a:rPr>
              <a:t>About ByteDance</a:t>
            </a:r>
            <a:endParaRPr lang="en-US" sz="2138" dirty="0"/>
          </a:p>
        </p:txBody>
      </p:sp>
      <p:sp>
        <p:nvSpPr>
          <p:cNvPr id="6" name="Text 4"/>
          <p:cNvSpPr/>
          <p:nvPr/>
        </p:nvSpPr>
        <p:spPr>
          <a:xfrm>
            <a:off x="571500" y="4819650"/>
            <a:ext cx="2547938" cy="104775"/>
          </a:xfrm>
          <a:prstGeom prst="rect">
            <a:avLst/>
          </a:prstGeom>
          <a:noFill/>
          <a:ln/>
        </p:spPr>
        <p:txBody>
          <a:bodyPr wrap="square" lIns="0" tIns="0" rIns="0" bIns="0" rtlCol="0" anchor="t"/>
          <a:lstStyle/>
          <a:p>
            <a:pPr marL="0" indent="0" algn="l">
              <a:lnSpc>
                <a:spcPts val="776"/>
              </a:lnSpc>
              <a:buNone/>
            </a:pPr>
            <a:r>
              <a:rPr lang="en-US" sz="641" dirty="0">
                <a:solidFill>
                  <a:srgbClr val="596378">
                    <a:alpha val="99000"/>
                  </a:srgbClr>
                </a:solidFill>
                <a:latin typeface="Inter" pitchFamily="34" charset="0"/>
                <a:ea typeface="Inter" pitchFamily="34" charset="-122"/>
                <a:cs typeface="Inter" pitchFamily="34" charset="-120"/>
              </a:rPr>
              <a:t>ByteDance  ·  Unicorn Company Case Study  ·  ISE, Semester 7</a:t>
            </a:r>
            <a:endParaRPr lang="en-US" sz="641" dirty="0"/>
          </a:p>
        </p:txBody>
      </p:sp>
      <p:sp>
        <p:nvSpPr>
          <p:cNvPr id="7" name="Text 5"/>
          <p:cNvSpPr/>
          <p:nvPr/>
        </p:nvSpPr>
        <p:spPr>
          <a:xfrm>
            <a:off x="8096250" y="4819650"/>
            <a:ext cx="476250" cy="104775"/>
          </a:xfrm>
          <a:prstGeom prst="rect">
            <a:avLst/>
          </a:prstGeom>
          <a:noFill/>
          <a:ln/>
        </p:spPr>
        <p:txBody>
          <a:bodyPr wrap="square" lIns="0" tIns="0" rIns="0" bIns="0" rtlCol="0" anchor="t"/>
          <a:lstStyle/>
          <a:p>
            <a:pPr marL="0" indent="0" algn="r">
              <a:lnSpc>
                <a:spcPts val="776"/>
              </a:lnSpc>
              <a:buNone/>
            </a:pPr>
            <a:r>
              <a:rPr lang="en-US" sz="641" b="1" dirty="0">
                <a:solidFill>
                  <a:srgbClr val="FE2C55">
                    <a:alpha val="99000"/>
                  </a:srgbClr>
                </a:solidFill>
                <a:latin typeface="Inter" pitchFamily="34" charset="0"/>
                <a:ea typeface="Inter" pitchFamily="34" charset="-122"/>
                <a:cs typeface="Inter" pitchFamily="34" charset="-120"/>
              </a:rPr>
              <a:t>03</a:t>
            </a:r>
            <a:endParaRPr lang="en-US" sz="641" dirty="0"/>
          </a:p>
        </p:txBody>
      </p:sp>
      <p:sp>
        <p:nvSpPr>
          <p:cNvPr id="8" name="Text 6"/>
          <p:cNvSpPr/>
          <p:nvPr/>
        </p:nvSpPr>
        <p:spPr>
          <a:xfrm>
            <a:off x="781050" y="1428750"/>
            <a:ext cx="4762500" cy="1000125"/>
          </a:xfrm>
          <a:prstGeom prst="rect">
            <a:avLst/>
          </a:prstGeom>
          <a:noFill/>
          <a:ln/>
        </p:spPr>
        <p:txBody>
          <a:bodyPr wrap="square" lIns="0" tIns="0" rIns="0" bIns="0" rtlCol="0" anchor="t"/>
          <a:lstStyle/>
          <a:p>
            <a:pPr marL="0" indent="0" algn="l">
              <a:lnSpc>
                <a:spcPts val="1496"/>
              </a:lnSpc>
              <a:buNone/>
            </a:pPr>
            <a:r>
              <a:rPr lang="en-US" sz="998" dirty="0">
                <a:solidFill>
                  <a:srgbClr val="596378">
                    <a:alpha val="99000"/>
                  </a:srgbClr>
                </a:solidFill>
                <a:latin typeface="Inter" pitchFamily="34" charset="0"/>
                <a:ea typeface="Inter" pitchFamily="34" charset="-122"/>
                <a:cs typeface="Inter" pitchFamily="34" charset="-120"/>
              </a:rPr>
              <a:t>Founded on 13 March 2012 by Zhang Yiming and Liang Rubo, ByteDance is an internet technology company headquartered in Beijing and incorporated in the Cayman Islands. The two Nankai University roommates started it from a shared apartment, building apps powered by recommendation algorithms.</a:t>
            </a:r>
            <a:endParaRPr lang="en-US" sz="998" dirty="0"/>
          </a:p>
        </p:txBody>
      </p:sp>
      <p:sp>
        <p:nvSpPr>
          <p:cNvPr id="9" name="Shape 7"/>
          <p:cNvSpPr/>
          <p:nvPr/>
        </p:nvSpPr>
        <p:spPr>
          <a:xfrm>
            <a:off x="781050" y="2619375"/>
            <a:ext cx="4762500" cy="904875"/>
          </a:xfrm>
          <a:prstGeom prst="roundRect">
            <a:avLst>
              <a:gd name="adj" fmla="val 20211"/>
            </a:avLst>
          </a:prstGeom>
          <a:solidFill>
            <a:srgbClr val="0B1223"/>
          </a:solidFill>
          <a:ln/>
        </p:spPr>
      </p:sp>
      <p:sp>
        <p:nvSpPr>
          <p:cNvPr id="10" name="Text 8"/>
          <p:cNvSpPr/>
          <p:nvPr/>
        </p:nvSpPr>
        <p:spPr>
          <a:xfrm>
            <a:off x="971550" y="2800350"/>
            <a:ext cx="752475" cy="114300"/>
          </a:xfrm>
          <a:prstGeom prst="rect">
            <a:avLst/>
          </a:prstGeom>
          <a:noFill/>
          <a:ln/>
        </p:spPr>
        <p:txBody>
          <a:bodyPr wrap="square" lIns="0" tIns="0" rIns="0" bIns="0" rtlCol="0" anchor="t"/>
          <a:lstStyle/>
          <a:p>
            <a:pPr marL="0" indent="0" algn="l">
              <a:lnSpc>
                <a:spcPts val="862"/>
              </a:lnSpc>
              <a:buNone/>
            </a:pPr>
            <a:r>
              <a:rPr lang="en-US" sz="713" b="1" kern="0" spc="85" dirty="0">
                <a:solidFill>
                  <a:srgbClr val="25F4EE">
                    <a:alpha val="99000"/>
                  </a:srgbClr>
                </a:solidFill>
                <a:latin typeface="Inter" pitchFamily="34" charset="0"/>
                <a:ea typeface="Inter" pitchFamily="34" charset="-122"/>
                <a:cs typeface="Inter" pitchFamily="34" charset="-120"/>
              </a:rPr>
              <a:t>OUR MISSION</a:t>
            </a:r>
            <a:endParaRPr lang="en-US" sz="713" dirty="0"/>
          </a:p>
        </p:txBody>
      </p:sp>
      <p:sp>
        <p:nvSpPr>
          <p:cNvPr id="11" name="Text 9"/>
          <p:cNvSpPr/>
          <p:nvPr/>
        </p:nvSpPr>
        <p:spPr>
          <a:xfrm>
            <a:off x="971550" y="2981325"/>
            <a:ext cx="4381500" cy="300038"/>
          </a:xfrm>
          <a:prstGeom prst="rect">
            <a:avLst/>
          </a:prstGeom>
          <a:noFill/>
          <a:ln/>
        </p:spPr>
        <p:txBody>
          <a:bodyPr wrap="square" lIns="0" tIns="0" rIns="0" bIns="0" rtlCol="0" anchor="t"/>
          <a:lstStyle/>
          <a:p>
            <a:pPr marL="0" indent="0" algn="l">
              <a:lnSpc>
                <a:spcPts val="2242"/>
              </a:lnSpc>
              <a:buNone/>
            </a:pPr>
            <a:r>
              <a:rPr lang="en-US" sz="1852" b="1" dirty="0">
                <a:solidFill>
                  <a:srgbClr val="FFFFFF">
                    <a:alpha val="99000"/>
                  </a:srgbClr>
                </a:solidFill>
                <a:latin typeface="Inter" pitchFamily="34" charset="0"/>
                <a:ea typeface="Inter" pitchFamily="34" charset="-122"/>
                <a:cs typeface="Inter" pitchFamily="34" charset="-120"/>
              </a:rPr>
              <a:t>Inspire Creativity, Enrich Life</a:t>
            </a:r>
            <a:endParaRPr lang="en-US" sz="1852" dirty="0"/>
          </a:p>
        </p:txBody>
      </p:sp>
      <p:sp>
        <p:nvSpPr>
          <p:cNvPr id="12" name="Text 10"/>
          <p:cNvSpPr/>
          <p:nvPr/>
        </p:nvSpPr>
        <p:spPr>
          <a:xfrm>
            <a:off x="781050" y="3695700"/>
            <a:ext cx="4762500" cy="542925"/>
          </a:xfrm>
          <a:prstGeom prst="rect">
            <a:avLst/>
          </a:prstGeom>
          <a:noFill/>
          <a:ln/>
        </p:spPr>
        <p:txBody>
          <a:bodyPr wrap="square" lIns="0" tIns="0" rIns="0" bIns="0" rtlCol="0" anchor="t"/>
          <a:lstStyle/>
          <a:p>
            <a:pPr marL="0" indent="0" algn="l">
              <a:lnSpc>
                <a:spcPts val="1343"/>
              </a:lnSpc>
              <a:buNone/>
            </a:pPr>
            <a:r>
              <a:rPr lang="en-US" sz="926" dirty="0">
                <a:solidFill>
                  <a:srgbClr val="596378">
                    <a:alpha val="99000"/>
                  </a:srgbClr>
                </a:solidFill>
                <a:latin typeface="Inter" pitchFamily="34" charset="0"/>
                <a:ea typeface="Inter" pitchFamily="34" charset="-122"/>
                <a:cs typeface="Inter" pitchFamily="34" charset="-120"/>
              </a:rPr>
              <a:t>Why a unicorn case: valued at $500M at its Series C (June 2014), ByteDance reached about $550B by February 2026, making it one of the most valuable private companies in the world.</a:t>
            </a:r>
            <a:endParaRPr lang="en-US" sz="926" dirty="0"/>
          </a:p>
        </p:txBody>
      </p:sp>
      <p:sp>
        <p:nvSpPr>
          <p:cNvPr id="13" name="Shape 11"/>
          <p:cNvSpPr/>
          <p:nvPr/>
        </p:nvSpPr>
        <p:spPr>
          <a:xfrm>
            <a:off x="5905500" y="1428750"/>
            <a:ext cx="1285875" cy="952500"/>
          </a:xfrm>
          <a:prstGeom prst="roundRect">
            <a:avLst>
              <a:gd name="adj" fmla="val 15360"/>
            </a:avLst>
          </a:prstGeom>
          <a:solidFill>
            <a:srgbClr val="FFFFFF"/>
          </a:solidFill>
          <a:ln/>
        </p:spPr>
      </p:sp>
      <p:sp>
        <p:nvSpPr>
          <p:cNvPr id="14" name="Text 12"/>
          <p:cNvSpPr/>
          <p:nvPr/>
        </p:nvSpPr>
        <p:spPr>
          <a:xfrm>
            <a:off x="6038850" y="1619250"/>
            <a:ext cx="1095375" cy="266700"/>
          </a:xfrm>
          <a:prstGeom prst="rect">
            <a:avLst/>
          </a:prstGeom>
          <a:noFill/>
          <a:ln/>
        </p:spPr>
        <p:txBody>
          <a:bodyPr wrap="square" lIns="0" tIns="0" rIns="0" bIns="0" rtlCol="0" anchor="t"/>
          <a:lstStyle/>
          <a:p>
            <a:pPr marL="0" indent="0" algn="l">
              <a:lnSpc>
                <a:spcPts val="1983"/>
              </a:lnSpc>
              <a:buNone/>
            </a:pPr>
            <a:r>
              <a:rPr lang="en-US" sz="1639" b="1" dirty="0">
                <a:solidFill>
                  <a:srgbClr val="FE2C55">
                    <a:alpha val="99000"/>
                  </a:srgbClr>
                </a:solidFill>
                <a:latin typeface="Inter" pitchFamily="34" charset="0"/>
                <a:ea typeface="Inter" pitchFamily="34" charset="-122"/>
                <a:cs typeface="Inter" pitchFamily="34" charset="-120"/>
              </a:rPr>
              <a:t>2012</a:t>
            </a:r>
            <a:endParaRPr lang="en-US" sz="1639" dirty="0"/>
          </a:p>
        </p:txBody>
      </p:sp>
      <p:sp>
        <p:nvSpPr>
          <p:cNvPr id="15" name="Text 13"/>
          <p:cNvSpPr/>
          <p:nvPr/>
        </p:nvSpPr>
        <p:spPr>
          <a:xfrm>
            <a:off x="6038850" y="1981200"/>
            <a:ext cx="1047750" cy="128588"/>
          </a:xfrm>
          <a:prstGeom prst="rect">
            <a:avLst/>
          </a:prstGeom>
          <a:noFill/>
          <a:ln/>
        </p:spPr>
        <p:txBody>
          <a:bodyPr wrap="square" lIns="0" tIns="0" rIns="0" bIns="0" rtlCol="0" anchor="t"/>
          <a:lstStyle/>
          <a:p>
            <a:pPr marL="0" indent="0" algn="l">
              <a:lnSpc>
                <a:spcPts val="949"/>
              </a:lnSpc>
              <a:buNone/>
            </a:pPr>
            <a:r>
              <a:rPr lang="en-US" sz="784" dirty="0">
                <a:solidFill>
                  <a:srgbClr val="596378">
                    <a:alpha val="99000"/>
                  </a:srgbClr>
                </a:solidFill>
                <a:latin typeface="Inter" pitchFamily="34" charset="0"/>
                <a:ea typeface="Inter" pitchFamily="34" charset="-122"/>
                <a:cs typeface="Inter" pitchFamily="34" charset="-120"/>
              </a:rPr>
              <a:t>Founded in Beijing</a:t>
            </a:r>
            <a:endParaRPr lang="en-US" sz="784" dirty="0"/>
          </a:p>
        </p:txBody>
      </p:sp>
      <p:sp>
        <p:nvSpPr>
          <p:cNvPr id="16" name="Shape 14"/>
          <p:cNvSpPr/>
          <p:nvPr/>
        </p:nvSpPr>
        <p:spPr>
          <a:xfrm>
            <a:off x="7286625" y="1428750"/>
            <a:ext cx="1285875" cy="952500"/>
          </a:xfrm>
          <a:prstGeom prst="roundRect">
            <a:avLst>
              <a:gd name="adj" fmla="val 15360"/>
            </a:avLst>
          </a:prstGeom>
          <a:solidFill>
            <a:srgbClr val="FFFFFF"/>
          </a:solidFill>
          <a:ln/>
        </p:spPr>
      </p:sp>
      <p:sp>
        <p:nvSpPr>
          <p:cNvPr id="17" name="Text 15"/>
          <p:cNvSpPr/>
          <p:nvPr/>
        </p:nvSpPr>
        <p:spPr>
          <a:xfrm>
            <a:off x="7419975" y="1619250"/>
            <a:ext cx="1095375" cy="266700"/>
          </a:xfrm>
          <a:prstGeom prst="rect">
            <a:avLst/>
          </a:prstGeom>
          <a:noFill/>
          <a:ln/>
        </p:spPr>
        <p:txBody>
          <a:bodyPr wrap="square" lIns="0" tIns="0" rIns="0" bIns="0" rtlCol="0" anchor="t"/>
          <a:lstStyle/>
          <a:p>
            <a:pPr marL="0" indent="0" algn="l">
              <a:lnSpc>
                <a:spcPts val="1983"/>
              </a:lnSpc>
              <a:buNone/>
            </a:pPr>
            <a:r>
              <a:rPr lang="en-US" sz="1639" b="1" dirty="0">
                <a:solidFill>
                  <a:srgbClr val="00999E">
                    <a:alpha val="99000"/>
                  </a:srgbClr>
                </a:solidFill>
                <a:latin typeface="Inter" pitchFamily="34" charset="0"/>
                <a:ea typeface="Inter" pitchFamily="34" charset="-122"/>
                <a:cs typeface="Inter" pitchFamily="34" charset="-120"/>
              </a:rPr>
              <a:t>150,000+</a:t>
            </a:r>
            <a:endParaRPr lang="en-US" sz="1639" dirty="0"/>
          </a:p>
        </p:txBody>
      </p:sp>
      <p:sp>
        <p:nvSpPr>
          <p:cNvPr id="18" name="Text 16"/>
          <p:cNvSpPr/>
          <p:nvPr/>
        </p:nvSpPr>
        <p:spPr>
          <a:xfrm>
            <a:off x="7419975" y="1981200"/>
            <a:ext cx="1047750" cy="128588"/>
          </a:xfrm>
          <a:prstGeom prst="rect">
            <a:avLst/>
          </a:prstGeom>
          <a:noFill/>
          <a:ln/>
        </p:spPr>
        <p:txBody>
          <a:bodyPr wrap="square" lIns="0" tIns="0" rIns="0" bIns="0" rtlCol="0" anchor="t"/>
          <a:lstStyle/>
          <a:p>
            <a:pPr marL="0" indent="0" algn="l">
              <a:lnSpc>
                <a:spcPts val="949"/>
              </a:lnSpc>
              <a:buNone/>
            </a:pPr>
            <a:r>
              <a:rPr lang="en-US" sz="784" dirty="0">
                <a:solidFill>
                  <a:srgbClr val="596378">
                    <a:alpha val="99000"/>
                  </a:srgbClr>
                </a:solidFill>
                <a:latin typeface="Inter" pitchFamily="34" charset="0"/>
                <a:ea typeface="Inter" pitchFamily="34" charset="-122"/>
                <a:cs typeface="Inter" pitchFamily="34" charset="-120"/>
              </a:rPr>
              <a:t>Employees</a:t>
            </a:r>
            <a:endParaRPr lang="en-US" sz="784" dirty="0"/>
          </a:p>
        </p:txBody>
      </p:sp>
      <p:sp>
        <p:nvSpPr>
          <p:cNvPr id="19" name="Shape 17"/>
          <p:cNvSpPr/>
          <p:nvPr/>
        </p:nvSpPr>
        <p:spPr>
          <a:xfrm>
            <a:off x="5905500" y="2476500"/>
            <a:ext cx="1285875" cy="952500"/>
          </a:xfrm>
          <a:prstGeom prst="roundRect">
            <a:avLst>
              <a:gd name="adj" fmla="val 15360"/>
            </a:avLst>
          </a:prstGeom>
          <a:solidFill>
            <a:srgbClr val="FFFFFF"/>
          </a:solidFill>
          <a:ln/>
        </p:spPr>
      </p:sp>
      <p:sp>
        <p:nvSpPr>
          <p:cNvPr id="20" name="Text 18"/>
          <p:cNvSpPr/>
          <p:nvPr/>
        </p:nvSpPr>
        <p:spPr>
          <a:xfrm>
            <a:off x="6038850" y="2667000"/>
            <a:ext cx="1095375" cy="266700"/>
          </a:xfrm>
          <a:prstGeom prst="rect">
            <a:avLst/>
          </a:prstGeom>
          <a:noFill/>
          <a:ln/>
        </p:spPr>
        <p:txBody>
          <a:bodyPr wrap="square" lIns="0" tIns="0" rIns="0" bIns="0" rtlCol="0" anchor="t"/>
          <a:lstStyle/>
          <a:p>
            <a:pPr marL="0" indent="0" algn="l">
              <a:lnSpc>
                <a:spcPts val="1983"/>
              </a:lnSpc>
              <a:buNone/>
            </a:pPr>
            <a:r>
              <a:rPr lang="en-US" sz="1639" b="1" dirty="0">
                <a:solidFill>
                  <a:srgbClr val="00999E">
                    <a:alpha val="99000"/>
                  </a:srgbClr>
                </a:solidFill>
                <a:latin typeface="Inter" pitchFamily="34" charset="0"/>
                <a:ea typeface="Inter" pitchFamily="34" charset="-122"/>
                <a:cs typeface="Inter" pitchFamily="34" charset="-120"/>
              </a:rPr>
              <a:t>~120</a:t>
            </a:r>
            <a:endParaRPr lang="en-US" sz="1639" dirty="0"/>
          </a:p>
        </p:txBody>
      </p:sp>
      <p:sp>
        <p:nvSpPr>
          <p:cNvPr id="21" name="Text 19"/>
          <p:cNvSpPr/>
          <p:nvPr/>
        </p:nvSpPr>
        <p:spPr>
          <a:xfrm>
            <a:off x="6038850" y="3028950"/>
            <a:ext cx="1047750" cy="128588"/>
          </a:xfrm>
          <a:prstGeom prst="rect">
            <a:avLst/>
          </a:prstGeom>
          <a:noFill/>
          <a:ln/>
        </p:spPr>
        <p:txBody>
          <a:bodyPr wrap="square" lIns="0" tIns="0" rIns="0" bIns="0" rtlCol="0" anchor="t"/>
          <a:lstStyle/>
          <a:p>
            <a:pPr marL="0" indent="0" algn="l">
              <a:lnSpc>
                <a:spcPts val="949"/>
              </a:lnSpc>
              <a:buNone/>
            </a:pPr>
            <a:r>
              <a:rPr lang="en-US" sz="784" dirty="0">
                <a:solidFill>
                  <a:srgbClr val="596378">
                    <a:alpha val="99000"/>
                  </a:srgbClr>
                </a:solidFill>
                <a:latin typeface="Inter" pitchFamily="34" charset="0"/>
                <a:ea typeface="Inter" pitchFamily="34" charset="-122"/>
                <a:cs typeface="Inter" pitchFamily="34" charset="-120"/>
              </a:rPr>
              <a:t>Cities worldwide</a:t>
            </a:r>
            <a:endParaRPr lang="en-US" sz="784" dirty="0"/>
          </a:p>
        </p:txBody>
      </p:sp>
      <p:sp>
        <p:nvSpPr>
          <p:cNvPr id="22" name="Shape 20"/>
          <p:cNvSpPr/>
          <p:nvPr/>
        </p:nvSpPr>
        <p:spPr>
          <a:xfrm>
            <a:off x="7286625" y="2476500"/>
            <a:ext cx="1285875" cy="952500"/>
          </a:xfrm>
          <a:prstGeom prst="roundRect">
            <a:avLst>
              <a:gd name="adj" fmla="val 15360"/>
            </a:avLst>
          </a:prstGeom>
          <a:solidFill>
            <a:srgbClr val="FFFFFF"/>
          </a:solidFill>
          <a:ln/>
        </p:spPr>
      </p:sp>
      <p:sp>
        <p:nvSpPr>
          <p:cNvPr id="23" name="Text 21"/>
          <p:cNvSpPr/>
          <p:nvPr/>
        </p:nvSpPr>
        <p:spPr>
          <a:xfrm>
            <a:off x="7419975" y="2667000"/>
            <a:ext cx="1095375" cy="266700"/>
          </a:xfrm>
          <a:prstGeom prst="rect">
            <a:avLst/>
          </a:prstGeom>
          <a:noFill/>
          <a:ln/>
        </p:spPr>
        <p:txBody>
          <a:bodyPr wrap="square" lIns="0" tIns="0" rIns="0" bIns="0" rtlCol="0" anchor="t"/>
          <a:lstStyle/>
          <a:p>
            <a:pPr marL="0" indent="0" algn="l">
              <a:lnSpc>
                <a:spcPts val="1983"/>
              </a:lnSpc>
              <a:buNone/>
            </a:pPr>
            <a:r>
              <a:rPr lang="en-US" sz="1639" b="1" dirty="0">
                <a:solidFill>
                  <a:srgbClr val="FE2C55">
                    <a:alpha val="99000"/>
                  </a:srgbClr>
                </a:solidFill>
                <a:latin typeface="Inter" pitchFamily="34" charset="0"/>
                <a:ea typeface="Inter" pitchFamily="34" charset="-122"/>
                <a:cs typeface="Inter" pitchFamily="34" charset="-120"/>
              </a:rPr>
              <a:t>$550B</a:t>
            </a:r>
            <a:endParaRPr lang="en-US" sz="1639" dirty="0"/>
          </a:p>
        </p:txBody>
      </p:sp>
      <p:sp>
        <p:nvSpPr>
          <p:cNvPr id="24" name="Text 22"/>
          <p:cNvSpPr/>
          <p:nvPr/>
        </p:nvSpPr>
        <p:spPr>
          <a:xfrm>
            <a:off x="7419975" y="3028950"/>
            <a:ext cx="1047750" cy="128588"/>
          </a:xfrm>
          <a:prstGeom prst="rect">
            <a:avLst/>
          </a:prstGeom>
          <a:noFill/>
          <a:ln/>
        </p:spPr>
        <p:txBody>
          <a:bodyPr wrap="square" lIns="0" tIns="0" rIns="0" bIns="0" rtlCol="0" anchor="t"/>
          <a:lstStyle/>
          <a:p>
            <a:pPr marL="0" indent="0" algn="l">
              <a:lnSpc>
                <a:spcPts val="949"/>
              </a:lnSpc>
              <a:buNone/>
            </a:pPr>
            <a:r>
              <a:rPr lang="en-US" sz="784" dirty="0">
                <a:solidFill>
                  <a:srgbClr val="596378">
                    <a:alpha val="99000"/>
                  </a:srgbClr>
                </a:solidFill>
                <a:latin typeface="Inter" pitchFamily="34" charset="0"/>
                <a:ea typeface="Inter" pitchFamily="34" charset="-122"/>
                <a:cs typeface="Inter" pitchFamily="34" charset="-120"/>
              </a:rPr>
              <a:t>Valuation, Feb 2026</a:t>
            </a:r>
            <a:endParaRPr lang="en-US" sz="784" dirty="0"/>
          </a:p>
        </p:txBody>
      </p:sp>
      <p:sp>
        <p:nvSpPr>
          <p:cNvPr id="25" name="Shape 23"/>
          <p:cNvSpPr/>
          <p:nvPr/>
        </p:nvSpPr>
        <p:spPr>
          <a:xfrm>
            <a:off x="5905500" y="3524250"/>
            <a:ext cx="2667000" cy="952500"/>
          </a:xfrm>
          <a:prstGeom prst="roundRect">
            <a:avLst>
              <a:gd name="adj" fmla="val 15360"/>
            </a:avLst>
          </a:prstGeom>
          <a:solidFill>
            <a:srgbClr val="0B1223"/>
          </a:solidFill>
          <a:ln/>
        </p:spPr>
      </p:sp>
      <p:sp>
        <p:nvSpPr>
          <p:cNvPr id="26" name="Text 24"/>
          <p:cNvSpPr/>
          <p:nvPr/>
        </p:nvSpPr>
        <p:spPr>
          <a:xfrm>
            <a:off x="6057900" y="3714750"/>
            <a:ext cx="2381250" cy="266700"/>
          </a:xfrm>
          <a:prstGeom prst="rect">
            <a:avLst/>
          </a:prstGeom>
          <a:noFill/>
          <a:ln/>
        </p:spPr>
        <p:txBody>
          <a:bodyPr wrap="square" lIns="0" tIns="0" rIns="0" bIns="0" rtlCol="0" anchor="t"/>
          <a:lstStyle/>
          <a:p>
            <a:pPr marL="0" indent="0" algn="l">
              <a:lnSpc>
                <a:spcPts val="1983"/>
              </a:lnSpc>
              <a:buNone/>
            </a:pPr>
            <a:r>
              <a:rPr lang="en-US" sz="1639" b="1" dirty="0">
                <a:solidFill>
                  <a:srgbClr val="25F4EE">
                    <a:alpha val="99000"/>
                  </a:srgbClr>
                </a:solidFill>
                <a:latin typeface="Inter" pitchFamily="34" charset="0"/>
                <a:ea typeface="Inter" pitchFamily="34" charset="-122"/>
                <a:cs typeface="Inter" pitchFamily="34" charset="-120"/>
              </a:rPr>
              <a:t>1.9B+</a:t>
            </a:r>
            <a:endParaRPr lang="en-US" sz="1639" dirty="0"/>
          </a:p>
        </p:txBody>
      </p:sp>
      <p:sp>
        <p:nvSpPr>
          <p:cNvPr id="27" name="Text 25"/>
          <p:cNvSpPr/>
          <p:nvPr/>
        </p:nvSpPr>
        <p:spPr>
          <a:xfrm>
            <a:off x="6057900" y="4076700"/>
            <a:ext cx="2381250" cy="257175"/>
          </a:xfrm>
          <a:prstGeom prst="rect">
            <a:avLst/>
          </a:prstGeom>
          <a:noFill/>
          <a:ln/>
        </p:spPr>
        <p:txBody>
          <a:bodyPr wrap="square" lIns="0" tIns="0" rIns="0" bIns="0" rtlCol="0" anchor="t"/>
          <a:lstStyle/>
          <a:p>
            <a:pPr marL="0" indent="0" algn="l">
              <a:lnSpc>
                <a:spcPts val="949"/>
              </a:lnSpc>
              <a:buNone/>
            </a:pPr>
            <a:r>
              <a:rPr lang="en-US" sz="784" dirty="0">
                <a:solidFill>
                  <a:srgbClr val="A8B5CC">
                    <a:alpha val="99000"/>
                  </a:srgbClr>
                </a:solidFill>
                <a:latin typeface="Inter" pitchFamily="34" charset="0"/>
                <a:ea typeface="Inter" pitchFamily="34" charset="-122"/>
                <a:cs typeface="Inter" pitchFamily="34" charset="-120"/>
              </a:rPr>
              <a:t>Monthly active users across all ByteDance platforms</a:t>
            </a:r>
            <a:endParaRPr lang="en-US" sz="784"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223"/>
        </a:solidFill>
        <a:effectLst/>
      </p:bgPr>
    </p:bg>
    <p:spTree>
      <p:nvGrpSpPr>
        <p:cNvPr id="1" name=""/>
        <p:cNvGrpSpPr/>
        <p:nvPr/>
      </p:nvGrpSpPr>
      <p:grpSpPr>
        <a:xfrm>
          <a:off x="0" y="0"/>
          <a:ext cx="0" cy="0"/>
          <a:chOff x="0" y="0"/>
          <a:chExt cx="0" cy="0"/>
        </a:xfrm>
      </p:grpSpPr>
      <p:sp>
        <p:nvSpPr>
          <p:cNvPr id="2" name="Shape 0"/>
          <p:cNvSpPr/>
          <p:nvPr/>
        </p:nvSpPr>
        <p:spPr>
          <a:xfrm>
            <a:off x="571500" y="533400"/>
            <a:ext cx="38100" cy="285750"/>
          </a:xfrm>
          <a:prstGeom prst="rect">
            <a:avLst/>
          </a:prstGeom>
          <a:solidFill>
            <a:srgbClr val="25F4EE"/>
          </a:solidFill>
          <a:ln/>
        </p:spPr>
      </p:sp>
      <p:sp>
        <p:nvSpPr>
          <p:cNvPr id="3" name="Shape 1"/>
          <p:cNvSpPr/>
          <p:nvPr/>
        </p:nvSpPr>
        <p:spPr>
          <a:xfrm>
            <a:off x="638175" y="571500"/>
            <a:ext cx="38100" cy="285750"/>
          </a:xfrm>
          <a:prstGeom prst="rect">
            <a:avLst/>
          </a:prstGeom>
          <a:solidFill>
            <a:srgbClr val="FE2C55"/>
          </a:solidFill>
          <a:ln/>
        </p:spPr>
      </p:sp>
      <p:sp>
        <p:nvSpPr>
          <p:cNvPr id="4" name="Text 2"/>
          <p:cNvSpPr/>
          <p:nvPr/>
        </p:nvSpPr>
        <p:spPr>
          <a:xfrm>
            <a:off x="781050" y="514350"/>
            <a:ext cx="1366838" cy="128588"/>
          </a:xfrm>
          <a:prstGeom prst="rect">
            <a:avLst/>
          </a:prstGeom>
          <a:noFill/>
          <a:ln/>
        </p:spPr>
        <p:txBody>
          <a:bodyPr wrap="square" lIns="0" tIns="0" rIns="0" bIns="0" rtlCol="0" anchor="t"/>
          <a:lstStyle/>
          <a:p>
            <a:pPr marL="0" indent="0" algn="l">
              <a:lnSpc>
                <a:spcPts val="949"/>
              </a:lnSpc>
              <a:buNone/>
            </a:pPr>
            <a:r>
              <a:rPr lang="en-US" sz="784" b="1" kern="0" spc="94" dirty="0">
                <a:solidFill>
                  <a:srgbClr val="25F4EE">
                    <a:alpha val="99000"/>
                  </a:srgbClr>
                </a:solidFill>
                <a:latin typeface="Inter" pitchFamily="34" charset="0"/>
                <a:ea typeface="Inter" pitchFamily="34" charset="-122"/>
                <a:cs typeface="Inter" pitchFamily="34" charset="-120"/>
              </a:rPr>
              <a:t>PROBLEM STATEMENT</a:t>
            </a:r>
            <a:endParaRPr lang="en-US" sz="784" dirty="0"/>
          </a:p>
        </p:txBody>
      </p:sp>
      <p:sp>
        <p:nvSpPr>
          <p:cNvPr id="5" name="Text 3"/>
          <p:cNvSpPr/>
          <p:nvPr/>
        </p:nvSpPr>
        <p:spPr>
          <a:xfrm>
            <a:off x="781050" y="666750"/>
            <a:ext cx="7429500" cy="314325"/>
          </a:xfrm>
          <a:prstGeom prst="rect">
            <a:avLst/>
          </a:prstGeom>
          <a:noFill/>
          <a:ln/>
        </p:spPr>
        <p:txBody>
          <a:bodyPr wrap="square" lIns="0" tIns="0" rIns="0" bIns="0" rtlCol="0" anchor="t"/>
          <a:lstStyle/>
          <a:p>
            <a:pPr marL="0" indent="0" algn="l">
              <a:lnSpc>
                <a:spcPts val="2351"/>
              </a:lnSpc>
              <a:buNone/>
            </a:pPr>
            <a:r>
              <a:rPr lang="en-US" sz="2138" b="1" dirty="0">
                <a:solidFill>
                  <a:srgbClr val="FFFFFF">
                    <a:alpha val="99000"/>
                  </a:srgbClr>
                </a:solidFill>
                <a:latin typeface="Inter" pitchFamily="34" charset="0"/>
                <a:ea typeface="Inter" pitchFamily="34" charset="-122"/>
                <a:cs typeface="Inter" pitchFamily="34" charset="-120"/>
              </a:rPr>
              <a:t>Global scale brings global pressure</a:t>
            </a:r>
            <a:endParaRPr lang="en-US" sz="2138" dirty="0"/>
          </a:p>
        </p:txBody>
      </p:sp>
      <p:sp>
        <p:nvSpPr>
          <p:cNvPr id="6" name="Text 4"/>
          <p:cNvSpPr/>
          <p:nvPr/>
        </p:nvSpPr>
        <p:spPr>
          <a:xfrm>
            <a:off x="571500" y="4819650"/>
            <a:ext cx="2547938" cy="104775"/>
          </a:xfrm>
          <a:prstGeom prst="rect">
            <a:avLst/>
          </a:prstGeom>
          <a:noFill/>
          <a:ln/>
        </p:spPr>
        <p:txBody>
          <a:bodyPr wrap="square" lIns="0" tIns="0" rIns="0" bIns="0" rtlCol="0" anchor="t"/>
          <a:lstStyle/>
          <a:p>
            <a:pPr marL="0" indent="0" algn="l">
              <a:lnSpc>
                <a:spcPts val="776"/>
              </a:lnSpc>
              <a:buNone/>
            </a:pPr>
            <a:r>
              <a:rPr lang="en-US" sz="641" dirty="0">
                <a:solidFill>
                  <a:srgbClr val="A8B5CC">
                    <a:alpha val="99000"/>
                  </a:srgbClr>
                </a:solidFill>
                <a:latin typeface="Inter" pitchFamily="34" charset="0"/>
                <a:ea typeface="Inter" pitchFamily="34" charset="-122"/>
                <a:cs typeface="Inter" pitchFamily="34" charset="-120"/>
              </a:rPr>
              <a:t>ByteDance  ·  Unicorn Company Case Study  ·  ISE, Semester 7</a:t>
            </a:r>
            <a:endParaRPr lang="en-US" sz="641" dirty="0"/>
          </a:p>
        </p:txBody>
      </p:sp>
      <p:sp>
        <p:nvSpPr>
          <p:cNvPr id="7" name="Text 5"/>
          <p:cNvSpPr/>
          <p:nvPr/>
        </p:nvSpPr>
        <p:spPr>
          <a:xfrm>
            <a:off x="8096250" y="4819650"/>
            <a:ext cx="476250" cy="104775"/>
          </a:xfrm>
          <a:prstGeom prst="rect">
            <a:avLst/>
          </a:prstGeom>
          <a:noFill/>
          <a:ln/>
        </p:spPr>
        <p:txBody>
          <a:bodyPr wrap="square" lIns="0" tIns="0" rIns="0" bIns="0" rtlCol="0" anchor="t"/>
          <a:lstStyle/>
          <a:p>
            <a:pPr marL="0" indent="0" algn="r">
              <a:lnSpc>
                <a:spcPts val="776"/>
              </a:lnSpc>
              <a:buNone/>
            </a:pPr>
            <a:r>
              <a:rPr lang="en-US" sz="641" b="1" dirty="0">
                <a:solidFill>
                  <a:srgbClr val="25F4EE">
                    <a:alpha val="99000"/>
                  </a:srgbClr>
                </a:solidFill>
                <a:latin typeface="Inter" pitchFamily="34" charset="0"/>
                <a:ea typeface="Inter" pitchFamily="34" charset="-122"/>
                <a:cs typeface="Inter" pitchFamily="34" charset="-120"/>
              </a:rPr>
              <a:t>04</a:t>
            </a:r>
            <a:endParaRPr lang="en-US" sz="641" dirty="0"/>
          </a:p>
        </p:txBody>
      </p:sp>
      <p:sp>
        <p:nvSpPr>
          <p:cNvPr id="8" name="Text 6"/>
          <p:cNvSpPr/>
          <p:nvPr/>
        </p:nvSpPr>
        <p:spPr>
          <a:xfrm>
            <a:off x="781050" y="1114425"/>
            <a:ext cx="7143750" cy="390525"/>
          </a:xfrm>
          <a:prstGeom prst="rect">
            <a:avLst/>
          </a:prstGeom>
          <a:noFill/>
          <a:ln/>
        </p:spPr>
        <p:txBody>
          <a:bodyPr wrap="square" lIns="0" tIns="0" rIns="0" bIns="0" rtlCol="0" anchor="t"/>
          <a:lstStyle/>
          <a:p>
            <a:pPr marL="0" indent="0" algn="l">
              <a:lnSpc>
                <a:spcPts val="1446"/>
              </a:lnSpc>
              <a:buNone/>
            </a:pPr>
            <a:r>
              <a:rPr lang="en-US" sz="998" dirty="0">
                <a:solidFill>
                  <a:srgbClr val="A8B5CC">
                    <a:alpha val="99000"/>
                  </a:srgbClr>
                </a:solidFill>
                <a:latin typeface="Inter" pitchFamily="34" charset="0"/>
                <a:ea typeface="Inter" pitchFamily="34" charset="-122"/>
                <a:cs typeface="Inter" pitchFamily="34" charset="-120"/>
              </a:rPr>
              <a:t>Most startups never scale beyond their home market. ByteDance did, but its growth now faces three pressures at once:</a:t>
            </a:r>
            <a:endParaRPr lang="en-US" sz="998" dirty="0"/>
          </a:p>
        </p:txBody>
      </p:sp>
      <p:sp>
        <p:nvSpPr>
          <p:cNvPr id="9" name="Shape 7"/>
          <p:cNvSpPr/>
          <p:nvPr/>
        </p:nvSpPr>
        <p:spPr>
          <a:xfrm>
            <a:off x="781050" y="1857375"/>
            <a:ext cx="2438400" cy="1333500"/>
          </a:xfrm>
          <a:prstGeom prst="roundRect">
            <a:avLst>
              <a:gd name="adj" fmla="val 13714"/>
            </a:avLst>
          </a:prstGeom>
          <a:solidFill>
            <a:srgbClr val="172138"/>
          </a:solidFill>
          <a:ln/>
        </p:spPr>
      </p:sp>
      <p:sp>
        <p:nvSpPr>
          <p:cNvPr id="10" name="Text 8"/>
          <p:cNvSpPr/>
          <p:nvPr/>
        </p:nvSpPr>
        <p:spPr>
          <a:xfrm>
            <a:off x="952500" y="2028825"/>
            <a:ext cx="204788" cy="209550"/>
          </a:xfrm>
          <a:prstGeom prst="rect">
            <a:avLst/>
          </a:prstGeom>
          <a:noFill/>
          <a:ln/>
        </p:spPr>
        <p:txBody>
          <a:bodyPr wrap="square" lIns="0" tIns="0" rIns="0" bIns="0" rtlCol="0" anchor="t"/>
          <a:lstStyle/>
          <a:p>
            <a:pPr marL="0" indent="0" algn="l">
              <a:lnSpc>
                <a:spcPts val="1552"/>
              </a:lnSpc>
              <a:buNone/>
            </a:pPr>
            <a:r>
              <a:rPr lang="en-US" sz="1283" b="1" dirty="0">
                <a:solidFill>
                  <a:srgbClr val="25F4EE">
                    <a:alpha val="99000"/>
                  </a:srgbClr>
                </a:solidFill>
                <a:latin typeface="Inter" pitchFamily="34" charset="0"/>
                <a:ea typeface="Inter" pitchFamily="34" charset="-122"/>
                <a:cs typeface="Inter" pitchFamily="34" charset="-120"/>
              </a:rPr>
              <a:t>01</a:t>
            </a:r>
            <a:endParaRPr lang="en-US" sz="1283" dirty="0"/>
          </a:p>
        </p:txBody>
      </p:sp>
      <p:sp>
        <p:nvSpPr>
          <p:cNvPr id="11" name="Text 9"/>
          <p:cNvSpPr/>
          <p:nvPr/>
        </p:nvSpPr>
        <p:spPr>
          <a:xfrm>
            <a:off x="952500" y="2314575"/>
            <a:ext cx="2095500" cy="185738"/>
          </a:xfrm>
          <a:prstGeom prst="rect">
            <a:avLst/>
          </a:prstGeom>
          <a:noFill/>
          <a:ln/>
        </p:spPr>
        <p:txBody>
          <a:bodyPr wrap="square" lIns="0" tIns="0" rIns="0" bIns="0" rtlCol="0" anchor="t"/>
          <a:lstStyle/>
          <a:p>
            <a:pPr marL="0" indent="0" algn="l">
              <a:lnSpc>
                <a:spcPts val="1380"/>
              </a:lnSpc>
              <a:buNone/>
            </a:pPr>
            <a:r>
              <a:rPr lang="en-US" sz="1140" b="1" dirty="0">
                <a:solidFill>
                  <a:srgbClr val="FFFFFF">
                    <a:alpha val="99000"/>
                  </a:srgbClr>
                </a:solidFill>
                <a:latin typeface="Inter" pitchFamily="34" charset="0"/>
                <a:ea typeface="Inter" pitchFamily="34" charset="-122"/>
                <a:cs typeface="Inter" pitchFamily="34" charset="-120"/>
              </a:rPr>
              <a:t>Regulation &amp; geopolitics</a:t>
            </a:r>
            <a:endParaRPr lang="en-US" sz="1140" dirty="0"/>
          </a:p>
        </p:txBody>
      </p:sp>
      <p:sp>
        <p:nvSpPr>
          <p:cNvPr id="12" name="Text 10"/>
          <p:cNvSpPr/>
          <p:nvPr/>
        </p:nvSpPr>
        <p:spPr>
          <a:xfrm>
            <a:off x="952500" y="2566988"/>
            <a:ext cx="2095500" cy="304800"/>
          </a:xfrm>
          <a:prstGeom prst="rect">
            <a:avLst/>
          </a:prstGeom>
          <a:noFill/>
          <a:ln/>
        </p:spPr>
        <p:txBody>
          <a:bodyPr wrap="square" lIns="0" tIns="0" rIns="0" bIns="0" rtlCol="0" anchor="t"/>
          <a:lstStyle/>
          <a:p>
            <a:pPr marL="0" indent="0" algn="l">
              <a:lnSpc>
                <a:spcPts val="1136"/>
              </a:lnSpc>
              <a:buNone/>
            </a:pPr>
            <a:r>
              <a:rPr lang="en-US" sz="784" dirty="0">
                <a:solidFill>
                  <a:srgbClr val="A8B5CC">
                    <a:alpha val="99000"/>
                  </a:srgbClr>
                </a:solidFill>
                <a:latin typeface="Inter" pitchFamily="34" charset="0"/>
                <a:ea typeface="Inter" pitchFamily="34" charset="-122"/>
                <a:cs typeface="Inter" pitchFamily="34" charset="-120"/>
              </a:rPr>
              <a:t>US divestment law, India's 2020 ban and data-privacy concerns</a:t>
            </a:r>
            <a:endParaRPr lang="en-US" sz="784" dirty="0"/>
          </a:p>
        </p:txBody>
      </p:sp>
      <p:sp>
        <p:nvSpPr>
          <p:cNvPr id="13" name="Shape 11"/>
          <p:cNvSpPr/>
          <p:nvPr/>
        </p:nvSpPr>
        <p:spPr>
          <a:xfrm>
            <a:off x="3352800" y="1857375"/>
            <a:ext cx="2438400" cy="1333500"/>
          </a:xfrm>
          <a:prstGeom prst="roundRect">
            <a:avLst>
              <a:gd name="adj" fmla="val 13714"/>
            </a:avLst>
          </a:prstGeom>
          <a:solidFill>
            <a:srgbClr val="172138"/>
          </a:solidFill>
          <a:ln/>
        </p:spPr>
      </p:sp>
      <p:sp>
        <p:nvSpPr>
          <p:cNvPr id="14" name="Text 12"/>
          <p:cNvSpPr/>
          <p:nvPr/>
        </p:nvSpPr>
        <p:spPr>
          <a:xfrm>
            <a:off x="3524250" y="2028825"/>
            <a:ext cx="228600" cy="209550"/>
          </a:xfrm>
          <a:prstGeom prst="rect">
            <a:avLst/>
          </a:prstGeom>
          <a:noFill/>
          <a:ln/>
        </p:spPr>
        <p:txBody>
          <a:bodyPr wrap="square" lIns="0" tIns="0" rIns="0" bIns="0" rtlCol="0" anchor="t"/>
          <a:lstStyle/>
          <a:p>
            <a:pPr marL="0" indent="0" algn="l">
              <a:lnSpc>
                <a:spcPts val="1552"/>
              </a:lnSpc>
              <a:buNone/>
            </a:pPr>
            <a:r>
              <a:rPr lang="en-US" sz="1283" b="1" dirty="0">
                <a:solidFill>
                  <a:srgbClr val="FE2C55">
                    <a:alpha val="99000"/>
                  </a:srgbClr>
                </a:solidFill>
                <a:latin typeface="Inter" pitchFamily="34" charset="0"/>
                <a:ea typeface="Inter" pitchFamily="34" charset="-122"/>
                <a:cs typeface="Inter" pitchFamily="34" charset="-120"/>
              </a:rPr>
              <a:t>02</a:t>
            </a:r>
            <a:endParaRPr lang="en-US" sz="1283" dirty="0"/>
          </a:p>
        </p:txBody>
      </p:sp>
      <p:sp>
        <p:nvSpPr>
          <p:cNvPr id="15" name="Text 13"/>
          <p:cNvSpPr/>
          <p:nvPr/>
        </p:nvSpPr>
        <p:spPr>
          <a:xfrm>
            <a:off x="3524250" y="2314575"/>
            <a:ext cx="2095500" cy="185738"/>
          </a:xfrm>
          <a:prstGeom prst="rect">
            <a:avLst/>
          </a:prstGeom>
          <a:noFill/>
          <a:ln/>
        </p:spPr>
        <p:txBody>
          <a:bodyPr wrap="square" lIns="0" tIns="0" rIns="0" bIns="0" rtlCol="0" anchor="t"/>
          <a:lstStyle/>
          <a:p>
            <a:pPr marL="0" indent="0" algn="l">
              <a:lnSpc>
                <a:spcPts val="1380"/>
              </a:lnSpc>
              <a:buNone/>
            </a:pPr>
            <a:r>
              <a:rPr lang="en-US" sz="1140" b="1" dirty="0">
                <a:solidFill>
                  <a:srgbClr val="FFFFFF">
                    <a:alpha val="99000"/>
                  </a:srgbClr>
                </a:solidFill>
                <a:latin typeface="Inter" pitchFamily="34" charset="0"/>
                <a:ea typeface="Inter" pitchFamily="34" charset="-122"/>
                <a:cs typeface="Inter" pitchFamily="34" charset="-120"/>
              </a:rPr>
              <a:t>Competition</a:t>
            </a:r>
            <a:endParaRPr lang="en-US" sz="1140" dirty="0"/>
          </a:p>
        </p:txBody>
      </p:sp>
      <p:sp>
        <p:nvSpPr>
          <p:cNvPr id="16" name="Text 14"/>
          <p:cNvSpPr/>
          <p:nvPr/>
        </p:nvSpPr>
        <p:spPr>
          <a:xfrm>
            <a:off x="3524250" y="2566988"/>
            <a:ext cx="2095500" cy="304800"/>
          </a:xfrm>
          <a:prstGeom prst="rect">
            <a:avLst/>
          </a:prstGeom>
          <a:noFill/>
          <a:ln/>
        </p:spPr>
        <p:txBody>
          <a:bodyPr wrap="square" lIns="0" tIns="0" rIns="0" bIns="0" rtlCol="0" anchor="t"/>
          <a:lstStyle/>
          <a:p>
            <a:pPr marL="0" indent="0" algn="l">
              <a:lnSpc>
                <a:spcPts val="1136"/>
              </a:lnSpc>
              <a:buNone/>
            </a:pPr>
            <a:r>
              <a:rPr lang="en-US" sz="784" dirty="0">
                <a:solidFill>
                  <a:srgbClr val="A8B5CC">
                    <a:alpha val="99000"/>
                  </a:srgbClr>
                </a:solidFill>
                <a:latin typeface="Inter" pitchFamily="34" charset="0"/>
                <a:ea typeface="Inter" pitchFamily="34" charset="-122"/>
                <a:cs typeface="Inter" pitchFamily="34" charset="-120"/>
              </a:rPr>
              <a:t>Rivals in short video and generative AI are fighting for the same users</a:t>
            </a:r>
            <a:endParaRPr lang="en-US" sz="784" dirty="0"/>
          </a:p>
        </p:txBody>
      </p:sp>
      <p:sp>
        <p:nvSpPr>
          <p:cNvPr id="17" name="Shape 15"/>
          <p:cNvSpPr/>
          <p:nvPr/>
        </p:nvSpPr>
        <p:spPr>
          <a:xfrm>
            <a:off x="5924550" y="1857375"/>
            <a:ext cx="2438400" cy="1333500"/>
          </a:xfrm>
          <a:prstGeom prst="roundRect">
            <a:avLst>
              <a:gd name="adj" fmla="val 13714"/>
            </a:avLst>
          </a:prstGeom>
          <a:solidFill>
            <a:srgbClr val="172138"/>
          </a:solidFill>
          <a:ln/>
        </p:spPr>
      </p:sp>
      <p:sp>
        <p:nvSpPr>
          <p:cNvPr id="18" name="Text 16"/>
          <p:cNvSpPr/>
          <p:nvPr/>
        </p:nvSpPr>
        <p:spPr>
          <a:xfrm>
            <a:off x="6096000" y="2028825"/>
            <a:ext cx="233362" cy="209550"/>
          </a:xfrm>
          <a:prstGeom prst="rect">
            <a:avLst/>
          </a:prstGeom>
          <a:noFill/>
          <a:ln/>
        </p:spPr>
        <p:txBody>
          <a:bodyPr wrap="square" lIns="0" tIns="0" rIns="0" bIns="0" rtlCol="0" anchor="t"/>
          <a:lstStyle/>
          <a:p>
            <a:pPr marL="0" indent="0" algn="l">
              <a:lnSpc>
                <a:spcPts val="1552"/>
              </a:lnSpc>
              <a:buNone/>
            </a:pPr>
            <a:r>
              <a:rPr lang="en-US" sz="1283" b="1" dirty="0">
                <a:solidFill>
                  <a:srgbClr val="25F4EE">
                    <a:alpha val="99000"/>
                  </a:srgbClr>
                </a:solidFill>
                <a:latin typeface="Inter" pitchFamily="34" charset="0"/>
                <a:ea typeface="Inter" pitchFamily="34" charset="-122"/>
                <a:cs typeface="Inter" pitchFamily="34" charset="-120"/>
              </a:rPr>
              <a:t>03</a:t>
            </a:r>
            <a:endParaRPr lang="en-US" sz="1283" dirty="0"/>
          </a:p>
        </p:txBody>
      </p:sp>
      <p:sp>
        <p:nvSpPr>
          <p:cNvPr id="19" name="Text 17"/>
          <p:cNvSpPr/>
          <p:nvPr/>
        </p:nvSpPr>
        <p:spPr>
          <a:xfrm>
            <a:off x="6096000" y="2314575"/>
            <a:ext cx="2095500" cy="185738"/>
          </a:xfrm>
          <a:prstGeom prst="rect">
            <a:avLst/>
          </a:prstGeom>
          <a:noFill/>
          <a:ln/>
        </p:spPr>
        <p:txBody>
          <a:bodyPr wrap="square" lIns="0" tIns="0" rIns="0" bIns="0" rtlCol="0" anchor="t"/>
          <a:lstStyle/>
          <a:p>
            <a:pPr marL="0" indent="0" algn="l">
              <a:lnSpc>
                <a:spcPts val="1380"/>
              </a:lnSpc>
              <a:buNone/>
            </a:pPr>
            <a:r>
              <a:rPr lang="en-US" sz="1140" b="1" dirty="0">
                <a:solidFill>
                  <a:srgbClr val="FFFFFF">
                    <a:alpha val="99000"/>
                  </a:srgbClr>
                </a:solidFill>
                <a:latin typeface="Inter" pitchFamily="34" charset="0"/>
                <a:ea typeface="Inter" pitchFamily="34" charset="-122"/>
                <a:cs typeface="Inter" pitchFamily="34" charset="-120"/>
              </a:rPr>
              <a:t>AI spending</a:t>
            </a:r>
            <a:endParaRPr lang="en-US" sz="1140" dirty="0"/>
          </a:p>
        </p:txBody>
      </p:sp>
      <p:sp>
        <p:nvSpPr>
          <p:cNvPr id="20" name="Text 18"/>
          <p:cNvSpPr/>
          <p:nvPr/>
        </p:nvSpPr>
        <p:spPr>
          <a:xfrm>
            <a:off x="6096000" y="2566988"/>
            <a:ext cx="2095500" cy="304800"/>
          </a:xfrm>
          <a:prstGeom prst="rect">
            <a:avLst/>
          </a:prstGeom>
          <a:noFill/>
          <a:ln/>
        </p:spPr>
        <p:txBody>
          <a:bodyPr wrap="square" lIns="0" tIns="0" rIns="0" bIns="0" rtlCol="0" anchor="t"/>
          <a:lstStyle/>
          <a:p>
            <a:pPr marL="0" indent="0" algn="l">
              <a:lnSpc>
                <a:spcPts val="1136"/>
              </a:lnSpc>
              <a:buNone/>
            </a:pPr>
            <a:r>
              <a:rPr lang="en-US" sz="784" dirty="0">
                <a:solidFill>
                  <a:srgbClr val="A8B5CC">
                    <a:alpha val="99000"/>
                  </a:srgbClr>
                </a:solidFill>
                <a:latin typeface="Inter" pitchFamily="34" charset="0"/>
                <a:ea typeface="Inter" pitchFamily="34" charset="-122"/>
                <a:cs typeface="Inter" pitchFamily="34" charset="-120"/>
              </a:rPr>
              <a:t>Huge AI investment is squeezing profit margins</a:t>
            </a:r>
            <a:endParaRPr lang="en-US" sz="784" dirty="0"/>
          </a:p>
        </p:txBody>
      </p:sp>
      <p:sp>
        <p:nvSpPr>
          <p:cNvPr id="21" name="Shape 19"/>
          <p:cNvSpPr/>
          <p:nvPr/>
        </p:nvSpPr>
        <p:spPr>
          <a:xfrm>
            <a:off x="781050" y="3429000"/>
            <a:ext cx="7581900" cy="857250"/>
          </a:xfrm>
          <a:prstGeom prst="roundRect">
            <a:avLst>
              <a:gd name="adj" fmla="val 21333"/>
            </a:avLst>
          </a:prstGeom>
          <a:solidFill>
            <a:srgbClr val="172138"/>
          </a:solidFill>
          <a:ln/>
        </p:spPr>
      </p:sp>
      <p:sp>
        <p:nvSpPr>
          <p:cNvPr id="22" name="Shape 20"/>
          <p:cNvSpPr/>
          <p:nvPr/>
        </p:nvSpPr>
        <p:spPr>
          <a:xfrm>
            <a:off x="781050" y="3429000"/>
            <a:ext cx="47625" cy="857250"/>
          </a:xfrm>
          <a:prstGeom prst="rect">
            <a:avLst/>
          </a:prstGeom>
          <a:solidFill>
            <a:srgbClr val="FE2C55"/>
          </a:solidFill>
          <a:ln/>
        </p:spPr>
      </p:sp>
      <p:sp>
        <p:nvSpPr>
          <p:cNvPr id="23" name="Text 21"/>
          <p:cNvSpPr/>
          <p:nvPr/>
        </p:nvSpPr>
        <p:spPr>
          <a:xfrm>
            <a:off x="1009650" y="3581400"/>
            <a:ext cx="528638" cy="114300"/>
          </a:xfrm>
          <a:prstGeom prst="rect">
            <a:avLst/>
          </a:prstGeom>
          <a:noFill/>
          <a:ln/>
        </p:spPr>
        <p:txBody>
          <a:bodyPr wrap="square" lIns="0" tIns="0" rIns="0" bIns="0" rtlCol="0" anchor="t"/>
          <a:lstStyle/>
          <a:p>
            <a:pPr marL="0" indent="0" algn="l">
              <a:lnSpc>
                <a:spcPts val="862"/>
              </a:lnSpc>
              <a:buNone/>
            </a:pPr>
            <a:r>
              <a:rPr lang="en-US" sz="713" b="1" kern="0" spc="85" dirty="0">
                <a:solidFill>
                  <a:srgbClr val="FE2C55">
                    <a:alpha val="99000"/>
                  </a:srgbClr>
                </a:solidFill>
                <a:latin typeface="Inter" pitchFamily="34" charset="0"/>
                <a:ea typeface="Inter" pitchFamily="34" charset="-122"/>
                <a:cs typeface="Inter" pitchFamily="34" charset="-120"/>
              </a:rPr>
              <a:t>PROBLEM</a:t>
            </a:r>
            <a:endParaRPr lang="en-US" sz="713" dirty="0"/>
          </a:p>
        </p:txBody>
      </p:sp>
      <p:sp>
        <p:nvSpPr>
          <p:cNvPr id="24" name="Text 22"/>
          <p:cNvSpPr/>
          <p:nvPr/>
        </p:nvSpPr>
        <p:spPr>
          <a:xfrm>
            <a:off x="1009650" y="3762375"/>
            <a:ext cx="7096125" cy="419100"/>
          </a:xfrm>
          <a:prstGeom prst="rect">
            <a:avLst/>
          </a:prstGeom>
          <a:noFill/>
          <a:ln/>
        </p:spPr>
        <p:txBody>
          <a:bodyPr wrap="square" lIns="0" tIns="0" rIns="0" bIns="0" rtlCol="0" anchor="t"/>
          <a:lstStyle/>
          <a:p>
            <a:pPr marL="0" indent="0" algn="l">
              <a:lnSpc>
                <a:spcPts val="1575"/>
              </a:lnSpc>
              <a:buNone/>
            </a:pPr>
            <a:r>
              <a:rPr lang="en-US" sz="1211" b="1" dirty="0">
                <a:solidFill>
                  <a:srgbClr val="FFFFFF">
                    <a:alpha val="99000"/>
                  </a:srgbClr>
                </a:solidFill>
                <a:latin typeface="Inter" pitchFamily="34" charset="0"/>
                <a:ea typeface="Inter" pitchFamily="34" charset="-122"/>
                <a:cs typeface="Inter" pitchFamily="34" charset="-120"/>
              </a:rPr>
              <a:t>How did ByteDance become a top global unicorn, and can its business model stay sustainable under these pressures?</a:t>
            </a:r>
            <a:endParaRPr lang="en-US" sz="121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C"/>
        </a:solidFill>
        <a:effectLst/>
      </p:bgPr>
    </p:bg>
    <p:spTree>
      <p:nvGrpSpPr>
        <p:cNvPr id="1" name=""/>
        <p:cNvGrpSpPr/>
        <p:nvPr/>
      </p:nvGrpSpPr>
      <p:grpSpPr>
        <a:xfrm>
          <a:off x="0" y="0"/>
          <a:ext cx="0" cy="0"/>
          <a:chOff x="0" y="0"/>
          <a:chExt cx="0" cy="0"/>
        </a:xfrm>
      </p:grpSpPr>
      <p:sp>
        <p:nvSpPr>
          <p:cNvPr id="2" name="Shape 0"/>
          <p:cNvSpPr/>
          <p:nvPr/>
        </p:nvSpPr>
        <p:spPr>
          <a:xfrm>
            <a:off x="571500" y="533400"/>
            <a:ext cx="38100" cy="285750"/>
          </a:xfrm>
          <a:prstGeom prst="rect">
            <a:avLst/>
          </a:prstGeom>
          <a:solidFill>
            <a:srgbClr val="25F4EE"/>
          </a:solidFill>
          <a:ln/>
        </p:spPr>
      </p:sp>
      <p:sp>
        <p:nvSpPr>
          <p:cNvPr id="3" name="Shape 1"/>
          <p:cNvSpPr/>
          <p:nvPr/>
        </p:nvSpPr>
        <p:spPr>
          <a:xfrm>
            <a:off x="638175" y="571500"/>
            <a:ext cx="38100" cy="285750"/>
          </a:xfrm>
          <a:prstGeom prst="rect">
            <a:avLst/>
          </a:prstGeom>
          <a:solidFill>
            <a:srgbClr val="FE2C55"/>
          </a:solidFill>
          <a:ln/>
        </p:spPr>
      </p:sp>
      <p:sp>
        <p:nvSpPr>
          <p:cNvPr id="4" name="Text 2"/>
          <p:cNvSpPr/>
          <p:nvPr/>
        </p:nvSpPr>
        <p:spPr>
          <a:xfrm>
            <a:off x="781050" y="514350"/>
            <a:ext cx="1266825" cy="128588"/>
          </a:xfrm>
          <a:prstGeom prst="rect">
            <a:avLst/>
          </a:prstGeom>
          <a:noFill/>
          <a:ln/>
        </p:spPr>
        <p:txBody>
          <a:bodyPr wrap="square" lIns="0" tIns="0" rIns="0" bIns="0" rtlCol="0" anchor="t"/>
          <a:lstStyle/>
          <a:p>
            <a:pPr marL="0" indent="0" algn="l">
              <a:lnSpc>
                <a:spcPts val="949"/>
              </a:lnSpc>
              <a:buNone/>
            </a:pPr>
            <a:r>
              <a:rPr lang="en-US" sz="784" b="1" kern="0" spc="94" dirty="0">
                <a:solidFill>
                  <a:srgbClr val="FE2C55">
                    <a:alpha val="99000"/>
                  </a:srgbClr>
                </a:solidFill>
                <a:latin typeface="Inter" pitchFamily="34" charset="0"/>
                <a:ea typeface="Inter" pitchFamily="34" charset="-122"/>
                <a:cs typeface="Inter" pitchFamily="34" charset="-120"/>
              </a:rPr>
              <a:t>LITERATURE REVIEW</a:t>
            </a:r>
            <a:endParaRPr lang="en-US" sz="784" dirty="0"/>
          </a:p>
        </p:txBody>
      </p:sp>
      <p:sp>
        <p:nvSpPr>
          <p:cNvPr id="5" name="Text 3"/>
          <p:cNvSpPr/>
          <p:nvPr/>
        </p:nvSpPr>
        <p:spPr>
          <a:xfrm>
            <a:off x="781050" y="666750"/>
            <a:ext cx="7429500" cy="314325"/>
          </a:xfrm>
          <a:prstGeom prst="rect">
            <a:avLst/>
          </a:prstGeom>
          <a:noFill/>
          <a:ln/>
        </p:spPr>
        <p:txBody>
          <a:bodyPr wrap="square" lIns="0" tIns="0" rIns="0" bIns="0" rtlCol="0" anchor="t"/>
          <a:lstStyle/>
          <a:p>
            <a:pPr marL="0" indent="0" algn="l">
              <a:lnSpc>
                <a:spcPts val="2351"/>
              </a:lnSpc>
              <a:buNone/>
            </a:pPr>
            <a:r>
              <a:rPr lang="en-US" sz="2138" b="1" dirty="0">
                <a:solidFill>
                  <a:srgbClr val="121726">
                    <a:alpha val="99000"/>
                  </a:srgbClr>
                </a:solidFill>
                <a:latin typeface="Inter" pitchFamily="34" charset="0"/>
                <a:ea typeface="Inter" pitchFamily="34" charset="-122"/>
                <a:cs typeface="Inter" pitchFamily="34" charset="-120"/>
              </a:rPr>
              <a:t>What the literature says</a:t>
            </a:r>
            <a:endParaRPr lang="en-US" sz="2138" dirty="0"/>
          </a:p>
        </p:txBody>
      </p:sp>
      <p:sp>
        <p:nvSpPr>
          <p:cNvPr id="6" name="Text 4"/>
          <p:cNvSpPr/>
          <p:nvPr/>
        </p:nvSpPr>
        <p:spPr>
          <a:xfrm>
            <a:off x="571500" y="4819650"/>
            <a:ext cx="2547938" cy="104775"/>
          </a:xfrm>
          <a:prstGeom prst="rect">
            <a:avLst/>
          </a:prstGeom>
          <a:noFill/>
          <a:ln/>
        </p:spPr>
        <p:txBody>
          <a:bodyPr wrap="square" lIns="0" tIns="0" rIns="0" bIns="0" rtlCol="0" anchor="t"/>
          <a:lstStyle/>
          <a:p>
            <a:pPr marL="0" indent="0" algn="l">
              <a:lnSpc>
                <a:spcPts val="776"/>
              </a:lnSpc>
              <a:buNone/>
            </a:pPr>
            <a:r>
              <a:rPr lang="en-US" sz="641" dirty="0">
                <a:solidFill>
                  <a:srgbClr val="596378">
                    <a:alpha val="99000"/>
                  </a:srgbClr>
                </a:solidFill>
                <a:latin typeface="Inter" pitchFamily="34" charset="0"/>
                <a:ea typeface="Inter" pitchFamily="34" charset="-122"/>
                <a:cs typeface="Inter" pitchFamily="34" charset="-120"/>
              </a:rPr>
              <a:t>ByteDance  ·  Unicorn Company Case Study  ·  ISE, Semester 7</a:t>
            </a:r>
            <a:endParaRPr lang="en-US" sz="641" dirty="0"/>
          </a:p>
        </p:txBody>
      </p:sp>
      <p:sp>
        <p:nvSpPr>
          <p:cNvPr id="7" name="Text 5"/>
          <p:cNvSpPr/>
          <p:nvPr/>
        </p:nvSpPr>
        <p:spPr>
          <a:xfrm>
            <a:off x="8096250" y="4819650"/>
            <a:ext cx="476250" cy="104775"/>
          </a:xfrm>
          <a:prstGeom prst="rect">
            <a:avLst/>
          </a:prstGeom>
          <a:noFill/>
          <a:ln/>
        </p:spPr>
        <p:txBody>
          <a:bodyPr wrap="square" lIns="0" tIns="0" rIns="0" bIns="0" rtlCol="0" anchor="t"/>
          <a:lstStyle/>
          <a:p>
            <a:pPr marL="0" indent="0" algn="r">
              <a:lnSpc>
                <a:spcPts val="776"/>
              </a:lnSpc>
              <a:buNone/>
            </a:pPr>
            <a:r>
              <a:rPr lang="en-US" sz="641" b="1" dirty="0">
                <a:solidFill>
                  <a:srgbClr val="FE2C55">
                    <a:alpha val="99000"/>
                  </a:srgbClr>
                </a:solidFill>
                <a:latin typeface="Inter" pitchFamily="34" charset="0"/>
                <a:ea typeface="Inter" pitchFamily="34" charset="-122"/>
                <a:cs typeface="Inter" pitchFamily="34" charset="-120"/>
              </a:rPr>
              <a:t>05</a:t>
            </a:r>
            <a:endParaRPr lang="en-US" sz="641" dirty="0"/>
          </a:p>
        </p:txBody>
      </p:sp>
      <p:sp>
        <p:nvSpPr>
          <p:cNvPr id="8" name="Shape 6"/>
          <p:cNvSpPr/>
          <p:nvPr/>
        </p:nvSpPr>
        <p:spPr>
          <a:xfrm>
            <a:off x="781050" y="1333500"/>
            <a:ext cx="7581900" cy="9525"/>
          </a:xfrm>
          <a:prstGeom prst="rect">
            <a:avLst/>
          </a:prstGeom>
          <a:solidFill>
            <a:srgbClr val="D9DEE8"/>
          </a:solidFill>
          <a:ln/>
        </p:spPr>
      </p:sp>
      <p:sp>
        <p:nvSpPr>
          <p:cNvPr id="9" name="Text 7"/>
          <p:cNvSpPr/>
          <p:nvPr/>
        </p:nvSpPr>
        <p:spPr>
          <a:xfrm>
            <a:off x="781050" y="1428750"/>
            <a:ext cx="2667000" cy="147638"/>
          </a:xfrm>
          <a:prstGeom prst="rect">
            <a:avLst/>
          </a:prstGeom>
          <a:noFill/>
          <a:ln/>
        </p:spPr>
        <p:txBody>
          <a:bodyPr wrap="square" lIns="0" tIns="0" rIns="0" bIns="0" rtlCol="0" anchor="t"/>
          <a:lstStyle/>
          <a:p>
            <a:pPr marL="0" indent="0" algn="l">
              <a:lnSpc>
                <a:spcPts val="1121"/>
              </a:lnSpc>
              <a:buNone/>
            </a:pPr>
            <a:r>
              <a:rPr lang="en-US" sz="926" b="1" dirty="0">
                <a:solidFill>
                  <a:srgbClr val="121726">
                    <a:alpha val="99000"/>
                  </a:srgbClr>
                </a:solidFill>
                <a:latin typeface="Inter" pitchFamily="34" charset="0"/>
                <a:ea typeface="Inter" pitchFamily="34" charset="-122"/>
                <a:cs typeface="Inter" pitchFamily="34" charset="-120"/>
              </a:rPr>
              <a:t>Aileen Lee (2013)</a:t>
            </a:r>
            <a:endParaRPr lang="en-US" sz="926" dirty="0"/>
          </a:p>
        </p:txBody>
      </p:sp>
      <p:sp>
        <p:nvSpPr>
          <p:cNvPr id="10" name="Text 8"/>
          <p:cNvSpPr/>
          <p:nvPr/>
        </p:nvSpPr>
        <p:spPr>
          <a:xfrm>
            <a:off x="781050" y="1609725"/>
            <a:ext cx="2667000" cy="114300"/>
          </a:xfrm>
          <a:prstGeom prst="rect">
            <a:avLst/>
          </a:prstGeom>
          <a:noFill/>
          <a:ln/>
        </p:spPr>
        <p:txBody>
          <a:bodyPr wrap="square" lIns="0" tIns="0" rIns="0" bIns="0" rtlCol="0" anchor="t"/>
          <a:lstStyle/>
          <a:p>
            <a:pPr marL="0" indent="0" algn="l">
              <a:lnSpc>
                <a:spcPts val="862"/>
              </a:lnSpc>
              <a:buNone/>
            </a:pPr>
            <a:r>
              <a:rPr lang="en-US" sz="713" dirty="0">
                <a:solidFill>
                  <a:srgbClr val="FE2C55">
                    <a:alpha val="99000"/>
                  </a:srgbClr>
                </a:solidFill>
                <a:latin typeface="Inter" pitchFamily="34" charset="0"/>
                <a:ea typeface="Inter" pitchFamily="34" charset="-122"/>
                <a:cs typeface="Inter" pitchFamily="34" charset="-120"/>
              </a:rPr>
              <a:t>Welcome to the Unicorn Club, TechCrunch</a:t>
            </a:r>
            <a:endParaRPr lang="en-US" sz="713" dirty="0"/>
          </a:p>
        </p:txBody>
      </p:sp>
      <p:sp>
        <p:nvSpPr>
          <p:cNvPr id="11" name="Text 9"/>
          <p:cNvSpPr/>
          <p:nvPr/>
        </p:nvSpPr>
        <p:spPr>
          <a:xfrm>
            <a:off x="3695700" y="1438275"/>
            <a:ext cx="4667250" cy="161925"/>
          </a:xfrm>
          <a:prstGeom prst="rect">
            <a:avLst/>
          </a:prstGeom>
          <a:noFill/>
          <a:ln/>
        </p:spPr>
        <p:txBody>
          <a:bodyPr wrap="square" lIns="0" tIns="0" rIns="0" bIns="0" rtlCol="0" anchor="t"/>
          <a:lstStyle/>
          <a:p>
            <a:pPr marL="0" indent="0" algn="l">
              <a:lnSpc>
                <a:spcPts val="1197"/>
              </a:lnSpc>
              <a:buNone/>
            </a:pPr>
            <a:r>
              <a:rPr lang="en-US" sz="855" dirty="0">
                <a:solidFill>
                  <a:srgbClr val="596378">
                    <a:alpha val="99000"/>
                  </a:srgbClr>
                </a:solidFill>
                <a:latin typeface="Inter" pitchFamily="34" charset="0"/>
                <a:ea typeface="Inter" pitchFamily="34" charset="-122"/>
                <a:cs typeface="Inter" pitchFamily="34" charset="-120"/>
              </a:rPr>
              <a:t>Coined the term "unicorn" for startups valued at over $1 billion.</a:t>
            </a:r>
            <a:endParaRPr lang="en-US" sz="855" dirty="0"/>
          </a:p>
        </p:txBody>
      </p:sp>
      <p:sp>
        <p:nvSpPr>
          <p:cNvPr id="12" name="Shape 10"/>
          <p:cNvSpPr/>
          <p:nvPr/>
        </p:nvSpPr>
        <p:spPr>
          <a:xfrm>
            <a:off x="781050" y="1971675"/>
            <a:ext cx="7581900" cy="9525"/>
          </a:xfrm>
          <a:prstGeom prst="rect">
            <a:avLst/>
          </a:prstGeom>
          <a:solidFill>
            <a:srgbClr val="D9DEE8"/>
          </a:solidFill>
          <a:ln/>
        </p:spPr>
      </p:sp>
      <p:sp>
        <p:nvSpPr>
          <p:cNvPr id="13" name="Text 11"/>
          <p:cNvSpPr/>
          <p:nvPr/>
        </p:nvSpPr>
        <p:spPr>
          <a:xfrm>
            <a:off x="781050" y="2066925"/>
            <a:ext cx="2667000" cy="147638"/>
          </a:xfrm>
          <a:prstGeom prst="rect">
            <a:avLst/>
          </a:prstGeom>
          <a:noFill/>
          <a:ln/>
        </p:spPr>
        <p:txBody>
          <a:bodyPr wrap="square" lIns="0" tIns="0" rIns="0" bIns="0" rtlCol="0" anchor="t"/>
          <a:lstStyle/>
          <a:p>
            <a:pPr marL="0" indent="0" algn="l">
              <a:lnSpc>
                <a:spcPts val="1121"/>
              </a:lnSpc>
              <a:buNone/>
            </a:pPr>
            <a:r>
              <a:rPr lang="en-US" sz="926" b="1" dirty="0">
                <a:solidFill>
                  <a:srgbClr val="121726">
                    <a:alpha val="99000"/>
                  </a:srgbClr>
                </a:solidFill>
                <a:latin typeface="Inter" pitchFamily="34" charset="0"/>
                <a:ea typeface="Inter" pitchFamily="34" charset="-122"/>
                <a:cs typeface="Inter" pitchFamily="34" charset="-120"/>
              </a:rPr>
              <a:t>Clayton Christensen (1997)</a:t>
            </a:r>
            <a:endParaRPr lang="en-US" sz="926" dirty="0"/>
          </a:p>
        </p:txBody>
      </p:sp>
      <p:sp>
        <p:nvSpPr>
          <p:cNvPr id="14" name="Text 12"/>
          <p:cNvSpPr/>
          <p:nvPr/>
        </p:nvSpPr>
        <p:spPr>
          <a:xfrm>
            <a:off x="781050" y="2247900"/>
            <a:ext cx="2667000" cy="114300"/>
          </a:xfrm>
          <a:prstGeom prst="rect">
            <a:avLst/>
          </a:prstGeom>
          <a:noFill/>
          <a:ln/>
        </p:spPr>
        <p:txBody>
          <a:bodyPr wrap="square" lIns="0" tIns="0" rIns="0" bIns="0" rtlCol="0" anchor="t"/>
          <a:lstStyle/>
          <a:p>
            <a:pPr marL="0" indent="0" algn="l">
              <a:lnSpc>
                <a:spcPts val="862"/>
              </a:lnSpc>
              <a:buNone/>
            </a:pPr>
            <a:r>
              <a:rPr lang="en-US" sz="713" dirty="0">
                <a:solidFill>
                  <a:srgbClr val="00999E">
                    <a:alpha val="99000"/>
                  </a:srgbClr>
                </a:solidFill>
                <a:latin typeface="Inter" pitchFamily="34" charset="0"/>
                <a:ea typeface="Inter" pitchFamily="34" charset="-122"/>
                <a:cs typeface="Inter" pitchFamily="34" charset="-120"/>
              </a:rPr>
              <a:t>The Innovator's Dilemma</a:t>
            </a:r>
            <a:endParaRPr lang="en-US" sz="713" dirty="0"/>
          </a:p>
        </p:txBody>
      </p:sp>
      <p:sp>
        <p:nvSpPr>
          <p:cNvPr id="15" name="Text 13"/>
          <p:cNvSpPr/>
          <p:nvPr/>
        </p:nvSpPr>
        <p:spPr>
          <a:xfrm>
            <a:off x="3695700" y="2076450"/>
            <a:ext cx="4667250" cy="323850"/>
          </a:xfrm>
          <a:prstGeom prst="rect">
            <a:avLst/>
          </a:prstGeom>
          <a:noFill/>
          <a:ln/>
        </p:spPr>
        <p:txBody>
          <a:bodyPr wrap="square" lIns="0" tIns="0" rIns="0" bIns="0" rtlCol="0" anchor="t"/>
          <a:lstStyle/>
          <a:p>
            <a:pPr marL="0" indent="0" algn="l">
              <a:lnSpc>
                <a:spcPts val="1197"/>
              </a:lnSpc>
              <a:buNone/>
            </a:pPr>
            <a:r>
              <a:rPr lang="en-US" sz="855" dirty="0">
                <a:solidFill>
                  <a:srgbClr val="596378">
                    <a:alpha val="99000"/>
                  </a:srgbClr>
                </a:solidFill>
                <a:latin typeface="Inter" pitchFamily="34" charset="0"/>
                <a:ea typeface="Inter" pitchFamily="34" charset="-122"/>
                <a:cs typeface="Inter" pitchFamily="34" charset="-120"/>
              </a:rPr>
              <a:t>Disruptive innovation: ByteDance disrupted the follow-based social model with algorithm-led discovery.</a:t>
            </a:r>
            <a:endParaRPr lang="en-US" sz="855" dirty="0"/>
          </a:p>
        </p:txBody>
      </p:sp>
      <p:sp>
        <p:nvSpPr>
          <p:cNvPr id="16" name="Shape 14"/>
          <p:cNvSpPr/>
          <p:nvPr/>
        </p:nvSpPr>
        <p:spPr>
          <a:xfrm>
            <a:off x="781050" y="2609850"/>
            <a:ext cx="7581900" cy="9525"/>
          </a:xfrm>
          <a:prstGeom prst="rect">
            <a:avLst/>
          </a:prstGeom>
          <a:solidFill>
            <a:srgbClr val="D9DEE8"/>
          </a:solidFill>
          <a:ln/>
        </p:spPr>
      </p:sp>
      <p:sp>
        <p:nvSpPr>
          <p:cNvPr id="17" name="Text 15"/>
          <p:cNvSpPr/>
          <p:nvPr/>
        </p:nvSpPr>
        <p:spPr>
          <a:xfrm>
            <a:off x="781050" y="2705100"/>
            <a:ext cx="2667000" cy="147638"/>
          </a:xfrm>
          <a:prstGeom prst="rect">
            <a:avLst/>
          </a:prstGeom>
          <a:noFill/>
          <a:ln/>
        </p:spPr>
        <p:txBody>
          <a:bodyPr wrap="square" lIns="0" tIns="0" rIns="0" bIns="0" rtlCol="0" anchor="t"/>
          <a:lstStyle/>
          <a:p>
            <a:pPr marL="0" indent="0" algn="l">
              <a:lnSpc>
                <a:spcPts val="1121"/>
              </a:lnSpc>
              <a:buNone/>
            </a:pPr>
            <a:r>
              <a:rPr lang="en-US" sz="926" b="1" dirty="0">
                <a:solidFill>
                  <a:srgbClr val="121726">
                    <a:alpha val="99000"/>
                  </a:srgbClr>
                </a:solidFill>
                <a:latin typeface="Inter" pitchFamily="34" charset="0"/>
                <a:ea typeface="Inter" pitchFamily="34" charset="-122"/>
                <a:cs typeface="Inter" pitchFamily="34" charset="-120"/>
              </a:rPr>
              <a:t>Eric Ries (2011)</a:t>
            </a:r>
            <a:endParaRPr lang="en-US" sz="926" dirty="0"/>
          </a:p>
        </p:txBody>
      </p:sp>
      <p:sp>
        <p:nvSpPr>
          <p:cNvPr id="18" name="Text 16"/>
          <p:cNvSpPr/>
          <p:nvPr/>
        </p:nvSpPr>
        <p:spPr>
          <a:xfrm>
            <a:off x="781050" y="2886075"/>
            <a:ext cx="2667000" cy="114300"/>
          </a:xfrm>
          <a:prstGeom prst="rect">
            <a:avLst/>
          </a:prstGeom>
          <a:noFill/>
          <a:ln/>
        </p:spPr>
        <p:txBody>
          <a:bodyPr wrap="square" lIns="0" tIns="0" rIns="0" bIns="0" rtlCol="0" anchor="t"/>
          <a:lstStyle/>
          <a:p>
            <a:pPr marL="0" indent="0" algn="l">
              <a:lnSpc>
                <a:spcPts val="862"/>
              </a:lnSpc>
              <a:buNone/>
            </a:pPr>
            <a:r>
              <a:rPr lang="en-US" sz="713" dirty="0">
                <a:solidFill>
                  <a:srgbClr val="FE2C55">
                    <a:alpha val="99000"/>
                  </a:srgbClr>
                </a:solidFill>
                <a:latin typeface="Inter" pitchFamily="34" charset="0"/>
                <a:ea typeface="Inter" pitchFamily="34" charset="-122"/>
                <a:cs typeface="Inter" pitchFamily="34" charset="-120"/>
              </a:rPr>
              <a:t>The Lean Startup</a:t>
            </a:r>
            <a:endParaRPr lang="en-US" sz="713" dirty="0"/>
          </a:p>
        </p:txBody>
      </p:sp>
      <p:sp>
        <p:nvSpPr>
          <p:cNvPr id="19" name="Text 17"/>
          <p:cNvSpPr/>
          <p:nvPr/>
        </p:nvSpPr>
        <p:spPr>
          <a:xfrm>
            <a:off x="3695700" y="2714625"/>
            <a:ext cx="4667250" cy="323850"/>
          </a:xfrm>
          <a:prstGeom prst="rect">
            <a:avLst/>
          </a:prstGeom>
          <a:noFill/>
          <a:ln/>
        </p:spPr>
        <p:txBody>
          <a:bodyPr wrap="square" lIns="0" tIns="0" rIns="0" bIns="0" rtlCol="0" anchor="t"/>
          <a:lstStyle/>
          <a:p>
            <a:pPr marL="0" indent="0" algn="l">
              <a:lnSpc>
                <a:spcPts val="1197"/>
              </a:lnSpc>
              <a:buNone/>
            </a:pPr>
            <a:r>
              <a:rPr lang="en-US" sz="855" dirty="0">
                <a:solidFill>
                  <a:srgbClr val="596378">
                    <a:alpha val="99000"/>
                  </a:srgbClr>
                </a:solidFill>
                <a:latin typeface="Inter" pitchFamily="34" charset="0"/>
                <a:ea typeface="Inter" pitchFamily="34" charset="-122"/>
                <a:cs typeface="Inter" pitchFamily="34" charset="-120"/>
              </a:rPr>
              <a:t>Build-measure-learn: ByteDance is known for rapidly A/B testing many apps and scaling the winners.</a:t>
            </a:r>
            <a:endParaRPr lang="en-US" sz="855" dirty="0"/>
          </a:p>
        </p:txBody>
      </p:sp>
      <p:sp>
        <p:nvSpPr>
          <p:cNvPr id="20" name="Shape 18"/>
          <p:cNvSpPr/>
          <p:nvPr/>
        </p:nvSpPr>
        <p:spPr>
          <a:xfrm>
            <a:off x="781050" y="3248025"/>
            <a:ext cx="7581900" cy="9525"/>
          </a:xfrm>
          <a:prstGeom prst="rect">
            <a:avLst/>
          </a:prstGeom>
          <a:solidFill>
            <a:srgbClr val="D9DEE8"/>
          </a:solidFill>
          <a:ln/>
        </p:spPr>
      </p:sp>
      <p:sp>
        <p:nvSpPr>
          <p:cNvPr id="21" name="Text 19"/>
          <p:cNvSpPr/>
          <p:nvPr/>
        </p:nvSpPr>
        <p:spPr>
          <a:xfrm>
            <a:off x="781050" y="3343275"/>
            <a:ext cx="2667000" cy="147638"/>
          </a:xfrm>
          <a:prstGeom prst="rect">
            <a:avLst/>
          </a:prstGeom>
          <a:noFill/>
          <a:ln/>
        </p:spPr>
        <p:txBody>
          <a:bodyPr wrap="square" lIns="0" tIns="0" rIns="0" bIns="0" rtlCol="0" anchor="t"/>
          <a:lstStyle/>
          <a:p>
            <a:pPr marL="0" indent="0" algn="l">
              <a:lnSpc>
                <a:spcPts val="1121"/>
              </a:lnSpc>
              <a:buNone/>
            </a:pPr>
            <a:r>
              <a:rPr lang="en-US" sz="926" b="1" dirty="0">
                <a:solidFill>
                  <a:srgbClr val="121726">
                    <a:alpha val="99000"/>
                  </a:srgbClr>
                </a:solidFill>
                <a:latin typeface="Inter" pitchFamily="34" charset="0"/>
                <a:ea typeface="Inter" pitchFamily="34" charset="-122"/>
                <a:cs typeface="Inter" pitchFamily="34" charset="-120"/>
              </a:rPr>
              <a:t>Matthew Brennan (2020)</a:t>
            </a:r>
            <a:endParaRPr lang="en-US" sz="926" dirty="0"/>
          </a:p>
        </p:txBody>
      </p:sp>
      <p:sp>
        <p:nvSpPr>
          <p:cNvPr id="22" name="Text 20"/>
          <p:cNvSpPr/>
          <p:nvPr/>
        </p:nvSpPr>
        <p:spPr>
          <a:xfrm>
            <a:off x="781050" y="3524250"/>
            <a:ext cx="2667000" cy="114300"/>
          </a:xfrm>
          <a:prstGeom prst="rect">
            <a:avLst/>
          </a:prstGeom>
          <a:noFill/>
          <a:ln/>
        </p:spPr>
        <p:txBody>
          <a:bodyPr wrap="square" lIns="0" tIns="0" rIns="0" bIns="0" rtlCol="0" anchor="t"/>
          <a:lstStyle/>
          <a:p>
            <a:pPr marL="0" indent="0" algn="l">
              <a:lnSpc>
                <a:spcPts val="862"/>
              </a:lnSpc>
              <a:buNone/>
            </a:pPr>
            <a:r>
              <a:rPr lang="en-US" sz="713" dirty="0">
                <a:solidFill>
                  <a:srgbClr val="00999E">
                    <a:alpha val="99000"/>
                  </a:srgbClr>
                </a:solidFill>
                <a:latin typeface="Inter" pitchFamily="34" charset="0"/>
                <a:ea typeface="Inter" pitchFamily="34" charset="-122"/>
                <a:cs typeface="Inter" pitchFamily="34" charset="-120"/>
              </a:rPr>
              <a:t>Attention Factory</a:t>
            </a:r>
            <a:endParaRPr lang="en-US" sz="713" dirty="0"/>
          </a:p>
        </p:txBody>
      </p:sp>
      <p:sp>
        <p:nvSpPr>
          <p:cNvPr id="23" name="Text 21"/>
          <p:cNvSpPr/>
          <p:nvPr/>
        </p:nvSpPr>
        <p:spPr>
          <a:xfrm>
            <a:off x="3695700" y="3352800"/>
            <a:ext cx="4667250" cy="323850"/>
          </a:xfrm>
          <a:prstGeom prst="rect">
            <a:avLst/>
          </a:prstGeom>
          <a:noFill/>
          <a:ln/>
        </p:spPr>
        <p:txBody>
          <a:bodyPr wrap="square" lIns="0" tIns="0" rIns="0" bIns="0" rtlCol="0" anchor="t"/>
          <a:lstStyle/>
          <a:p>
            <a:pPr marL="0" indent="0" algn="l">
              <a:lnSpc>
                <a:spcPts val="1197"/>
              </a:lnSpc>
              <a:buNone/>
            </a:pPr>
            <a:r>
              <a:rPr lang="en-US" sz="855" dirty="0">
                <a:solidFill>
                  <a:srgbClr val="596378">
                    <a:alpha val="99000"/>
                  </a:srgbClr>
                </a:solidFill>
                <a:latin typeface="Inter" pitchFamily="34" charset="0"/>
                <a:ea typeface="Inter" pitchFamily="34" charset="-122"/>
                <a:cs typeface="Inter" pitchFamily="34" charset="-120"/>
              </a:rPr>
              <a:t>A book-length study of how ByteDance built TikTok's recommendation engine and growth machine.</a:t>
            </a:r>
            <a:endParaRPr lang="en-US" sz="855" dirty="0"/>
          </a:p>
        </p:txBody>
      </p:sp>
      <p:sp>
        <p:nvSpPr>
          <p:cNvPr id="24" name="Shape 22"/>
          <p:cNvSpPr/>
          <p:nvPr/>
        </p:nvSpPr>
        <p:spPr>
          <a:xfrm>
            <a:off x="781050" y="3886200"/>
            <a:ext cx="7581900" cy="9525"/>
          </a:xfrm>
          <a:prstGeom prst="rect">
            <a:avLst/>
          </a:prstGeom>
          <a:solidFill>
            <a:srgbClr val="D9DEE8"/>
          </a:solidFill>
          <a:ln/>
        </p:spPr>
      </p:sp>
      <p:sp>
        <p:nvSpPr>
          <p:cNvPr id="25" name="Text 23"/>
          <p:cNvSpPr/>
          <p:nvPr/>
        </p:nvSpPr>
        <p:spPr>
          <a:xfrm>
            <a:off x="781050" y="3981450"/>
            <a:ext cx="2667000" cy="147638"/>
          </a:xfrm>
          <a:prstGeom prst="rect">
            <a:avLst/>
          </a:prstGeom>
          <a:noFill/>
          <a:ln/>
        </p:spPr>
        <p:txBody>
          <a:bodyPr wrap="square" lIns="0" tIns="0" rIns="0" bIns="0" rtlCol="0" anchor="t"/>
          <a:lstStyle/>
          <a:p>
            <a:pPr marL="0" indent="0" algn="l">
              <a:lnSpc>
                <a:spcPts val="1121"/>
              </a:lnSpc>
              <a:buNone/>
            </a:pPr>
            <a:r>
              <a:rPr lang="en-US" sz="926" b="1" dirty="0">
                <a:solidFill>
                  <a:srgbClr val="121726">
                    <a:alpha val="99000"/>
                  </a:srgbClr>
                </a:solidFill>
                <a:latin typeface="Inter" pitchFamily="34" charset="0"/>
                <a:ea typeface="Inter" pitchFamily="34" charset="-122"/>
                <a:cs typeface="Inter" pitchFamily="34" charset="-120"/>
              </a:rPr>
              <a:t>Industry reports (2025–26)</a:t>
            </a:r>
            <a:endParaRPr lang="en-US" sz="926" dirty="0"/>
          </a:p>
        </p:txBody>
      </p:sp>
      <p:sp>
        <p:nvSpPr>
          <p:cNvPr id="26" name="Text 24"/>
          <p:cNvSpPr/>
          <p:nvPr/>
        </p:nvSpPr>
        <p:spPr>
          <a:xfrm>
            <a:off x="781050" y="4162425"/>
            <a:ext cx="2667000" cy="114300"/>
          </a:xfrm>
          <a:prstGeom prst="rect">
            <a:avLst/>
          </a:prstGeom>
          <a:noFill/>
          <a:ln/>
        </p:spPr>
        <p:txBody>
          <a:bodyPr wrap="square" lIns="0" tIns="0" rIns="0" bIns="0" rtlCol="0" anchor="t"/>
          <a:lstStyle/>
          <a:p>
            <a:pPr marL="0" indent="0" algn="l">
              <a:lnSpc>
                <a:spcPts val="862"/>
              </a:lnSpc>
              <a:buNone/>
            </a:pPr>
            <a:r>
              <a:rPr lang="en-US" sz="713" dirty="0">
                <a:solidFill>
                  <a:srgbClr val="FE2C55">
                    <a:alpha val="99000"/>
                  </a:srgbClr>
                </a:solidFill>
                <a:latin typeface="Inter" pitchFamily="34" charset="0"/>
                <a:ea typeface="Inter" pitchFamily="34" charset="-122"/>
                <a:cs typeface="Inter" pitchFamily="34" charset="-120"/>
              </a:rPr>
              <a:t>Sacra, The Information, Forrester</a:t>
            </a:r>
            <a:endParaRPr lang="en-US" sz="713" dirty="0"/>
          </a:p>
        </p:txBody>
      </p:sp>
      <p:sp>
        <p:nvSpPr>
          <p:cNvPr id="27" name="Text 25"/>
          <p:cNvSpPr/>
          <p:nvPr/>
        </p:nvSpPr>
        <p:spPr>
          <a:xfrm>
            <a:off x="3695700" y="3990975"/>
            <a:ext cx="4667250" cy="161925"/>
          </a:xfrm>
          <a:prstGeom prst="rect">
            <a:avLst/>
          </a:prstGeom>
          <a:noFill/>
          <a:ln/>
        </p:spPr>
        <p:txBody>
          <a:bodyPr wrap="square" lIns="0" tIns="0" rIns="0" bIns="0" rtlCol="0" anchor="t"/>
          <a:lstStyle/>
          <a:p>
            <a:pPr marL="0" indent="0" algn="l">
              <a:lnSpc>
                <a:spcPts val="1197"/>
              </a:lnSpc>
              <a:buNone/>
            </a:pPr>
            <a:r>
              <a:rPr lang="en-US" sz="855" dirty="0">
                <a:solidFill>
                  <a:srgbClr val="596378">
                    <a:alpha val="99000"/>
                  </a:srgbClr>
                </a:solidFill>
                <a:latin typeface="Inter" pitchFamily="34" charset="0"/>
                <a:ea typeface="Inter" pitchFamily="34" charset="-122"/>
                <a:cs typeface="Inter" pitchFamily="34" charset="-120"/>
              </a:rPr>
              <a:t>Document ByteDance's revenue, valuation and the TikTok US restructuring.</a:t>
            </a:r>
            <a:endParaRPr lang="en-US" sz="85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C"/>
        </a:solidFill>
        <a:effectLst/>
      </p:bgPr>
    </p:bg>
    <p:spTree>
      <p:nvGrpSpPr>
        <p:cNvPr id="1" name=""/>
        <p:cNvGrpSpPr/>
        <p:nvPr/>
      </p:nvGrpSpPr>
      <p:grpSpPr>
        <a:xfrm>
          <a:off x="0" y="0"/>
          <a:ext cx="0" cy="0"/>
          <a:chOff x="0" y="0"/>
          <a:chExt cx="0" cy="0"/>
        </a:xfrm>
      </p:grpSpPr>
      <p:sp>
        <p:nvSpPr>
          <p:cNvPr id="2" name="Shape 0"/>
          <p:cNvSpPr/>
          <p:nvPr/>
        </p:nvSpPr>
        <p:spPr>
          <a:xfrm>
            <a:off x="0" y="0"/>
            <a:ext cx="2952750" cy="5143500"/>
          </a:xfrm>
          <a:prstGeom prst="rect">
            <a:avLst/>
          </a:prstGeom>
          <a:solidFill>
            <a:srgbClr val="0B1223"/>
          </a:solidFill>
          <a:ln/>
        </p:spPr>
      </p:sp>
      <p:sp>
        <p:nvSpPr>
          <p:cNvPr id="3" name="Shape 1"/>
          <p:cNvSpPr/>
          <p:nvPr/>
        </p:nvSpPr>
        <p:spPr>
          <a:xfrm>
            <a:off x="571500" y="571500"/>
            <a:ext cx="38100" cy="285750"/>
          </a:xfrm>
          <a:prstGeom prst="rect">
            <a:avLst/>
          </a:prstGeom>
          <a:solidFill>
            <a:srgbClr val="25F4EE"/>
          </a:solidFill>
          <a:ln/>
        </p:spPr>
      </p:sp>
      <p:sp>
        <p:nvSpPr>
          <p:cNvPr id="4" name="Shape 2"/>
          <p:cNvSpPr/>
          <p:nvPr/>
        </p:nvSpPr>
        <p:spPr>
          <a:xfrm>
            <a:off x="638175" y="609600"/>
            <a:ext cx="38100" cy="285750"/>
          </a:xfrm>
          <a:prstGeom prst="rect">
            <a:avLst/>
          </a:prstGeom>
          <a:solidFill>
            <a:srgbClr val="FE2C55"/>
          </a:solidFill>
          <a:ln/>
        </p:spPr>
      </p:sp>
      <p:sp>
        <p:nvSpPr>
          <p:cNvPr id="5" name="Text 3"/>
          <p:cNvSpPr/>
          <p:nvPr/>
        </p:nvSpPr>
        <p:spPr>
          <a:xfrm>
            <a:off x="781050" y="552450"/>
            <a:ext cx="771525" cy="128588"/>
          </a:xfrm>
          <a:prstGeom prst="rect">
            <a:avLst/>
          </a:prstGeom>
          <a:noFill/>
          <a:ln/>
        </p:spPr>
        <p:txBody>
          <a:bodyPr wrap="square" lIns="0" tIns="0" rIns="0" bIns="0" rtlCol="0" anchor="t"/>
          <a:lstStyle/>
          <a:p>
            <a:pPr marL="0" indent="0" algn="l">
              <a:lnSpc>
                <a:spcPts val="949"/>
              </a:lnSpc>
              <a:buNone/>
            </a:pPr>
            <a:r>
              <a:rPr lang="en-US" sz="784" b="1" kern="0" spc="94" dirty="0">
                <a:solidFill>
                  <a:srgbClr val="25F4EE">
                    <a:alpha val="99000"/>
                  </a:srgbClr>
                </a:solidFill>
                <a:latin typeface="Inter" pitchFamily="34" charset="0"/>
                <a:ea typeface="Inter" pitchFamily="34" charset="-122"/>
                <a:cs typeface="Inter" pitchFamily="34" charset="-120"/>
              </a:rPr>
              <a:t>OBJECTIVES</a:t>
            </a:r>
            <a:endParaRPr lang="en-US" sz="784" dirty="0"/>
          </a:p>
        </p:txBody>
      </p:sp>
      <p:sp>
        <p:nvSpPr>
          <p:cNvPr id="6" name="Text 4"/>
          <p:cNvSpPr/>
          <p:nvPr/>
        </p:nvSpPr>
        <p:spPr>
          <a:xfrm>
            <a:off x="781050" y="762000"/>
            <a:ext cx="1905000" cy="1000125"/>
          </a:xfrm>
          <a:prstGeom prst="rect">
            <a:avLst/>
          </a:prstGeom>
          <a:noFill/>
          <a:ln/>
        </p:spPr>
        <p:txBody>
          <a:bodyPr wrap="square" lIns="0" tIns="0" rIns="0" bIns="0" rtlCol="0" anchor="t"/>
          <a:lstStyle/>
          <a:p>
            <a:pPr marL="0" indent="0" algn="l">
              <a:lnSpc>
                <a:spcPts val="2508"/>
              </a:lnSpc>
              <a:buNone/>
            </a:pPr>
            <a:r>
              <a:rPr lang="en-US" sz="2280" b="1" dirty="0">
                <a:solidFill>
                  <a:srgbClr val="FFFFFF">
                    <a:alpha val="99000"/>
                  </a:srgbClr>
                </a:solidFill>
                <a:latin typeface="Inter" pitchFamily="34" charset="0"/>
                <a:ea typeface="Inter" pitchFamily="34" charset="-122"/>
                <a:cs typeface="Inter" pitchFamily="34" charset="-120"/>
              </a:rPr>
              <a:t>What this study sets out to do</a:t>
            </a:r>
            <a:endParaRPr lang="en-US" sz="2280" dirty="0"/>
          </a:p>
        </p:txBody>
      </p:sp>
      <p:sp>
        <p:nvSpPr>
          <p:cNvPr id="7" name="Text 5"/>
          <p:cNvSpPr/>
          <p:nvPr/>
        </p:nvSpPr>
        <p:spPr>
          <a:xfrm>
            <a:off x="571500" y="4819650"/>
            <a:ext cx="2667000" cy="104775"/>
          </a:xfrm>
          <a:prstGeom prst="rect">
            <a:avLst/>
          </a:prstGeom>
          <a:noFill/>
          <a:ln/>
        </p:spPr>
        <p:txBody>
          <a:bodyPr wrap="square" lIns="0" tIns="0" rIns="0" bIns="0" rtlCol="0" anchor="t"/>
          <a:lstStyle/>
          <a:p>
            <a:pPr marL="0" indent="0" algn="l">
              <a:lnSpc>
                <a:spcPts val="776"/>
              </a:lnSpc>
              <a:buNone/>
            </a:pPr>
            <a:r>
              <a:rPr lang="en-US" sz="641" dirty="0">
                <a:solidFill>
                  <a:srgbClr val="A8B5CC">
                    <a:alpha val="99000"/>
                  </a:srgbClr>
                </a:solidFill>
                <a:latin typeface="Inter" pitchFamily="34" charset="0"/>
                <a:ea typeface="Inter" pitchFamily="34" charset="-122"/>
                <a:cs typeface="Inter" pitchFamily="34" charset="-120"/>
              </a:rPr>
              <a:t>ByteDance  ·  ISE Case Study</a:t>
            </a:r>
            <a:endParaRPr lang="en-US" sz="641" dirty="0"/>
          </a:p>
        </p:txBody>
      </p:sp>
      <p:sp>
        <p:nvSpPr>
          <p:cNvPr id="8" name="Text 6"/>
          <p:cNvSpPr/>
          <p:nvPr/>
        </p:nvSpPr>
        <p:spPr>
          <a:xfrm>
            <a:off x="8096250" y="4819650"/>
            <a:ext cx="476250" cy="104775"/>
          </a:xfrm>
          <a:prstGeom prst="rect">
            <a:avLst/>
          </a:prstGeom>
          <a:noFill/>
          <a:ln/>
        </p:spPr>
        <p:txBody>
          <a:bodyPr wrap="square" lIns="0" tIns="0" rIns="0" bIns="0" rtlCol="0" anchor="t"/>
          <a:lstStyle/>
          <a:p>
            <a:pPr marL="0" indent="0" algn="r">
              <a:lnSpc>
                <a:spcPts val="776"/>
              </a:lnSpc>
              <a:buNone/>
            </a:pPr>
            <a:r>
              <a:rPr lang="en-US" sz="641" b="1" dirty="0">
                <a:solidFill>
                  <a:srgbClr val="FE2C55">
                    <a:alpha val="99000"/>
                  </a:srgbClr>
                </a:solidFill>
                <a:latin typeface="Inter" pitchFamily="34" charset="0"/>
                <a:ea typeface="Inter" pitchFamily="34" charset="-122"/>
                <a:cs typeface="Inter" pitchFamily="34" charset="-120"/>
              </a:rPr>
              <a:t>06</a:t>
            </a:r>
            <a:endParaRPr lang="en-US" sz="641" dirty="0"/>
          </a:p>
        </p:txBody>
      </p:sp>
      <p:sp>
        <p:nvSpPr>
          <p:cNvPr id="9" name="Text 7"/>
          <p:cNvSpPr/>
          <p:nvPr/>
        </p:nvSpPr>
        <p:spPr>
          <a:xfrm>
            <a:off x="3429000" y="904875"/>
            <a:ext cx="285750" cy="252413"/>
          </a:xfrm>
          <a:prstGeom prst="rect">
            <a:avLst/>
          </a:prstGeom>
          <a:noFill/>
          <a:ln/>
        </p:spPr>
        <p:txBody>
          <a:bodyPr wrap="square" lIns="0" tIns="0" rIns="0" bIns="0" rtlCol="0" anchor="t"/>
          <a:lstStyle/>
          <a:p>
            <a:pPr marL="0" indent="0" algn="l">
              <a:lnSpc>
                <a:spcPts val="1897"/>
              </a:lnSpc>
              <a:buNone/>
            </a:pPr>
            <a:r>
              <a:rPr lang="en-US" sz="1568" b="1" dirty="0">
                <a:solidFill>
                  <a:srgbClr val="FE2C55">
                    <a:alpha val="99000"/>
                  </a:srgbClr>
                </a:solidFill>
                <a:latin typeface="Inter" pitchFamily="34" charset="0"/>
                <a:ea typeface="Inter" pitchFamily="34" charset="-122"/>
                <a:cs typeface="Inter" pitchFamily="34" charset="-120"/>
              </a:rPr>
              <a:t>06</a:t>
            </a:r>
            <a:endParaRPr lang="en-US" sz="1568" dirty="0"/>
          </a:p>
        </p:txBody>
      </p:sp>
      <p:sp>
        <p:nvSpPr>
          <p:cNvPr id="10" name="Text 8"/>
          <p:cNvSpPr/>
          <p:nvPr/>
        </p:nvSpPr>
        <p:spPr>
          <a:xfrm>
            <a:off x="3952875" y="933450"/>
            <a:ext cx="4572000" cy="195263"/>
          </a:xfrm>
          <a:prstGeom prst="rect">
            <a:avLst/>
          </a:prstGeom>
          <a:noFill/>
          <a:ln/>
        </p:spPr>
        <p:txBody>
          <a:bodyPr wrap="square" lIns="0" tIns="0" rIns="0" bIns="0" rtlCol="0" anchor="t"/>
          <a:lstStyle/>
          <a:p>
            <a:pPr marL="0" indent="0" algn="l">
              <a:lnSpc>
                <a:spcPts val="1443"/>
              </a:lnSpc>
              <a:buNone/>
            </a:pPr>
            <a:r>
              <a:rPr lang="en-US" sz="1069" dirty="0">
                <a:solidFill>
                  <a:srgbClr val="121726">
                    <a:alpha val="99000"/>
                  </a:srgbClr>
                </a:solidFill>
                <a:latin typeface="Inter" pitchFamily="34" charset="0"/>
                <a:ea typeface="Inter" pitchFamily="34" charset="-122"/>
                <a:cs typeface="Inter" pitchFamily="34" charset="-120"/>
              </a:rPr>
              <a:t>To study ByteDance's journey from a startup to a global unicorn.</a:t>
            </a:r>
            <a:endParaRPr lang="en-US" sz="1069" dirty="0"/>
          </a:p>
        </p:txBody>
      </p:sp>
      <p:sp>
        <p:nvSpPr>
          <p:cNvPr id="11" name="Shape 9"/>
          <p:cNvSpPr/>
          <p:nvPr/>
        </p:nvSpPr>
        <p:spPr>
          <a:xfrm>
            <a:off x="3429000" y="1466850"/>
            <a:ext cx="5095875" cy="9525"/>
          </a:xfrm>
          <a:prstGeom prst="rect">
            <a:avLst/>
          </a:prstGeom>
          <a:solidFill>
            <a:srgbClr val="D9DEE8"/>
          </a:solidFill>
          <a:ln/>
        </p:spPr>
      </p:sp>
      <p:sp>
        <p:nvSpPr>
          <p:cNvPr id="12" name="Text 10"/>
          <p:cNvSpPr/>
          <p:nvPr/>
        </p:nvSpPr>
        <p:spPr>
          <a:xfrm>
            <a:off x="3429000" y="1619250"/>
            <a:ext cx="285750" cy="252413"/>
          </a:xfrm>
          <a:prstGeom prst="rect">
            <a:avLst/>
          </a:prstGeom>
          <a:noFill/>
          <a:ln/>
        </p:spPr>
        <p:txBody>
          <a:bodyPr wrap="square" lIns="0" tIns="0" rIns="0" bIns="0" rtlCol="0" anchor="t"/>
          <a:lstStyle/>
          <a:p>
            <a:pPr marL="0" indent="0" algn="l">
              <a:lnSpc>
                <a:spcPts val="1897"/>
              </a:lnSpc>
              <a:buNone/>
            </a:pPr>
            <a:r>
              <a:rPr lang="en-US" sz="1568" b="1" dirty="0">
                <a:solidFill>
                  <a:srgbClr val="00999E">
                    <a:alpha val="99000"/>
                  </a:srgbClr>
                </a:solidFill>
                <a:latin typeface="Inter" pitchFamily="34" charset="0"/>
                <a:ea typeface="Inter" pitchFamily="34" charset="-122"/>
                <a:cs typeface="Inter" pitchFamily="34" charset="-120"/>
              </a:rPr>
              <a:t>06</a:t>
            </a:r>
            <a:endParaRPr lang="en-US" sz="1568" dirty="0"/>
          </a:p>
        </p:txBody>
      </p:sp>
      <p:sp>
        <p:nvSpPr>
          <p:cNvPr id="13" name="Text 11"/>
          <p:cNvSpPr/>
          <p:nvPr/>
        </p:nvSpPr>
        <p:spPr>
          <a:xfrm>
            <a:off x="3952875" y="1647825"/>
            <a:ext cx="4572000" cy="195263"/>
          </a:xfrm>
          <a:prstGeom prst="rect">
            <a:avLst/>
          </a:prstGeom>
          <a:noFill/>
          <a:ln/>
        </p:spPr>
        <p:txBody>
          <a:bodyPr wrap="square" lIns="0" tIns="0" rIns="0" bIns="0" rtlCol="0" anchor="t"/>
          <a:lstStyle/>
          <a:p>
            <a:pPr marL="0" indent="0" algn="l">
              <a:lnSpc>
                <a:spcPts val="1443"/>
              </a:lnSpc>
              <a:buNone/>
            </a:pPr>
            <a:r>
              <a:rPr lang="en-US" sz="1069" dirty="0">
                <a:solidFill>
                  <a:srgbClr val="121726">
                    <a:alpha val="99000"/>
                  </a:srgbClr>
                </a:solidFill>
                <a:latin typeface="Inter" pitchFamily="34" charset="0"/>
                <a:ea typeface="Inter" pitchFamily="34" charset="-122"/>
                <a:cs typeface="Inter" pitchFamily="34" charset="-120"/>
              </a:rPr>
              <a:t>To understand its business model and revenue streams.</a:t>
            </a:r>
            <a:endParaRPr lang="en-US" sz="1069" dirty="0"/>
          </a:p>
        </p:txBody>
      </p:sp>
      <p:sp>
        <p:nvSpPr>
          <p:cNvPr id="14" name="Shape 12"/>
          <p:cNvSpPr/>
          <p:nvPr/>
        </p:nvSpPr>
        <p:spPr>
          <a:xfrm>
            <a:off x="3429000" y="2181225"/>
            <a:ext cx="5095875" cy="9525"/>
          </a:xfrm>
          <a:prstGeom prst="rect">
            <a:avLst/>
          </a:prstGeom>
          <a:solidFill>
            <a:srgbClr val="D9DEE8"/>
          </a:solidFill>
          <a:ln/>
        </p:spPr>
      </p:sp>
      <p:sp>
        <p:nvSpPr>
          <p:cNvPr id="15" name="Text 13"/>
          <p:cNvSpPr/>
          <p:nvPr/>
        </p:nvSpPr>
        <p:spPr>
          <a:xfrm>
            <a:off x="3429000" y="2333625"/>
            <a:ext cx="285750" cy="252413"/>
          </a:xfrm>
          <a:prstGeom prst="rect">
            <a:avLst/>
          </a:prstGeom>
          <a:noFill/>
          <a:ln/>
        </p:spPr>
        <p:txBody>
          <a:bodyPr wrap="square" lIns="0" tIns="0" rIns="0" bIns="0" rtlCol="0" anchor="t"/>
          <a:lstStyle/>
          <a:p>
            <a:pPr marL="0" indent="0" algn="l">
              <a:lnSpc>
                <a:spcPts val="1897"/>
              </a:lnSpc>
              <a:buNone/>
            </a:pPr>
            <a:r>
              <a:rPr lang="en-US" sz="1568" b="1" dirty="0">
                <a:solidFill>
                  <a:srgbClr val="FE2C55">
                    <a:alpha val="99000"/>
                  </a:srgbClr>
                </a:solidFill>
                <a:latin typeface="Inter" pitchFamily="34" charset="0"/>
                <a:ea typeface="Inter" pitchFamily="34" charset="-122"/>
                <a:cs typeface="Inter" pitchFamily="34" charset="-120"/>
              </a:rPr>
              <a:t>06</a:t>
            </a:r>
            <a:endParaRPr lang="en-US" sz="1568" dirty="0"/>
          </a:p>
        </p:txBody>
      </p:sp>
      <p:sp>
        <p:nvSpPr>
          <p:cNvPr id="16" name="Text 14"/>
          <p:cNvSpPr/>
          <p:nvPr/>
        </p:nvSpPr>
        <p:spPr>
          <a:xfrm>
            <a:off x="3952875" y="2362200"/>
            <a:ext cx="4572000" cy="390525"/>
          </a:xfrm>
          <a:prstGeom prst="rect">
            <a:avLst/>
          </a:prstGeom>
          <a:noFill/>
          <a:ln/>
        </p:spPr>
        <p:txBody>
          <a:bodyPr wrap="square" lIns="0" tIns="0" rIns="0" bIns="0" rtlCol="0" anchor="t"/>
          <a:lstStyle/>
          <a:p>
            <a:pPr marL="0" indent="0" algn="l">
              <a:lnSpc>
                <a:spcPts val="1443"/>
              </a:lnSpc>
              <a:buNone/>
            </a:pPr>
            <a:r>
              <a:rPr lang="en-US" sz="1069" dirty="0">
                <a:solidFill>
                  <a:srgbClr val="121726">
                    <a:alpha val="99000"/>
                  </a:srgbClr>
                </a:solidFill>
                <a:latin typeface="Inter" pitchFamily="34" charset="0"/>
                <a:ea typeface="Inter" pitchFamily="34" charset="-122"/>
                <a:cs typeface="Inter" pitchFamily="34" charset="-120"/>
              </a:rPr>
              <a:t>To analyse the role of AI and its recommendation algorithm in its success.</a:t>
            </a:r>
            <a:endParaRPr lang="en-US" sz="1069" dirty="0"/>
          </a:p>
        </p:txBody>
      </p:sp>
      <p:sp>
        <p:nvSpPr>
          <p:cNvPr id="17" name="Shape 15"/>
          <p:cNvSpPr/>
          <p:nvPr/>
        </p:nvSpPr>
        <p:spPr>
          <a:xfrm>
            <a:off x="3429000" y="2895600"/>
            <a:ext cx="5095875" cy="9525"/>
          </a:xfrm>
          <a:prstGeom prst="rect">
            <a:avLst/>
          </a:prstGeom>
          <a:solidFill>
            <a:srgbClr val="D9DEE8"/>
          </a:solidFill>
          <a:ln/>
        </p:spPr>
      </p:sp>
      <p:sp>
        <p:nvSpPr>
          <p:cNvPr id="18" name="Text 16"/>
          <p:cNvSpPr/>
          <p:nvPr/>
        </p:nvSpPr>
        <p:spPr>
          <a:xfrm>
            <a:off x="3429000" y="3048000"/>
            <a:ext cx="285750" cy="252413"/>
          </a:xfrm>
          <a:prstGeom prst="rect">
            <a:avLst/>
          </a:prstGeom>
          <a:noFill/>
          <a:ln/>
        </p:spPr>
        <p:txBody>
          <a:bodyPr wrap="square" lIns="0" tIns="0" rIns="0" bIns="0" rtlCol="0" anchor="t"/>
          <a:lstStyle/>
          <a:p>
            <a:pPr marL="0" indent="0" algn="l">
              <a:lnSpc>
                <a:spcPts val="1897"/>
              </a:lnSpc>
              <a:buNone/>
            </a:pPr>
            <a:r>
              <a:rPr lang="en-US" sz="1568" b="1" dirty="0">
                <a:solidFill>
                  <a:srgbClr val="00999E">
                    <a:alpha val="99000"/>
                  </a:srgbClr>
                </a:solidFill>
                <a:latin typeface="Inter" pitchFamily="34" charset="0"/>
                <a:ea typeface="Inter" pitchFamily="34" charset="-122"/>
                <a:cs typeface="Inter" pitchFamily="34" charset="-120"/>
              </a:rPr>
              <a:t>06</a:t>
            </a:r>
            <a:endParaRPr lang="en-US" sz="1568" dirty="0"/>
          </a:p>
        </p:txBody>
      </p:sp>
      <p:sp>
        <p:nvSpPr>
          <p:cNvPr id="19" name="Text 17"/>
          <p:cNvSpPr/>
          <p:nvPr/>
        </p:nvSpPr>
        <p:spPr>
          <a:xfrm>
            <a:off x="3952875" y="3076575"/>
            <a:ext cx="4572000" cy="390525"/>
          </a:xfrm>
          <a:prstGeom prst="rect">
            <a:avLst/>
          </a:prstGeom>
          <a:noFill/>
          <a:ln/>
        </p:spPr>
        <p:txBody>
          <a:bodyPr wrap="square" lIns="0" tIns="0" rIns="0" bIns="0" rtlCol="0" anchor="t"/>
          <a:lstStyle/>
          <a:p>
            <a:pPr marL="0" indent="0" algn="l">
              <a:lnSpc>
                <a:spcPts val="1443"/>
              </a:lnSpc>
              <a:buNone/>
            </a:pPr>
            <a:r>
              <a:rPr lang="en-US" sz="1069" dirty="0">
                <a:solidFill>
                  <a:srgbClr val="121726">
                    <a:alpha val="99000"/>
                  </a:srgbClr>
                </a:solidFill>
                <a:latin typeface="Inter" pitchFamily="34" charset="0"/>
                <a:ea typeface="Inter" pitchFamily="34" charset="-122"/>
                <a:cs typeface="Inter" pitchFamily="34" charset="-120"/>
              </a:rPr>
              <a:t>To evaluate the regulatory challenges it faces and how it responded.</a:t>
            </a:r>
            <a:endParaRPr lang="en-US" sz="1069" dirty="0"/>
          </a:p>
        </p:txBody>
      </p:sp>
      <p:sp>
        <p:nvSpPr>
          <p:cNvPr id="20" name="Shape 18"/>
          <p:cNvSpPr/>
          <p:nvPr/>
        </p:nvSpPr>
        <p:spPr>
          <a:xfrm>
            <a:off x="3429000" y="3609975"/>
            <a:ext cx="5095875" cy="9525"/>
          </a:xfrm>
          <a:prstGeom prst="rect">
            <a:avLst/>
          </a:prstGeom>
          <a:solidFill>
            <a:srgbClr val="D9DEE8"/>
          </a:solidFill>
          <a:ln/>
        </p:spPr>
      </p:sp>
      <p:sp>
        <p:nvSpPr>
          <p:cNvPr id="21" name="Text 19"/>
          <p:cNvSpPr/>
          <p:nvPr/>
        </p:nvSpPr>
        <p:spPr>
          <a:xfrm>
            <a:off x="3429000" y="3762375"/>
            <a:ext cx="285750" cy="252413"/>
          </a:xfrm>
          <a:prstGeom prst="rect">
            <a:avLst/>
          </a:prstGeom>
          <a:noFill/>
          <a:ln/>
        </p:spPr>
        <p:txBody>
          <a:bodyPr wrap="square" lIns="0" tIns="0" rIns="0" bIns="0" rtlCol="0" anchor="t"/>
          <a:lstStyle/>
          <a:p>
            <a:pPr marL="0" indent="0" algn="l">
              <a:lnSpc>
                <a:spcPts val="1897"/>
              </a:lnSpc>
              <a:buNone/>
            </a:pPr>
            <a:r>
              <a:rPr lang="en-US" sz="1568" b="1" dirty="0">
                <a:solidFill>
                  <a:srgbClr val="FE2C55">
                    <a:alpha val="99000"/>
                  </a:srgbClr>
                </a:solidFill>
                <a:latin typeface="Inter" pitchFamily="34" charset="0"/>
                <a:ea typeface="Inter" pitchFamily="34" charset="-122"/>
                <a:cs typeface="Inter" pitchFamily="34" charset="-120"/>
              </a:rPr>
              <a:t>06</a:t>
            </a:r>
            <a:endParaRPr lang="en-US" sz="1568" dirty="0"/>
          </a:p>
        </p:txBody>
      </p:sp>
      <p:sp>
        <p:nvSpPr>
          <p:cNvPr id="22" name="Text 20"/>
          <p:cNvSpPr/>
          <p:nvPr/>
        </p:nvSpPr>
        <p:spPr>
          <a:xfrm>
            <a:off x="3952875" y="3790950"/>
            <a:ext cx="4572000" cy="195263"/>
          </a:xfrm>
          <a:prstGeom prst="rect">
            <a:avLst/>
          </a:prstGeom>
          <a:noFill/>
          <a:ln/>
        </p:spPr>
        <p:txBody>
          <a:bodyPr wrap="square" lIns="0" tIns="0" rIns="0" bIns="0" rtlCol="0" anchor="t"/>
          <a:lstStyle/>
          <a:p>
            <a:pPr marL="0" indent="0" algn="l">
              <a:lnSpc>
                <a:spcPts val="1443"/>
              </a:lnSpc>
              <a:buNone/>
            </a:pPr>
            <a:r>
              <a:rPr lang="en-US" sz="1069" dirty="0">
                <a:solidFill>
                  <a:srgbClr val="121726">
                    <a:alpha val="99000"/>
                  </a:srgbClr>
                </a:solidFill>
                <a:latin typeface="Inter" pitchFamily="34" charset="0"/>
                <a:ea typeface="Inter" pitchFamily="34" charset="-122"/>
                <a:cs typeface="Inter" pitchFamily="34" charset="-120"/>
              </a:rPr>
              <a:t>To identify lessons for aspiring entrepreneurs.</a:t>
            </a:r>
            <a:endParaRPr lang="en-US" sz="1069"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223"/>
        </a:solidFill>
        <a:effectLst/>
      </p:bgPr>
    </p:bg>
    <p:spTree>
      <p:nvGrpSpPr>
        <p:cNvPr id="1" name=""/>
        <p:cNvGrpSpPr/>
        <p:nvPr/>
      </p:nvGrpSpPr>
      <p:grpSpPr>
        <a:xfrm>
          <a:off x="0" y="0"/>
          <a:ext cx="0" cy="0"/>
          <a:chOff x="0" y="0"/>
          <a:chExt cx="0" cy="0"/>
        </a:xfrm>
      </p:grpSpPr>
      <p:sp>
        <p:nvSpPr>
          <p:cNvPr id="2" name="Shape 0"/>
          <p:cNvSpPr/>
          <p:nvPr/>
        </p:nvSpPr>
        <p:spPr>
          <a:xfrm>
            <a:off x="571500" y="533400"/>
            <a:ext cx="38100" cy="285750"/>
          </a:xfrm>
          <a:prstGeom prst="rect">
            <a:avLst/>
          </a:prstGeom>
          <a:solidFill>
            <a:srgbClr val="25F4EE"/>
          </a:solidFill>
          <a:ln/>
        </p:spPr>
      </p:sp>
      <p:sp>
        <p:nvSpPr>
          <p:cNvPr id="3" name="Shape 1"/>
          <p:cNvSpPr/>
          <p:nvPr/>
        </p:nvSpPr>
        <p:spPr>
          <a:xfrm>
            <a:off x="638175" y="571500"/>
            <a:ext cx="38100" cy="285750"/>
          </a:xfrm>
          <a:prstGeom prst="rect">
            <a:avLst/>
          </a:prstGeom>
          <a:solidFill>
            <a:srgbClr val="FE2C55"/>
          </a:solidFill>
          <a:ln/>
        </p:spPr>
      </p:sp>
      <p:sp>
        <p:nvSpPr>
          <p:cNvPr id="4" name="Text 2"/>
          <p:cNvSpPr/>
          <p:nvPr/>
        </p:nvSpPr>
        <p:spPr>
          <a:xfrm>
            <a:off x="781050" y="514350"/>
            <a:ext cx="1419225" cy="128588"/>
          </a:xfrm>
          <a:prstGeom prst="rect">
            <a:avLst/>
          </a:prstGeom>
          <a:noFill/>
          <a:ln/>
        </p:spPr>
        <p:txBody>
          <a:bodyPr wrap="square" lIns="0" tIns="0" rIns="0" bIns="0" rtlCol="0" anchor="t"/>
          <a:lstStyle/>
          <a:p>
            <a:pPr marL="0" indent="0" algn="l">
              <a:lnSpc>
                <a:spcPts val="949"/>
              </a:lnSpc>
              <a:buNone/>
            </a:pPr>
            <a:r>
              <a:rPr lang="en-US" sz="784" b="1" kern="0" spc="94" dirty="0">
                <a:solidFill>
                  <a:srgbClr val="25F4EE">
                    <a:alpha val="99000"/>
                  </a:srgbClr>
                </a:solidFill>
                <a:latin typeface="Inter" pitchFamily="34" charset="0"/>
                <a:ea typeface="Inter" pitchFamily="34" charset="-122"/>
                <a:cs typeface="Inter" pitchFamily="34" charset="-120"/>
              </a:rPr>
              <a:t>RESEARCH QUESTIONS</a:t>
            </a:r>
            <a:endParaRPr lang="en-US" sz="784" dirty="0"/>
          </a:p>
        </p:txBody>
      </p:sp>
      <p:sp>
        <p:nvSpPr>
          <p:cNvPr id="5" name="Text 3"/>
          <p:cNvSpPr/>
          <p:nvPr/>
        </p:nvSpPr>
        <p:spPr>
          <a:xfrm>
            <a:off x="781050" y="666750"/>
            <a:ext cx="7429500" cy="314325"/>
          </a:xfrm>
          <a:prstGeom prst="rect">
            <a:avLst/>
          </a:prstGeom>
          <a:noFill/>
          <a:ln/>
        </p:spPr>
        <p:txBody>
          <a:bodyPr wrap="square" lIns="0" tIns="0" rIns="0" bIns="0" rtlCol="0" anchor="t"/>
          <a:lstStyle/>
          <a:p>
            <a:pPr marL="0" indent="0" algn="l">
              <a:lnSpc>
                <a:spcPts val="2351"/>
              </a:lnSpc>
              <a:buNone/>
            </a:pPr>
            <a:r>
              <a:rPr lang="en-US" sz="2138" b="1" dirty="0">
                <a:solidFill>
                  <a:srgbClr val="FFFFFF">
                    <a:alpha val="99000"/>
                  </a:srgbClr>
                </a:solidFill>
                <a:latin typeface="Inter" pitchFamily="34" charset="0"/>
                <a:ea typeface="Inter" pitchFamily="34" charset="-122"/>
                <a:cs typeface="Inter" pitchFamily="34" charset="-120"/>
              </a:rPr>
              <a:t>Questions this study answers</a:t>
            </a:r>
            <a:endParaRPr lang="en-US" sz="2138" dirty="0"/>
          </a:p>
        </p:txBody>
      </p:sp>
      <p:sp>
        <p:nvSpPr>
          <p:cNvPr id="6" name="Text 4"/>
          <p:cNvSpPr/>
          <p:nvPr/>
        </p:nvSpPr>
        <p:spPr>
          <a:xfrm>
            <a:off x="571500" y="4819650"/>
            <a:ext cx="2547938" cy="104775"/>
          </a:xfrm>
          <a:prstGeom prst="rect">
            <a:avLst/>
          </a:prstGeom>
          <a:noFill/>
          <a:ln/>
        </p:spPr>
        <p:txBody>
          <a:bodyPr wrap="square" lIns="0" tIns="0" rIns="0" bIns="0" rtlCol="0" anchor="t"/>
          <a:lstStyle/>
          <a:p>
            <a:pPr marL="0" indent="0" algn="l">
              <a:lnSpc>
                <a:spcPts val="776"/>
              </a:lnSpc>
              <a:buNone/>
            </a:pPr>
            <a:r>
              <a:rPr lang="en-US" sz="641" dirty="0">
                <a:solidFill>
                  <a:srgbClr val="A8B5CC">
                    <a:alpha val="99000"/>
                  </a:srgbClr>
                </a:solidFill>
                <a:latin typeface="Inter" pitchFamily="34" charset="0"/>
                <a:ea typeface="Inter" pitchFamily="34" charset="-122"/>
                <a:cs typeface="Inter" pitchFamily="34" charset="-120"/>
              </a:rPr>
              <a:t>ByteDance  ·  Unicorn Company Case Study  ·  ISE, Semester 7</a:t>
            </a:r>
            <a:endParaRPr lang="en-US" sz="641" dirty="0"/>
          </a:p>
        </p:txBody>
      </p:sp>
      <p:sp>
        <p:nvSpPr>
          <p:cNvPr id="7" name="Text 5"/>
          <p:cNvSpPr/>
          <p:nvPr/>
        </p:nvSpPr>
        <p:spPr>
          <a:xfrm>
            <a:off x="8096250" y="4819650"/>
            <a:ext cx="476250" cy="104775"/>
          </a:xfrm>
          <a:prstGeom prst="rect">
            <a:avLst/>
          </a:prstGeom>
          <a:noFill/>
          <a:ln/>
        </p:spPr>
        <p:txBody>
          <a:bodyPr wrap="square" lIns="0" tIns="0" rIns="0" bIns="0" rtlCol="0" anchor="t"/>
          <a:lstStyle/>
          <a:p>
            <a:pPr marL="0" indent="0" algn="r">
              <a:lnSpc>
                <a:spcPts val="776"/>
              </a:lnSpc>
              <a:buNone/>
            </a:pPr>
            <a:r>
              <a:rPr lang="en-US" sz="641" b="1" dirty="0">
                <a:solidFill>
                  <a:srgbClr val="25F4EE">
                    <a:alpha val="99000"/>
                  </a:srgbClr>
                </a:solidFill>
                <a:latin typeface="Inter" pitchFamily="34" charset="0"/>
                <a:ea typeface="Inter" pitchFamily="34" charset="-122"/>
                <a:cs typeface="Inter" pitchFamily="34" charset="-120"/>
              </a:rPr>
              <a:t>07</a:t>
            </a:r>
            <a:endParaRPr lang="en-US" sz="641" dirty="0"/>
          </a:p>
        </p:txBody>
      </p:sp>
      <p:sp>
        <p:nvSpPr>
          <p:cNvPr id="8" name="Shape 6"/>
          <p:cNvSpPr/>
          <p:nvPr/>
        </p:nvSpPr>
        <p:spPr>
          <a:xfrm>
            <a:off x="781050" y="1428750"/>
            <a:ext cx="2476500" cy="1428750"/>
          </a:xfrm>
          <a:prstGeom prst="roundRect">
            <a:avLst>
              <a:gd name="adj" fmla="val 12800"/>
            </a:avLst>
          </a:prstGeom>
          <a:solidFill>
            <a:srgbClr val="172138"/>
          </a:solidFill>
          <a:ln/>
        </p:spPr>
      </p:sp>
      <p:sp>
        <p:nvSpPr>
          <p:cNvPr id="9" name="Text 7"/>
          <p:cNvSpPr/>
          <p:nvPr/>
        </p:nvSpPr>
        <p:spPr>
          <a:xfrm>
            <a:off x="952500" y="1600200"/>
            <a:ext cx="242888" cy="228600"/>
          </a:xfrm>
          <a:prstGeom prst="rect">
            <a:avLst/>
          </a:prstGeom>
          <a:noFill/>
          <a:ln/>
        </p:spPr>
        <p:txBody>
          <a:bodyPr wrap="square" lIns="0" tIns="0" rIns="0" bIns="0" rtlCol="0" anchor="t"/>
          <a:lstStyle/>
          <a:p>
            <a:pPr marL="0" indent="0" algn="l">
              <a:lnSpc>
                <a:spcPts val="1725"/>
              </a:lnSpc>
              <a:buNone/>
            </a:pPr>
            <a:r>
              <a:rPr lang="en-US" sz="1425" b="1" dirty="0">
                <a:solidFill>
                  <a:srgbClr val="25F4EE">
                    <a:alpha val="99000"/>
                  </a:srgbClr>
                </a:solidFill>
                <a:latin typeface="Inter" pitchFamily="34" charset="0"/>
                <a:ea typeface="Inter" pitchFamily="34" charset="-122"/>
                <a:cs typeface="Inter" pitchFamily="34" charset="-120"/>
              </a:rPr>
              <a:t>Q1</a:t>
            </a:r>
            <a:endParaRPr lang="en-US" sz="1425" dirty="0"/>
          </a:p>
        </p:txBody>
      </p:sp>
      <p:sp>
        <p:nvSpPr>
          <p:cNvPr id="10" name="Text 8"/>
          <p:cNvSpPr/>
          <p:nvPr/>
        </p:nvSpPr>
        <p:spPr>
          <a:xfrm>
            <a:off x="952500" y="1924050"/>
            <a:ext cx="2133600" cy="542925"/>
          </a:xfrm>
          <a:prstGeom prst="rect">
            <a:avLst/>
          </a:prstGeom>
          <a:noFill/>
          <a:ln/>
        </p:spPr>
        <p:txBody>
          <a:bodyPr wrap="square" lIns="0" tIns="0" rIns="0" bIns="0" rtlCol="0" anchor="t"/>
          <a:lstStyle/>
          <a:p>
            <a:pPr marL="0" indent="0" algn="l">
              <a:lnSpc>
                <a:spcPts val="1347"/>
              </a:lnSpc>
              <a:buNone/>
            </a:pPr>
            <a:r>
              <a:rPr lang="en-US" sz="998" b="1" dirty="0">
                <a:solidFill>
                  <a:srgbClr val="FFFFFF">
                    <a:alpha val="99000"/>
                  </a:srgbClr>
                </a:solidFill>
                <a:latin typeface="Inter" pitchFamily="34" charset="0"/>
                <a:ea typeface="Inter" pitchFamily="34" charset="-122"/>
                <a:cs typeface="Inter" pitchFamily="34" charset="-120"/>
              </a:rPr>
              <a:t>What innovation helped ByteDance grow faster than established social media firms?</a:t>
            </a:r>
            <a:endParaRPr lang="en-US" sz="998" dirty="0"/>
          </a:p>
        </p:txBody>
      </p:sp>
      <p:sp>
        <p:nvSpPr>
          <p:cNvPr id="11" name="Shape 9"/>
          <p:cNvSpPr/>
          <p:nvPr/>
        </p:nvSpPr>
        <p:spPr>
          <a:xfrm>
            <a:off x="3333750" y="1428750"/>
            <a:ext cx="2476500" cy="1428750"/>
          </a:xfrm>
          <a:prstGeom prst="roundRect">
            <a:avLst>
              <a:gd name="adj" fmla="val 12800"/>
            </a:avLst>
          </a:prstGeom>
          <a:solidFill>
            <a:srgbClr val="172138"/>
          </a:solidFill>
          <a:ln/>
        </p:spPr>
      </p:sp>
      <p:sp>
        <p:nvSpPr>
          <p:cNvPr id="12" name="Text 10"/>
          <p:cNvSpPr/>
          <p:nvPr/>
        </p:nvSpPr>
        <p:spPr>
          <a:xfrm>
            <a:off x="3505200" y="1600200"/>
            <a:ext cx="271463" cy="228600"/>
          </a:xfrm>
          <a:prstGeom prst="rect">
            <a:avLst/>
          </a:prstGeom>
          <a:noFill/>
          <a:ln/>
        </p:spPr>
        <p:txBody>
          <a:bodyPr wrap="square" lIns="0" tIns="0" rIns="0" bIns="0" rtlCol="0" anchor="t"/>
          <a:lstStyle/>
          <a:p>
            <a:pPr marL="0" indent="0" algn="l">
              <a:lnSpc>
                <a:spcPts val="1725"/>
              </a:lnSpc>
              <a:buNone/>
            </a:pPr>
            <a:r>
              <a:rPr lang="en-US" sz="1425" b="1" dirty="0">
                <a:solidFill>
                  <a:srgbClr val="FE2C55">
                    <a:alpha val="99000"/>
                  </a:srgbClr>
                </a:solidFill>
                <a:latin typeface="Inter" pitchFamily="34" charset="0"/>
                <a:ea typeface="Inter" pitchFamily="34" charset="-122"/>
                <a:cs typeface="Inter" pitchFamily="34" charset="-120"/>
              </a:rPr>
              <a:t>Q2</a:t>
            </a:r>
            <a:endParaRPr lang="en-US" sz="1425" dirty="0"/>
          </a:p>
        </p:txBody>
      </p:sp>
      <p:sp>
        <p:nvSpPr>
          <p:cNvPr id="13" name="Text 11"/>
          <p:cNvSpPr/>
          <p:nvPr/>
        </p:nvSpPr>
        <p:spPr>
          <a:xfrm>
            <a:off x="3505200" y="1924050"/>
            <a:ext cx="2133600" cy="361950"/>
          </a:xfrm>
          <a:prstGeom prst="rect">
            <a:avLst/>
          </a:prstGeom>
          <a:noFill/>
          <a:ln/>
        </p:spPr>
        <p:txBody>
          <a:bodyPr wrap="square" lIns="0" tIns="0" rIns="0" bIns="0" rtlCol="0" anchor="t"/>
          <a:lstStyle/>
          <a:p>
            <a:pPr marL="0" indent="0" algn="l">
              <a:lnSpc>
                <a:spcPts val="1347"/>
              </a:lnSpc>
              <a:buNone/>
            </a:pPr>
            <a:r>
              <a:rPr lang="en-US" sz="998" b="1" dirty="0">
                <a:solidFill>
                  <a:srgbClr val="FFFFFF">
                    <a:alpha val="99000"/>
                  </a:srgbClr>
                </a:solidFill>
                <a:latin typeface="Inter" pitchFamily="34" charset="0"/>
                <a:ea typeface="Inter" pitchFamily="34" charset="-122"/>
                <a:cs typeface="Inter" pitchFamily="34" charset="-120"/>
              </a:rPr>
              <a:t>How does ByteDance earn revenue across its platforms?</a:t>
            </a:r>
            <a:endParaRPr lang="en-US" sz="998" dirty="0"/>
          </a:p>
        </p:txBody>
      </p:sp>
      <p:sp>
        <p:nvSpPr>
          <p:cNvPr id="14" name="Shape 12"/>
          <p:cNvSpPr/>
          <p:nvPr/>
        </p:nvSpPr>
        <p:spPr>
          <a:xfrm>
            <a:off x="5886450" y="1428750"/>
            <a:ext cx="2476500" cy="1428750"/>
          </a:xfrm>
          <a:prstGeom prst="roundRect">
            <a:avLst>
              <a:gd name="adj" fmla="val 12800"/>
            </a:avLst>
          </a:prstGeom>
          <a:solidFill>
            <a:srgbClr val="172138"/>
          </a:solidFill>
          <a:ln/>
        </p:spPr>
      </p:sp>
      <p:sp>
        <p:nvSpPr>
          <p:cNvPr id="15" name="Text 13"/>
          <p:cNvSpPr/>
          <p:nvPr/>
        </p:nvSpPr>
        <p:spPr>
          <a:xfrm>
            <a:off x="6057900" y="1600200"/>
            <a:ext cx="276225" cy="228600"/>
          </a:xfrm>
          <a:prstGeom prst="rect">
            <a:avLst/>
          </a:prstGeom>
          <a:noFill/>
          <a:ln/>
        </p:spPr>
        <p:txBody>
          <a:bodyPr wrap="square" lIns="0" tIns="0" rIns="0" bIns="0" rtlCol="0" anchor="t"/>
          <a:lstStyle/>
          <a:p>
            <a:pPr marL="0" indent="0" algn="l">
              <a:lnSpc>
                <a:spcPts val="1725"/>
              </a:lnSpc>
              <a:buNone/>
            </a:pPr>
            <a:r>
              <a:rPr lang="en-US" sz="1425" b="1" dirty="0">
                <a:solidFill>
                  <a:srgbClr val="25F4EE">
                    <a:alpha val="99000"/>
                  </a:srgbClr>
                </a:solidFill>
                <a:latin typeface="Inter" pitchFamily="34" charset="0"/>
                <a:ea typeface="Inter" pitchFamily="34" charset="-122"/>
                <a:cs typeface="Inter" pitchFamily="34" charset="-120"/>
              </a:rPr>
              <a:t>Q3</a:t>
            </a:r>
            <a:endParaRPr lang="en-US" sz="1425" dirty="0"/>
          </a:p>
        </p:txBody>
      </p:sp>
      <p:sp>
        <p:nvSpPr>
          <p:cNvPr id="16" name="Text 14"/>
          <p:cNvSpPr/>
          <p:nvPr/>
        </p:nvSpPr>
        <p:spPr>
          <a:xfrm>
            <a:off x="6057900" y="1924050"/>
            <a:ext cx="2133600" cy="542925"/>
          </a:xfrm>
          <a:prstGeom prst="rect">
            <a:avLst/>
          </a:prstGeom>
          <a:noFill/>
          <a:ln/>
        </p:spPr>
        <p:txBody>
          <a:bodyPr wrap="square" lIns="0" tIns="0" rIns="0" bIns="0" rtlCol="0" anchor="t"/>
          <a:lstStyle/>
          <a:p>
            <a:pPr marL="0" indent="0" algn="l">
              <a:lnSpc>
                <a:spcPts val="1347"/>
              </a:lnSpc>
              <a:buNone/>
            </a:pPr>
            <a:r>
              <a:rPr lang="en-US" sz="998" b="1" dirty="0">
                <a:solidFill>
                  <a:srgbClr val="FFFFFF">
                    <a:alpha val="99000"/>
                  </a:srgbClr>
                </a:solidFill>
                <a:latin typeface="Inter" pitchFamily="34" charset="0"/>
                <a:ea typeface="Inter" pitchFamily="34" charset="-122"/>
                <a:cs typeface="Inter" pitchFamily="34" charset="-120"/>
              </a:rPr>
              <a:t>How has ByteDance handled regulatory pressure, especially in the US and India?</a:t>
            </a:r>
            <a:endParaRPr lang="en-US" sz="998" dirty="0"/>
          </a:p>
        </p:txBody>
      </p:sp>
      <p:sp>
        <p:nvSpPr>
          <p:cNvPr id="17" name="Shape 15"/>
          <p:cNvSpPr/>
          <p:nvPr/>
        </p:nvSpPr>
        <p:spPr>
          <a:xfrm>
            <a:off x="2057400" y="3000375"/>
            <a:ext cx="2476500" cy="1428750"/>
          </a:xfrm>
          <a:prstGeom prst="roundRect">
            <a:avLst>
              <a:gd name="adj" fmla="val 12800"/>
            </a:avLst>
          </a:prstGeom>
          <a:solidFill>
            <a:srgbClr val="172138"/>
          </a:solidFill>
          <a:ln/>
        </p:spPr>
      </p:sp>
      <p:sp>
        <p:nvSpPr>
          <p:cNvPr id="18" name="Text 16"/>
          <p:cNvSpPr/>
          <p:nvPr/>
        </p:nvSpPr>
        <p:spPr>
          <a:xfrm>
            <a:off x="2228850" y="3171825"/>
            <a:ext cx="280988" cy="228600"/>
          </a:xfrm>
          <a:prstGeom prst="rect">
            <a:avLst/>
          </a:prstGeom>
          <a:noFill/>
          <a:ln/>
        </p:spPr>
        <p:txBody>
          <a:bodyPr wrap="square" lIns="0" tIns="0" rIns="0" bIns="0" rtlCol="0" anchor="t"/>
          <a:lstStyle/>
          <a:p>
            <a:pPr marL="0" indent="0" algn="l">
              <a:lnSpc>
                <a:spcPts val="1725"/>
              </a:lnSpc>
              <a:buNone/>
            </a:pPr>
            <a:r>
              <a:rPr lang="en-US" sz="1425" b="1" dirty="0">
                <a:solidFill>
                  <a:srgbClr val="FE2C55">
                    <a:alpha val="99000"/>
                  </a:srgbClr>
                </a:solidFill>
                <a:latin typeface="Inter" pitchFamily="34" charset="0"/>
                <a:ea typeface="Inter" pitchFamily="34" charset="-122"/>
                <a:cs typeface="Inter" pitchFamily="34" charset="-120"/>
              </a:rPr>
              <a:t>Q4</a:t>
            </a:r>
            <a:endParaRPr lang="en-US" sz="1425" dirty="0"/>
          </a:p>
        </p:txBody>
      </p:sp>
      <p:sp>
        <p:nvSpPr>
          <p:cNvPr id="19" name="Text 17"/>
          <p:cNvSpPr/>
          <p:nvPr/>
        </p:nvSpPr>
        <p:spPr>
          <a:xfrm>
            <a:off x="2228850" y="3495675"/>
            <a:ext cx="2133600" cy="361950"/>
          </a:xfrm>
          <a:prstGeom prst="rect">
            <a:avLst/>
          </a:prstGeom>
          <a:noFill/>
          <a:ln/>
        </p:spPr>
        <p:txBody>
          <a:bodyPr wrap="square" lIns="0" tIns="0" rIns="0" bIns="0" rtlCol="0" anchor="t"/>
          <a:lstStyle/>
          <a:p>
            <a:pPr marL="0" indent="0" algn="l">
              <a:lnSpc>
                <a:spcPts val="1347"/>
              </a:lnSpc>
              <a:buNone/>
            </a:pPr>
            <a:r>
              <a:rPr lang="en-US" sz="998" b="1" dirty="0">
                <a:solidFill>
                  <a:srgbClr val="FFFFFF">
                    <a:alpha val="99000"/>
                  </a:srgbClr>
                </a:solidFill>
                <a:latin typeface="Inter" pitchFamily="34" charset="0"/>
                <a:ea typeface="Inter" pitchFamily="34" charset="-122"/>
                <a:cs typeface="Inter" pitchFamily="34" charset="-120"/>
              </a:rPr>
              <a:t>Is its large AI investment a risk or a long-term advantage?</a:t>
            </a:r>
            <a:endParaRPr lang="en-US" sz="998" dirty="0"/>
          </a:p>
        </p:txBody>
      </p:sp>
      <p:sp>
        <p:nvSpPr>
          <p:cNvPr id="20" name="Shape 18"/>
          <p:cNvSpPr/>
          <p:nvPr/>
        </p:nvSpPr>
        <p:spPr>
          <a:xfrm>
            <a:off x="4610100" y="3000375"/>
            <a:ext cx="2476500" cy="1428750"/>
          </a:xfrm>
          <a:prstGeom prst="roundRect">
            <a:avLst>
              <a:gd name="adj" fmla="val 12800"/>
            </a:avLst>
          </a:prstGeom>
          <a:solidFill>
            <a:srgbClr val="172138"/>
          </a:solidFill>
          <a:ln/>
        </p:spPr>
      </p:sp>
      <p:sp>
        <p:nvSpPr>
          <p:cNvPr id="21" name="Text 19"/>
          <p:cNvSpPr/>
          <p:nvPr/>
        </p:nvSpPr>
        <p:spPr>
          <a:xfrm>
            <a:off x="4781550" y="3171825"/>
            <a:ext cx="276225" cy="228600"/>
          </a:xfrm>
          <a:prstGeom prst="rect">
            <a:avLst/>
          </a:prstGeom>
          <a:noFill/>
          <a:ln/>
        </p:spPr>
        <p:txBody>
          <a:bodyPr wrap="square" lIns="0" tIns="0" rIns="0" bIns="0" rtlCol="0" anchor="t"/>
          <a:lstStyle/>
          <a:p>
            <a:pPr marL="0" indent="0" algn="l">
              <a:lnSpc>
                <a:spcPts val="1725"/>
              </a:lnSpc>
              <a:buNone/>
            </a:pPr>
            <a:r>
              <a:rPr lang="en-US" sz="1425" b="1" dirty="0">
                <a:solidFill>
                  <a:srgbClr val="25F4EE">
                    <a:alpha val="99000"/>
                  </a:srgbClr>
                </a:solidFill>
                <a:latin typeface="Inter" pitchFamily="34" charset="0"/>
                <a:ea typeface="Inter" pitchFamily="34" charset="-122"/>
                <a:cs typeface="Inter" pitchFamily="34" charset="-120"/>
              </a:rPr>
              <a:t>Q5</a:t>
            </a:r>
            <a:endParaRPr lang="en-US" sz="1425" dirty="0"/>
          </a:p>
        </p:txBody>
      </p:sp>
      <p:sp>
        <p:nvSpPr>
          <p:cNvPr id="22" name="Text 20"/>
          <p:cNvSpPr/>
          <p:nvPr/>
        </p:nvSpPr>
        <p:spPr>
          <a:xfrm>
            <a:off x="4781550" y="3495675"/>
            <a:ext cx="2133600" cy="361950"/>
          </a:xfrm>
          <a:prstGeom prst="rect">
            <a:avLst/>
          </a:prstGeom>
          <a:noFill/>
          <a:ln/>
        </p:spPr>
        <p:txBody>
          <a:bodyPr wrap="square" lIns="0" tIns="0" rIns="0" bIns="0" rtlCol="0" anchor="t"/>
          <a:lstStyle/>
          <a:p>
            <a:pPr marL="0" indent="0" algn="l">
              <a:lnSpc>
                <a:spcPts val="1347"/>
              </a:lnSpc>
              <a:buNone/>
            </a:pPr>
            <a:r>
              <a:rPr lang="en-US" sz="998" b="1" dirty="0">
                <a:solidFill>
                  <a:srgbClr val="FFFFFF">
                    <a:alpha val="99000"/>
                  </a:srgbClr>
                </a:solidFill>
                <a:latin typeface="Inter" pitchFamily="34" charset="0"/>
                <a:ea typeface="Inter" pitchFamily="34" charset="-122"/>
                <a:cs typeface="Inter" pitchFamily="34" charset="-120"/>
              </a:rPr>
              <a:t>What can Indian startups learn from ByteDance?</a:t>
            </a:r>
            <a:endParaRPr lang="en-US" sz="998"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8FC"/>
        </a:solidFill>
        <a:effectLst/>
      </p:bgPr>
    </p:bg>
    <p:spTree>
      <p:nvGrpSpPr>
        <p:cNvPr id="1" name=""/>
        <p:cNvGrpSpPr/>
        <p:nvPr/>
      </p:nvGrpSpPr>
      <p:grpSpPr>
        <a:xfrm>
          <a:off x="0" y="0"/>
          <a:ext cx="0" cy="0"/>
          <a:chOff x="0" y="0"/>
          <a:chExt cx="0" cy="0"/>
        </a:xfrm>
      </p:grpSpPr>
      <p:sp>
        <p:nvSpPr>
          <p:cNvPr id="2" name="Shape 0"/>
          <p:cNvSpPr/>
          <p:nvPr/>
        </p:nvSpPr>
        <p:spPr>
          <a:xfrm>
            <a:off x="571500" y="533400"/>
            <a:ext cx="38100" cy="285750"/>
          </a:xfrm>
          <a:prstGeom prst="rect">
            <a:avLst/>
          </a:prstGeom>
          <a:solidFill>
            <a:srgbClr val="25F4EE"/>
          </a:solidFill>
          <a:ln/>
        </p:spPr>
      </p:sp>
      <p:sp>
        <p:nvSpPr>
          <p:cNvPr id="3" name="Shape 1"/>
          <p:cNvSpPr/>
          <p:nvPr/>
        </p:nvSpPr>
        <p:spPr>
          <a:xfrm>
            <a:off x="638175" y="571500"/>
            <a:ext cx="38100" cy="285750"/>
          </a:xfrm>
          <a:prstGeom prst="rect">
            <a:avLst/>
          </a:prstGeom>
          <a:solidFill>
            <a:srgbClr val="FE2C55"/>
          </a:solidFill>
          <a:ln/>
        </p:spPr>
      </p:sp>
      <p:sp>
        <p:nvSpPr>
          <p:cNvPr id="4" name="Text 2"/>
          <p:cNvSpPr/>
          <p:nvPr/>
        </p:nvSpPr>
        <p:spPr>
          <a:xfrm>
            <a:off x="781050" y="514350"/>
            <a:ext cx="957263" cy="128588"/>
          </a:xfrm>
          <a:prstGeom prst="rect">
            <a:avLst/>
          </a:prstGeom>
          <a:noFill/>
          <a:ln/>
        </p:spPr>
        <p:txBody>
          <a:bodyPr wrap="square" lIns="0" tIns="0" rIns="0" bIns="0" rtlCol="0" anchor="t"/>
          <a:lstStyle/>
          <a:p>
            <a:pPr marL="0" indent="0" algn="l">
              <a:lnSpc>
                <a:spcPts val="949"/>
              </a:lnSpc>
              <a:buNone/>
            </a:pPr>
            <a:r>
              <a:rPr lang="en-US" sz="784" b="1" kern="0" spc="94" dirty="0">
                <a:solidFill>
                  <a:srgbClr val="FE2C55">
                    <a:alpha val="99000"/>
                  </a:srgbClr>
                </a:solidFill>
                <a:latin typeface="Inter" pitchFamily="34" charset="0"/>
                <a:ea typeface="Inter" pitchFamily="34" charset="-122"/>
                <a:cs typeface="Inter" pitchFamily="34" charset="-120"/>
              </a:rPr>
              <a:t>METHODOLOGY</a:t>
            </a:r>
            <a:endParaRPr lang="en-US" sz="784" dirty="0"/>
          </a:p>
        </p:txBody>
      </p:sp>
      <p:sp>
        <p:nvSpPr>
          <p:cNvPr id="5" name="Text 3"/>
          <p:cNvSpPr/>
          <p:nvPr/>
        </p:nvSpPr>
        <p:spPr>
          <a:xfrm>
            <a:off x="781050" y="666750"/>
            <a:ext cx="7429500" cy="314325"/>
          </a:xfrm>
          <a:prstGeom prst="rect">
            <a:avLst/>
          </a:prstGeom>
          <a:noFill/>
          <a:ln/>
        </p:spPr>
        <p:txBody>
          <a:bodyPr wrap="square" lIns="0" tIns="0" rIns="0" bIns="0" rtlCol="0" anchor="t"/>
          <a:lstStyle/>
          <a:p>
            <a:pPr marL="0" indent="0" algn="l">
              <a:lnSpc>
                <a:spcPts val="2351"/>
              </a:lnSpc>
              <a:buNone/>
            </a:pPr>
            <a:r>
              <a:rPr lang="en-US" sz="2138" b="1" dirty="0">
                <a:solidFill>
                  <a:srgbClr val="121726">
                    <a:alpha val="99000"/>
                  </a:srgbClr>
                </a:solidFill>
                <a:latin typeface="Inter" pitchFamily="34" charset="0"/>
                <a:ea typeface="Inter" pitchFamily="34" charset="-122"/>
                <a:cs typeface="Inter" pitchFamily="34" charset="-120"/>
              </a:rPr>
              <a:t>How the study was conducted</a:t>
            </a:r>
            <a:endParaRPr lang="en-US" sz="2138" dirty="0"/>
          </a:p>
        </p:txBody>
      </p:sp>
      <p:sp>
        <p:nvSpPr>
          <p:cNvPr id="6" name="Text 4"/>
          <p:cNvSpPr/>
          <p:nvPr/>
        </p:nvSpPr>
        <p:spPr>
          <a:xfrm>
            <a:off x="571500" y="4819650"/>
            <a:ext cx="2547938" cy="104775"/>
          </a:xfrm>
          <a:prstGeom prst="rect">
            <a:avLst/>
          </a:prstGeom>
          <a:noFill/>
          <a:ln/>
        </p:spPr>
        <p:txBody>
          <a:bodyPr wrap="square" lIns="0" tIns="0" rIns="0" bIns="0" rtlCol="0" anchor="t"/>
          <a:lstStyle/>
          <a:p>
            <a:pPr marL="0" indent="0" algn="l">
              <a:lnSpc>
                <a:spcPts val="776"/>
              </a:lnSpc>
              <a:buNone/>
            </a:pPr>
            <a:r>
              <a:rPr lang="en-US" sz="641" dirty="0">
                <a:solidFill>
                  <a:srgbClr val="596378">
                    <a:alpha val="99000"/>
                  </a:srgbClr>
                </a:solidFill>
                <a:latin typeface="Inter" pitchFamily="34" charset="0"/>
                <a:ea typeface="Inter" pitchFamily="34" charset="-122"/>
                <a:cs typeface="Inter" pitchFamily="34" charset="-120"/>
              </a:rPr>
              <a:t>ByteDance  ·  Unicorn Company Case Study  ·  ISE, Semester 7</a:t>
            </a:r>
            <a:endParaRPr lang="en-US" sz="641" dirty="0"/>
          </a:p>
        </p:txBody>
      </p:sp>
      <p:sp>
        <p:nvSpPr>
          <p:cNvPr id="7" name="Text 5"/>
          <p:cNvSpPr/>
          <p:nvPr/>
        </p:nvSpPr>
        <p:spPr>
          <a:xfrm>
            <a:off x="8096250" y="4819650"/>
            <a:ext cx="476250" cy="104775"/>
          </a:xfrm>
          <a:prstGeom prst="rect">
            <a:avLst/>
          </a:prstGeom>
          <a:noFill/>
          <a:ln/>
        </p:spPr>
        <p:txBody>
          <a:bodyPr wrap="square" lIns="0" tIns="0" rIns="0" bIns="0" rtlCol="0" anchor="t"/>
          <a:lstStyle/>
          <a:p>
            <a:pPr marL="0" indent="0" algn="r">
              <a:lnSpc>
                <a:spcPts val="776"/>
              </a:lnSpc>
              <a:buNone/>
            </a:pPr>
            <a:r>
              <a:rPr lang="en-US" sz="641" b="1" dirty="0">
                <a:solidFill>
                  <a:srgbClr val="FE2C55">
                    <a:alpha val="99000"/>
                  </a:srgbClr>
                </a:solidFill>
                <a:latin typeface="Inter" pitchFamily="34" charset="0"/>
                <a:ea typeface="Inter" pitchFamily="34" charset="-122"/>
                <a:cs typeface="Inter" pitchFamily="34" charset="-120"/>
              </a:rPr>
              <a:t>08</a:t>
            </a:r>
            <a:endParaRPr lang="en-US" sz="641" dirty="0"/>
          </a:p>
        </p:txBody>
      </p:sp>
      <p:sp>
        <p:nvSpPr>
          <p:cNvPr id="8" name="Text 6"/>
          <p:cNvSpPr/>
          <p:nvPr/>
        </p:nvSpPr>
        <p:spPr>
          <a:xfrm>
            <a:off x="781050" y="1485900"/>
            <a:ext cx="1619250" cy="147638"/>
          </a:xfrm>
          <a:prstGeom prst="rect">
            <a:avLst/>
          </a:prstGeom>
          <a:noFill/>
          <a:ln/>
        </p:spPr>
        <p:txBody>
          <a:bodyPr wrap="square" lIns="0" tIns="0" rIns="0" bIns="0" rtlCol="0" anchor="t"/>
          <a:lstStyle/>
          <a:p>
            <a:pPr marL="0" indent="0" algn="l">
              <a:lnSpc>
                <a:spcPts val="1121"/>
              </a:lnSpc>
              <a:buNone/>
            </a:pPr>
            <a:r>
              <a:rPr lang="en-US" sz="926" b="1" dirty="0">
                <a:solidFill>
                  <a:srgbClr val="FE2C55">
                    <a:alpha val="99000"/>
                  </a:srgbClr>
                </a:solidFill>
                <a:latin typeface="Inter" pitchFamily="34" charset="0"/>
                <a:ea typeface="Inter" pitchFamily="34" charset="-122"/>
                <a:cs typeface="Inter" pitchFamily="34" charset="-120"/>
              </a:rPr>
              <a:t>Research type</a:t>
            </a:r>
            <a:endParaRPr lang="en-US" sz="926" dirty="0"/>
          </a:p>
        </p:txBody>
      </p:sp>
      <p:sp>
        <p:nvSpPr>
          <p:cNvPr id="9" name="Text 7"/>
          <p:cNvSpPr/>
          <p:nvPr/>
        </p:nvSpPr>
        <p:spPr>
          <a:xfrm>
            <a:off x="2571750" y="1476375"/>
            <a:ext cx="3905250" cy="171450"/>
          </a:xfrm>
          <a:prstGeom prst="rect">
            <a:avLst/>
          </a:prstGeom>
          <a:noFill/>
          <a:ln/>
        </p:spPr>
        <p:txBody>
          <a:bodyPr wrap="square" lIns="0" tIns="0" rIns="0" bIns="0" rtlCol="0" anchor="t"/>
          <a:lstStyle/>
          <a:p>
            <a:pPr marL="0" indent="0" algn="l">
              <a:lnSpc>
                <a:spcPts val="1297"/>
              </a:lnSpc>
              <a:buNone/>
            </a:pPr>
            <a:r>
              <a:rPr lang="en-US" sz="926" dirty="0">
                <a:solidFill>
                  <a:srgbClr val="121726">
                    <a:alpha val="99000"/>
                  </a:srgbClr>
                </a:solidFill>
                <a:latin typeface="Inter" pitchFamily="34" charset="0"/>
                <a:ea typeface="Inter" pitchFamily="34" charset="-122"/>
                <a:cs typeface="Inter" pitchFamily="34" charset="-120"/>
              </a:rPr>
              <a:t>Descriptive and qualitative case study</a:t>
            </a:r>
            <a:endParaRPr lang="en-US" sz="926" dirty="0"/>
          </a:p>
        </p:txBody>
      </p:sp>
      <p:sp>
        <p:nvSpPr>
          <p:cNvPr id="10" name="Shape 8"/>
          <p:cNvSpPr/>
          <p:nvPr/>
        </p:nvSpPr>
        <p:spPr>
          <a:xfrm>
            <a:off x="781050" y="1724025"/>
            <a:ext cx="5695950" cy="9525"/>
          </a:xfrm>
          <a:prstGeom prst="rect">
            <a:avLst/>
          </a:prstGeom>
          <a:solidFill>
            <a:srgbClr val="D9DEE8"/>
          </a:solidFill>
          <a:ln/>
        </p:spPr>
      </p:sp>
      <p:sp>
        <p:nvSpPr>
          <p:cNvPr id="11" name="Text 9"/>
          <p:cNvSpPr/>
          <p:nvPr/>
        </p:nvSpPr>
        <p:spPr>
          <a:xfrm>
            <a:off x="781050" y="1905000"/>
            <a:ext cx="1619250" cy="147638"/>
          </a:xfrm>
          <a:prstGeom prst="rect">
            <a:avLst/>
          </a:prstGeom>
          <a:noFill/>
          <a:ln/>
        </p:spPr>
        <p:txBody>
          <a:bodyPr wrap="square" lIns="0" tIns="0" rIns="0" bIns="0" rtlCol="0" anchor="t"/>
          <a:lstStyle/>
          <a:p>
            <a:pPr marL="0" indent="0" algn="l">
              <a:lnSpc>
                <a:spcPts val="1121"/>
              </a:lnSpc>
              <a:buNone/>
            </a:pPr>
            <a:r>
              <a:rPr lang="en-US" sz="926" b="1" dirty="0">
                <a:solidFill>
                  <a:srgbClr val="00999E">
                    <a:alpha val="99000"/>
                  </a:srgbClr>
                </a:solidFill>
                <a:latin typeface="Inter" pitchFamily="34" charset="0"/>
                <a:ea typeface="Inter" pitchFamily="34" charset="-122"/>
                <a:cs typeface="Inter" pitchFamily="34" charset="-120"/>
              </a:rPr>
              <a:t>Data source</a:t>
            </a:r>
            <a:endParaRPr lang="en-US" sz="926" dirty="0"/>
          </a:p>
        </p:txBody>
      </p:sp>
      <p:sp>
        <p:nvSpPr>
          <p:cNvPr id="12" name="Text 10"/>
          <p:cNvSpPr/>
          <p:nvPr/>
        </p:nvSpPr>
        <p:spPr>
          <a:xfrm>
            <a:off x="2571750" y="1895475"/>
            <a:ext cx="3905250" cy="342900"/>
          </a:xfrm>
          <a:prstGeom prst="rect">
            <a:avLst/>
          </a:prstGeom>
          <a:noFill/>
          <a:ln/>
        </p:spPr>
        <p:txBody>
          <a:bodyPr wrap="square" lIns="0" tIns="0" rIns="0" bIns="0" rtlCol="0" anchor="t"/>
          <a:lstStyle/>
          <a:p>
            <a:pPr marL="0" indent="0" algn="l">
              <a:lnSpc>
                <a:spcPts val="1297"/>
              </a:lnSpc>
              <a:buNone/>
            </a:pPr>
            <a:r>
              <a:rPr lang="en-US" sz="926" dirty="0">
                <a:solidFill>
                  <a:srgbClr val="121726">
                    <a:alpha val="99000"/>
                  </a:srgbClr>
                </a:solidFill>
                <a:latin typeface="Inter" pitchFamily="34" charset="0"/>
                <a:ea typeface="Inter" pitchFamily="34" charset="-122"/>
                <a:cs typeface="Inter" pitchFamily="34" charset="-120"/>
              </a:rPr>
              <a:t>Secondary data only, since ByteDance is private and does not publish audited results</a:t>
            </a:r>
            <a:endParaRPr lang="en-US" sz="926" dirty="0"/>
          </a:p>
        </p:txBody>
      </p:sp>
      <p:sp>
        <p:nvSpPr>
          <p:cNvPr id="13" name="Shape 11"/>
          <p:cNvSpPr/>
          <p:nvPr/>
        </p:nvSpPr>
        <p:spPr>
          <a:xfrm>
            <a:off x="781050" y="2314575"/>
            <a:ext cx="5695950" cy="9525"/>
          </a:xfrm>
          <a:prstGeom prst="rect">
            <a:avLst/>
          </a:prstGeom>
          <a:solidFill>
            <a:srgbClr val="D9DEE8"/>
          </a:solidFill>
          <a:ln/>
        </p:spPr>
      </p:sp>
      <p:sp>
        <p:nvSpPr>
          <p:cNvPr id="14" name="Text 12"/>
          <p:cNvSpPr/>
          <p:nvPr/>
        </p:nvSpPr>
        <p:spPr>
          <a:xfrm>
            <a:off x="781050" y="2495550"/>
            <a:ext cx="1619250" cy="147638"/>
          </a:xfrm>
          <a:prstGeom prst="rect">
            <a:avLst/>
          </a:prstGeom>
          <a:noFill/>
          <a:ln/>
        </p:spPr>
        <p:txBody>
          <a:bodyPr wrap="square" lIns="0" tIns="0" rIns="0" bIns="0" rtlCol="0" anchor="t"/>
          <a:lstStyle/>
          <a:p>
            <a:pPr marL="0" indent="0" algn="l">
              <a:lnSpc>
                <a:spcPts val="1121"/>
              </a:lnSpc>
              <a:buNone/>
            </a:pPr>
            <a:r>
              <a:rPr lang="en-US" sz="926" b="1" dirty="0">
                <a:solidFill>
                  <a:srgbClr val="FE2C55">
                    <a:alpha val="99000"/>
                  </a:srgbClr>
                </a:solidFill>
                <a:latin typeface="Inter" pitchFamily="34" charset="0"/>
                <a:ea typeface="Inter" pitchFamily="34" charset="-122"/>
                <a:cs typeface="Inter" pitchFamily="34" charset="-120"/>
              </a:rPr>
              <a:t>Sources used</a:t>
            </a:r>
            <a:endParaRPr lang="en-US" sz="926" dirty="0"/>
          </a:p>
        </p:txBody>
      </p:sp>
      <p:sp>
        <p:nvSpPr>
          <p:cNvPr id="15" name="Text 13"/>
          <p:cNvSpPr/>
          <p:nvPr/>
        </p:nvSpPr>
        <p:spPr>
          <a:xfrm>
            <a:off x="2571750" y="2486025"/>
            <a:ext cx="3905250" cy="514350"/>
          </a:xfrm>
          <a:prstGeom prst="rect">
            <a:avLst/>
          </a:prstGeom>
          <a:noFill/>
          <a:ln/>
        </p:spPr>
        <p:txBody>
          <a:bodyPr wrap="square" lIns="0" tIns="0" rIns="0" bIns="0" rtlCol="0" anchor="t"/>
          <a:lstStyle/>
          <a:p>
            <a:pPr marL="0" indent="0" algn="l">
              <a:lnSpc>
                <a:spcPts val="1297"/>
              </a:lnSpc>
              <a:buNone/>
            </a:pPr>
            <a:r>
              <a:rPr lang="en-US" sz="926" dirty="0">
                <a:solidFill>
                  <a:srgbClr val="121726">
                    <a:alpha val="99000"/>
                  </a:srgbClr>
                </a:solidFill>
                <a:latin typeface="Inter" pitchFamily="34" charset="0"/>
                <a:ea typeface="Inter" pitchFamily="34" charset="-122"/>
                <a:cs typeface="Inter" pitchFamily="34" charset="-120"/>
              </a:rPr>
              <a:t>Company website, news reports (Reuters, The Information, Bloomberg via secondary coverage), research firms (Sacra, CB Insights), books and articles</a:t>
            </a:r>
            <a:endParaRPr lang="en-US" sz="926" dirty="0"/>
          </a:p>
        </p:txBody>
      </p:sp>
      <p:sp>
        <p:nvSpPr>
          <p:cNvPr id="16" name="Shape 14"/>
          <p:cNvSpPr/>
          <p:nvPr/>
        </p:nvSpPr>
        <p:spPr>
          <a:xfrm>
            <a:off x="781050" y="3076575"/>
            <a:ext cx="5695950" cy="9525"/>
          </a:xfrm>
          <a:prstGeom prst="rect">
            <a:avLst/>
          </a:prstGeom>
          <a:solidFill>
            <a:srgbClr val="D9DEE8"/>
          </a:solidFill>
          <a:ln/>
        </p:spPr>
      </p:sp>
      <p:sp>
        <p:nvSpPr>
          <p:cNvPr id="17" name="Text 15"/>
          <p:cNvSpPr/>
          <p:nvPr/>
        </p:nvSpPr>
        <p:spPr>
          <a:xfrm>
            <a:off x="781050" y="3257550"/>
            <a:ext cx="1619250" cy="147638"/>
          </a:xfrm>
          <a:prstGeom prst="rect">
            <a:avLst/>
          </a:prstGeom>
          <a:noFill/>
          <a:ln/>
        </p:spPr>
        <p:txBody>
          <a:bodyPr wrap="square" lIns="0" tIns="0" rIns="0" bIns="0" rtlCol="0" anchor="t"/>
          <a:lstStyle/>
          <a:p>
            <a:pPr marL="0" indent="0" algn="l">
              <a:lnSpc>
                <a:spcPts val="1121"/>
              </a:lnSpc>
              <a:buNone/>
            </a:pPr>
            <a:r>
              <a:rPr lang="en-US" sz="926" b="1" dirty="0">
                <a:solidFill>
                  <a:srgbClr val="00999E">
                    <a:alpha val="99000"/>
                  </a:srgbClr>
                </a:solidFill>
                <a:latin typeface="Inter" pitchFamily="34" charset="0"/>
                <a:ea typeface="Inter" pitchFamily="34" charset="-122"/>
                <a:cs typeface="Inter" pitchFamily="34" charset="-120"/>
              </a:rPr>
              <a:t>Tools of analysis</a:t>
            </a:r>
            <a:endParaRPr lang="en-US" sz="926" dirty="0"/>
          </a:p>
        </p:txBody>
      </p:sp>
      <p:sp>
        <p:nvSpPr>
          <p:cNvPr id="18" name="Text 16"/>
          <p:cNvSpPr/>
          <p:nvPr/>
        </p:nvSpPr>
        <p:spPr>
          <a:xfrm>
            <a:off x="2571750" y="3248025"/>
            <a:ext cx="3905250" cy="514350"/>
          </a:xfrm>
          <a:prstGeom prst="rect">
            <a:avLst/>
          </a:prstGeom>
          <a:noFill/>
          <a:ln/>
        </p:spPr>
        <p:txBody>
          <a:bodyPr wrap="square" lIns="0" tIns="0" rIns="0" bIns="0" rtlCol="0" anchor="t"/>
          <a:lstStyle/>
          <a:p>
            <a:pPr marL="0" indent="0" algn="l">
              <a:lnSpc>
                <a:spcPts val="1297"/>
              </a:lnSpc>
              <a:buNone/>
            </a:pPr>
            <a:r>
              <a:rPr lang="en-US" sz="926" dirty="0">
                <a:solidFill>
                  <a:srgbClr val="121726">
                    <a:alpha val="99000"/>
                  </a:srgbClr>
                </a:solidFill>
                <a:latin typeface="Inter" pitchFamily="34" charset="0"/>
                <a:ea typeface="Inter" pitchFamily="34" charset="-122"/>
                <a:cs typeface="Inter" pitchFamily="34" charset="-120"/>
              </a:rPr>
              <a:t>Business model analysis, timeline analysis, financial trend comparison and an advantages/disadvantages (SWOT-style) evaluation</a:t>
            </a:r>
            <a:endParaRPr lang="en-US" sz="926" dirty="0"/>
          </a:p>
        </p:txBody>
      </p:sp>
      <p:sp>
        <p:nvSpPr>
          <p:cNvPr id="19" name="Shape 17"/>
          <p:cNvSpPr/>
          <p:nvPr/>
        </p:nvSpPr>
        <p:spPr>
          <a:xfrm>
            <a:off x="6762750" y="1476375"/>
            <a:ext cx="1809750" cy="2095500"/>
          </a:xfrm>
          <a:prstGeom prst="roundRect">
            <a:avLst>
              <a:gd name="adj" fmla="val 10105"/>
            </a:avLst>
          </a:prstGeom>
          <a:solidFill>
            <a:srgbClr val="FFEDF2"/>
          </a:solidFill>
          <a:ln/>
        </p:spPr>
      </p:sp>
      <p:sp>
        <p:nvSpPr>
          <p:cNvPr id="20" name="Text 18"/>
          <p:cNvSpPr/>
          <p:nvPr/>
        </p:nvSpPr>
        <p:spPr>
          <a:xfrm>
            <a:off x="6934200" y="1666875"/>
            <a:ext cx="647700" cy="114300"/>
          </a:xfrm>
          <a:prstGeom prst="rect">
            <a:avLst/>
          </a:prstGeom>
          <a:noFill/>
          <a:ln/>
        </p:spPr>
        <p:txBody>
          <a:bodyPr wrap="square" lIns="0" tIns="0" rIns="0" bIns="0" rtlCol="0" anchor="t"/>
          <a:lstStyle/>
          <a:p>
            <a:pPr marL="0" indent="0" algn="l">
              <a:lnSpc>
                <a:spcPts val="862"/>
              </a:lnSpc>
              <a:buNone/>
            </a:pPr>
            <a:r>
              <a:rPr lang="en-US" sz="713" b="1" kern="0" spc="85" dirty="0">
                <a:solidFill>
                  <a:srgbClr val="FE2C55">
                    <a:alpha val="99000"/>
                  </a:srgbClr>
                </a:solidFill>
                <a:latin typeface="Inter" pitchFamily="34" charset="0"/>
                <a:ea typeface="Inter" pitchFamily="34" charset="-122"/>
                <a:cs typeface="Inter" pitchFamily="34" charset="-120"/>
              </a:rPr>
              <a:t>LIMITATION</a:t>
            </a:r>
            <a:endParaRPr lang="en-US" sz="713" dirty="0"/>
          </a:p>
        </p:txBody>
      </p:sp>
      <p:sp>
        <p:nvSpPr>
          <p:cNvPr id="21" name="Text 19"/>
          <p:cNvSpPr/>
          <p:nvPr/>
        </p:nvSpPr>
        <p:spPr>
          <a:xfrm>
            <a:off x="6934200" y="1885950"/>
            <a:ext cx="1466850" cy="1085850"/>
          </a:xfrm>
          <a:prstGeom prst="rect">
            <a:avLst/>
          </a:prstGeom>
          <a:noFill/>
          <a:ln/>
        </p:spPr>
        <p:txBody>
          <a:bodyPr wrap="square" lIns="0" tIns="0" rIns="0" bIns="0" rtlCol="0" anchor="t"/>
          <a:lstStyle/>
          <a:p>
            <a:pPr marL="0" indent="0" algn="l">
              <a:lnSpc>
                <a:spcPts val="1343"/>
              </a:lnSpc>
              <a:buNone/>
            </a:pPr>
            <a:r>
              <a:rPr lang="en-US" sz="926" dirty="0">
                <a:solidFill>
                  <a:srgbClr val="121726">
                    <a:alpha val="99000"/>
                  </a:srgbClr>
                </a:solidFill>
                <a:latin typeface="Inter" pitchFamily="34" charset="0"/>
                <a:ea typeface="Inter" pitchFamily="34" charset="-122"/>
                <a:cs typeface="Inter" pitchFamily="34" charset="-120"/>
              </a:rPr>
              <a:t>Financial figures are estimates reported by media and analysts, not audited data, because ByteDance is a private company.</a:t>
            </a:r>
            <a:endParaRPr lang="en-US" sz="926"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8FC"/>
        </a:solidFill>
        <a:effectLst/>
      </p:bgPr>
    </p:bg>
    <p:spTree>
      <p:nvGrpSpPr>
        <p:cNvPr id="1" name=""/>
        <p:cNvGrpSpPr/>
        <p:nvPr/>
      </p:nvGrpSpPr>
      <p:grpSpPr>
        <a:xfrm>
          <a:off x="0" y="0"/>
          <a:ext cx="0" cy="0"/>
          <a:chOff x="0" y="0"/>
          <a:chExt cx="0" cy="0"/>
        </a:xfrm>
      </p:grpSpPr>
      <p:sp>
        <p:nvSpPr>
          <p:cNvPr id="2" name="Shape 0"/>
          <p:cNvSpPr/>
          <p:nvPr/>
        </p:nvSpPr>
        <p:spPr>
          <a:xfrm>
            <a:off x="571500" y="533400"/>
            <a:ext cx="38100" cy="285750"/>
          </a:xfrm>
          <a:prstGeom prst="rect">
            <a:avLst/>
          </a:prstGeom>
          <a:solidFill>
            <a:srgbClr val="25F4EE"/>
          </a:solidFill>
          <a:ln/>
        </p:spPr>
      </p:sp>
      <p:sp>
        <p:nvSpPr>
          <p:cNvPr id="3" name="Shape 1"/>
          <p:cNvSpPr/>
          <p:nvPr/>
        </p:nvSpPr>
        <p:spPr>
          <a:xfrm>
            <a:off x="638175" y="571500"/>
            <a:ext cx="38100" cy="285750"/>
          </a:xfrm>
          <a:prstGeom prst="rect">
            <a:avLst/>
          </a:prstGeom>
          <a:solidFill>
            <a:srgbClr val="FE2C55"/>
          </a:solidFill>
          <a:ln/>
        </p:spPr>
      </p:sp>
      <p:sp>
        <p:nvSpPr>
          <p:cNvPr id="4" name="Text 2"/>
          <p:cNvSpPr/>
          <p:nvPr/>
        </p:nvSpPr>
        <p:spPr>
          <a:xfrm>
            <a:off x="781050" y="514350"/>
            <a:ext cx="609600" cy="128588"/>
          </a:xfrm>
          <a:prstGeom prst="rect">
            <a:avLst/>
          </a:prstGeom>
          <a:noFill/>
          <a:ln/>
        </p:spPr>
        <p:txBody>
          <a:bodyPr wrap="square" lIns="0" tIns="0" rIns="0" bIns="0" rtlCol="0" anchor="t"/>
          <a:lstStyle/>
          <a:p>
            <a:pPr marL="0" indent="0" algn="l">
              <a:lnSpc>
                <a:spcPts val="949"/>
              </a:lnSpc>
              <a:buNone/>
            </a:pPr>
            <a:r>
              <a:rPr lang="en-US" sz="784" b="1" kern="0" spc="94" dirty="0">
                <a:solidFill>
                  <a:srgbClr val="FE2C55">
                    <a:alpha val="99000"/>
                  </a:srgbClr>
                </a:solidFill>
                <a:latin typeface="Inter" pitchFamily="34" charset="0"/>
                <a:ea typeface="Inter" pitchFamily="34" charset="-122"/>
                <a:cs typeface="Inter" pitchFamily="34" charset="-120"/>
              </a:rPr>
              <a:t>ANALYSIS</a:t>
            </a:r>
            <a:endParaRPr lang="en-US" sz="784" dirty="0"/>
          </a:p>
        </p:txBody>
      </p:sp>
      <p:sp>
        <p:nvSpPr>
          <p:cNvPr id="5" name="Text 3"/>
          <p:cNvSpPr/>
          <p:nvPr/>
        </p:nvSpPr>
        <p:spPr>
          <a:xfrm>
            <a:off x="781050" y="666750"/>
            <a:ext cx="7429500" cy="314325"/>
          </a:xfrm>
          <a:prstGeom prst="rect">
            <a:avLst/>
          </a:prstGeom>
          <a:noFill/>
          <a:ln/>
        </p:spPr>
        <p:txBody>
          <a:bodyPr wrap="square" lIns="0" tIns="0" rIns="0" bIns="0" rtlCol="0" anchor="t"/>
          <a:lstStyle/>
          <a:p>
            <a:pPr marL="0" indent="0" algn="l">
              <a:lnSpc>
                <a:spcPts val="2351"/>
              </a:lnSpc>
              <a:buNone/>
            </a:pPr>
            <a:r>
              <a:rPr lang="en-US" sz="2138" b="1" dirty="0">
                <a:solidFill>
                  <a:srgbClr val="121726">
                    <a:alpha val="99000"/>
                  </a:srgbClr>
                </a:solidFill>
                <a:latin typeface="Inter" pitchFamily="34" charset="0"/>
                <a:ea typeface="Inter" pitchFamily="34" charset="-122"/>
                <a:cs typeface="Inter" pitchFamily="34" charset="-120"/>
              </a:rPr>
              <a:t>Advantages &amp; Disadvantages</a:t>
            </a:r>
            <a:endParaRPr lang="en-US" sz="2138" dirty="0"/>
          </a:p>
        </p:txBody>
      </p:sp>
      <p:sp>
        <p:nvSpPr>
          <p:cNvPr id="6" name="Text 4"/>
          <p:cNvSpPr/>
          <p:nvPr/>
        </p:nvSpPr>
        <p:spPr>
          <a:xfrm>
            <a:off x="571500" y="4819650"/>
            <a:ext cx="2547938" cy="104775"/>
          </a:xfrm>
          <a:prstGeom prst="rect">
            <a:avLst/>
          </a:prstGeom>
          <a:noFill/>
          <a:ln/>
        </p:spPr>
        <p:txBody>
          <a:bodyPr wrap="square" lIns="0" tIns="0" rIns="0" bIns="0" rtlCol="0" anchor="t"/>
          <a:lstStyle/>
          <a:p>
            <a:pPr marL="0" indent="0" algn="l">
              <a:lnSpc>
                <a:spcPts val="776"/>
              </a:lnSpc>
              <a:buNone/>
            </a:pPr>
            <a:r>
              <a:rPr lang="en-US" sz="641" dirty="0">
                <a:solidFill>
                  <a:srgbClr val="596378">
                    <a:alpha val="99000"/>
                  </a:srgbClr>
                </a:solidFill>
                <a:latin typeface="Inter" pitchFamily="34" charset="0"/>
                <a:ea typeface="Inter" pitchFamily="34" charset="-122"/>
                <a:cs typeface="Inter" pitchFamily="34" charset="-120"/>
              </a:rPr>
              <a:t>ByteDance  ·  Unicorn Company Case Study  ·  ISE, Semester 7</a:t>
            </a:r>
            <a:endParaRPr lang="en-US" sz="641" dirty="0"/>
          </a:p>
        </p:txBody>
      </p:sp>
      <p:sp>
        <p:nvSpPr>
          <p:cNvPr id="7" name="Text 5"/>
          <p:cNvSpPr/>
          <p:nvPr/>
        </p:nvSpPr>
        <p:spPr>
          <a:xfrm>
            <a:off x="8096250" y="4819650"/>
            <a:ext cx="476250" cy="104775"/>
          </a:xfrm>
          <a:prstGeom prst="rect">
            <a:avLst/>
          </a:prstGeom>
          <a:noFill/>
          <a:ln/>
        </p:spPr>
        <p:txBody>
          <a:bodyPr wrap="square" lIns="0" tIns="0" rIns="0" bIns="0" rtlCol="0" anchor="t"/>
          <a:lstStyle/>
          <a:p>
            <a:pPr marL="0" indent="0" algn="r">
              <a:lnSpc>
                <a:spcPts val="776"/>
              </a:lnSpc>
              <a:buNone/>
            </a:pPr>
            <a:r>
              <a:rPr lang="en-US" sz="641" b="1" dirty="0">
                <a:solidFill>
                  <a:srgbClr val="FE2C55">
                    <a:alpha val="99000"/>
                  </a:srgbClr>
                </a:solidFill>
                <a:latin typeface="Inter" pitchFamily="34" charset="0"/>
                <a:ea typeface="Inter" pitchFamily="34" charset="-122"/>
                <a:cs typeface="Inter" pitchFamily="34" charset="-120"/>
              </a:rPr>
              <a:t>09</a:t>
            </a:r>
            <a:endParaRPr lang="en-US" sz="641" dirty="0"/>
          </a:p>
        </p:txBody>
      </p:sp>
      <p:sp>
        <p:nvSpPr>
          <p:cNvPr id="8" name="Shape 6"/>
          <p:cNvSpPr/>
          <p:nvPr/>
        </p:nvSpPr>
        <p:spPr>
          <a:xfrm>
            <a:off x="571500" y="1381125"/>
            <a:ext cx="3905250" cy="3286125"/>
          </a:xfrm>
          <a:prstGeom prst="roundRect">
            <a:avLst>
              <a:gd name="adj" fmla="val 5565"/>
            </a:avLst>
          </a:prstGeom>
          <a:solidFill>
            <a:srgbClr val="FFFFFF"/>
          </a:solidFill>
          <a:ln/>
        </p:spPr>
      </p:sp>
      <p:sp>
        <p:nvSpPr>
          <p:cNvPr id="9" name="Shape 7"/>
          <p:cNvSpPr/>
          <p:nvPr/>
        </p:nvSpPr>
        <p:spPr>
          <a:xfrm>
            <a:off x="571500" y="1381125"/>
            <a:ext cx="3905250" cy="47625"/>
          </a:xfrm>
          <a:prstGeom prst="rect">
            <a:avLst/>
          </a:prstGeom>
          <a:solidFill>
            <a:srgbClr val="00999E"/>
          </a:solidFill>
          <a:ln/>
        </p:spPr>
      </p:sp>
      <p:sp>
        <p:nvSpPr>
          <p:cNvPr id="10" name="Text 8"/>
          <p:cNvSpPr/>
          <p:nvPr/>
        </p:nvSpPr>
        <p:spPr>
          <a:xfrm>
            <a:off x="781050" y="1590675"/>
            <a:ext cx="1014413" cy="209550"/>
          </a:xfrm>
          <a:prstGeom prst="rect">
            <a:avLst/>
          </a:prstGeom>
          <a:noFill/>
          <a:ln/>
        </p:spPr>
        <p:txBody>
          <a:bodyPr wrap="square" lIns="0" tIns="0" rIns="0" bIns="0" rtlCol="0" anchor="t"/>
          <a:lstStyle/>
          <a:p>
            <a:pPr marL="0" indent="0" algn="l">
              <a:lnSpc>
                <a:spcPts val="1552"/>
              </a:lnSpc>
              <a:buNone/>
            </a:pPr>
            <a:r>
              <a:rPr lang="en-US" sz="1283" b="1" dirty="0">
                <a:solidFill>
                  <a:srgbClr val="00999E">
                    <a:alpha val="99000"/>
                  </a:srgbClr>
                </a:solidFill>
                <a:latin typeface="Inter" pitchFamily="34" charset="0"/>
                <a:ea typeface="Inter" pitchFamily="34" charset="-122"/>
                <a:cs typeface="Inter" pitchFamily="34" charset="-120"/>
              </a:rPr>
              <a:t>Advantages</a:t>
            </a:r>
            <a:endParaRPr lang="en-US" sz="1283" dirty="0"/>
          </a:p>
        </p:txBody>
      </p:sp>
      <p:sp>
        <p:nvSpPr>
          <p:cNvPr id="11" name="Text 9"/>
          <p:cNvSpPr/>
          <p:nvPr/>
        </p:nvSpPr>
        <p:spPr>
          <a:xfrm>
            <a:off x="781050" y="1943100"/>
            <a:ext cx="3486150" cy="142875"/>
          </a:xfrm>
          <a:prstGeom prst="rect">
            <a:avLst/>
          </a:prstGeom>
          <a:noFill/>
          <a:ln/>
        </p:spPr>
        <p:txBody>
          <a:bodyPr wrap="square" lIns="0" tIns="0" rIns="0" bIns="0" rtlCol="0" anchor="t"/>
          <a:lstStyle/>
          <a:p>
            <a:pPr marL="0" indent="0" algn="l">
              <a:lnSpc>
                <a:spcPts val="1078"/>
              </a:lnSpc>
              <a:buNone/>
            </a:pPr>
            <a:r>
              <a:rPr lang="en-US" sz="891" b="1" dirty="0">
                <a:solidFill>
                  <a:srgbClr val="121726">
                    <a:alpha val="99000"/>
                  </a:srgbClr>
                </a:solidFill>
                <a:latin typeface="Inter" pitchFamily="34" charset="0"/>
                <a:ea typeface="Inter" pitchFamily="34" charset="-122"/>
                <a:cs typeface="Inter" pitchFamily="34" charset="-120"/>
              </a:rPr>
              <a:t>World-class recommendation algorithm</a:t>
            </a:r>
            <a:endParaRPr lang="en-US" sz="891" dirty="0"/>
          </a:p>
        </p:txBody>
      </p:sp>
      <p:sp>
        <p:nvSpPr>
          <p:cNvPr id="12" name="Text 10"/>
          <p:cNvSpPr/>
          <p:nvPr/>
        </p:nvSpPr>
        <p:spPr>
          <a:xfrm>
            <a:off x="781050" y="2124075"/>
            <a:ext cx="3486150" cy="147638"/>
          </a:xfrm>
          <a:prstGeom prst="rect">
            <a:avLst/>
          </a:prstGeom>
          <a:noFill/>
          <a:ln/>
        </p:spPr>
        <p:txBody>
          <a:bodyPr wrap="square" lIns="0" tIns="0" rIns="0" bIns="0" rtlCol="0" anchor="t"/>
          <a:lstStyle/>
          <a:p>
            <a:pPr marL="0" indent="0" algn="l">
              <a:lnSpc>
                <a:spcPts val="1097"/>
              </a:lnSpc>
              <a:buNone/>
            </a:pPr>
            <a:r>
              <a:rPr lang="en-US" sz="784" dirty="0">
                <a:solidFill>
                  <a:srgbClr val="596378">
                    <a:alpha val="99000"/>
                  </a:srgbClr>
                </a:solidFill>
                <a:latin typeface="Inter" pitchFamily="34" charset="0"/>
                <a:ea typeface="Inter" pitchFamily="34" charset="-122"/>
                <a:cs typeface="Inter" pitchFamily="34" charset="-120"/>
              </a:rPr>
              <a:t>Content discovery works without needing followers.</a:t>
            </a:r>
            <a:endParaRPr lang="en-US" sz="784" dirty="0"/>
          </a:p>
        </p:txBody>
      </p:sp>
      <p:sp>
        <p:nvSpPr>
          <p:cNvPr id="13" name="Text 11"/>
          <p:cNvSpPr/>
          <p:nvPr/>
        </p:nvSpPr>
        <p:spPr>
          <a:xfrm>
            <a:off x="781050" y="2414588"/>
            <a:ext cx="3486150" cy="142875"/>
          </a:xfrm>
          <a:prstGeom prst="rect">
            <a:avLst/>
          </a:prstGeom>
          <a:noFill/>
          <a:ln/>
        </p:spPr>
        <p:txBody>
          <a:bodyPr wrap="square" lIns="0" tIns="0" rIns="0" bIns="0" rtlCol="0" anchor="t"/>
          <a:lstStyle/>
          <a:p>
            <a:pPr marL="0" indent="0" algn="l">
              <a:lnSpc>
                <a:spcPts val="1078"/>
              </a:lnSpc>
              <a:buNone/>
            </a:pPr>
            <a:r>
              <a:rPr lang="en-US" sz="891" b="1" dirty="0">
                <a:solidFill>
                  <a:srgbClr val="121726">
                    <a:alpha val="99000"/>
                  </a:srgbClr>
                </a:solidFill>
                <a:latin typeface="Inter" pitchFamily="34" charset="0"/>
                <a:ea typeface="Inter" pitchFamily="34" charset="-122"/>
                <a:cs typeface="Inter" pitchFamily="34" charset="-120"/>
              </a:rPr>
              <a:t>Huge scale</a:t>
            </a:r>
            <a:endParaRPr lang="en-US" sz="891" dirty="0"/>
          </a:p>
        </p:txBody>
      </p:sp>
      <p:sp>
        <p:nvSpPr>
          <p:cNvPr id="14" name="Text 12"/>
          <p:cNvSpPr/>
          <p:nvPr/>
        </p:nvSpPr>
        <p:spPr>
          <a:xfrm>
            <a:off x="781050" y="2595563"/>
            <a:ext cx="3486150" cy="147638"/>
          </a:xfrm>
          <a:prstGeom prst="rect">
            <a:avLst/>
          </a:prstGeom>
          <a:noFill/>
          <a:ln/>
        </p:spPr>
        <p:txBody>
          <a:bodyPr wrap="square" lIns="0" tIns="0" rIns="0" bIns="0" rtlCol="0" anchor="t"/>
          <a:lstStyle/>
          <a:p>
            <a:pPr marL="0" indent="0" algn="l">
              <a:lnSpc>
                <a:spcPts val="1097"/>
              </a:lnSpc>
              <a:buNone/>
            </a:pPr>
            <a:r>
              <a:rPr lang="en-US" sz="784" dirty="0">
                <a:solidFill>
                  <a:srgbClr val="596378">
                    <a:alpha val="99000"/>
                  </a:srgbClr>
                </a:solidFill>
                <a:latin typeface="Inter" pitchFamily="34" charset="0"/>
                <a:ea typeface="Inter" pitchFamily="34" charset="-122"/>
                <a:cs typeface="Inter" pitchFamily="34" charset="-120"/>
              </a:rPr>
              <a:t>Around 1.9 billion monthly active users across its platforms.</a:t>
            </a:r>
            <a:endParaRPr lang="en-US" sz="784" dirty="0"/>
          </a:p>
        </p:txBody>
      </p:sp>
      <p:sp>
        <p:nvSpPr>
          <p:cNvPr id="15" name="Text 13"/>
          <p:cNvSpPr/>
          <p:nvPr/>
        </p:nvSpPr>
        <p:spPr>
          <a:xfrm>
            <a:off x="781050" y="2886075"/>
            <a:ext cx="3486150" cy="142875"/>
          </a:xfrm>
          <a:prstGeom prst="rect">
            <a:avLst/>
          </a:prstGeom>
          <a:noFill/>
          <a:ln/>
        </p:spPr>
        <p:txBody>
          <a:bodyPr wrap="square" lIns="0" tIns="0" rIns="0" bIns="0" rtlCol="0" anchor="t"/>
          <a:lstStyle/>
          <a:p>
            <a:pPr marL="0" indent="0" algn="l">
              <a:lnSpc>
                <a:spcPts val="1078"/>
              </a:lnSpc>
              <a:buNone/>
            </a:pPr>
            <a:r>
              <a:rPr lang="en-US" sz="891" b="1" dirty="0">
                <a:solidFill>
                  <a:srgbClr val="121726">
                    <a:alpha val="99000"/>
                  </a:srgbClr>
                </a:solidFill>
                <a:latin typeface="Inter" pitchFamily="34" charset="0"/>
                <a:ea typeface="Inter" pitchFamily="34" charset="-122"/>
                <a:cs typeface="Inter" pitchFamily="34" charset="-120"/>
              </a:rPr>
              <a:t>Diversified revenue</a:t>
            </a:r>
            <a:endParaRPr lang="en-US" sz="891" dirty="0"/>
          </a:p>
        </p:txBody>
      </p:sp>
      <p:sp>
        <p:nvSpPr>
          <p:cNvPr id="16" name="Text 14"/>
          <p:cNvSpPr/>
          <p:nvPr/>
        </p:nvSpPr>
        <p:spPr>
          <a:xfrm>
            <a:off x="781050" y="3067050"/>
            <a:ext cx="3486150" cy="295275"/>
          </a:xfrm>
          <a:prstGeom prst="rect">
            <a:avLst/>
          </a:prstGeom>
          <a:noFill/>
          <a:ln/>
        </p:spPr>
        <p:txBody>
          <a:bodyPr wrap="square" lIns="0" tIns="0" rIns="0" bIns="0" rtlCol="0" anchor="t"/>
          <a:lstStyle/>
          <a:p>
            <a:pPr marL="0" indent="0" algn="l">
              <a:lnSpc>
                <a:spcPts val="1097"/>
              </a:lnSpc>
              <a:buNone/>
            </a:pPr>
            <a:r>
              <a:rPr lang="en-US" sz="784" dirty="0">
                <a:solidFill>
                  <a:srgbClr val="596378">
                    <a:alpha val="99000"/>
                  </a:srgbClr>
                </a:solidFill>
                <a:latin typeface="Inter" pitchFamily="34" charset="0"/>
                <a:ea typeface="Inter" pitchFamily="34" charset="-122"/>
                <a:cs typeface="Inter" pitchFamily="34" charset="-120"/>
              </a:rPr>
              <a:t>Ads, e-commerce, live streaming, games, enterprise tools and cloud. TikTok Shop's global GMV was ~$50.3B in H1 2026, up 92%.</a:t>
            </a:r>
            <a:endParaRPr lang="en-US" sz="784" dirty="0"/>
          </a:p>
        </p:txBody>
      </p:sp>
      <p:sp>
        <p:nvSpPr>
          <p:cNvPr id="17" name="Text 15"/>
          <p:cNvSpPr/>
          <p:nvPr/>
        </p:nvSpPr>
        <p:spPr>
          <a:xfrm>
            <a:off x="781050" y="3505200"/>
            <a:ext cx="3486150" cy="142875"/>
          </a:xfrm>
          <a:prstGeom prst="rect">
            <a:avLst/>
          </a:prstGeom>
          <a:noFill/>
          <a:ln/>
        </p:spPr>
        <p:txBody>
          <a:bodyPr wrap="square" lIns="0" tIns="0" rIns="0" bIns="0" rtlCol="0" anchor="t"/>
          <a:lstStyle/>
          <a:p>
            <a:pPr marL="0" indent="0" algn="l">
              <a:lnSpc>
                <a:spcPts val="1078"/>
              </a:lnSpc>
              <a:buNone/>
            </a:pPr>
            <a:r>
              <a:rPr lang="en-US" sz="891" b="1" dirty="0">
                <a:solidFill>
                  <a:srgbClr val="121726">
                    <a:alpha val="99000"/>
                  </a:srgbClr>
                </a:solidFill>
                <a:latin typeface="Inter" pitchFamily="34" charset="0"/>
                <a:ea typeface="Inter" pitchFamily="34" charset="-122"/>
                <a:cs typeface="Inter" pitchFamily="34" charset="-120"/>
              </a:rPr>
              <a:t>AI leadership in China</a:t>
            </a:r>
            <a:endParaRPr lang="en-US" sz="891" dirty="0"/>
          </a:p>
        </p:txBody>
      </p:sp>
      <p:sp>
        <p:nvSpPr>
          <p:cNvPr id="18" name="Text 16"/>
          <p:cNvSpPr/>
          <p:nvPr/>
        </p:nvSpPr>
        <p:spPr>
          <a:xfrm>
            <a:off x="781050" y="3686175"/>
            <a:ext cx="3486150" cy="295275"/>
          </a:xfrm>
          <a:prstGeom prst="rect">
            <a:avLst/>
          </a:prstGeom>
          <a:noFill/>
          <a:ln/>
        </p:spPr>
        <p:txBody>
          <a:bodyPr wrap="square" lIns="0" tIns="0" rIns="0" bIns="0" rtlCol="0" anchor="t"/>
          <a:lstStyle/>
          <a:p>
            <a:pPr marL="0" indent="0" algn="l">
              <a:lnSpc>
                <a:spcPts val="1097"/>
              </a:lnSpc>
              <a:buNone/>
            </a:pPr>
            <a:r>
              <a:rPr lang="en-US" sz="784" dirty="0">
                <a:solidFill>
                  <a:srgbClr val="596378">
                    <a:alpha val="99000"/>
                  </a:srgbClr>
                </a:solidFill>
                <a:latin typeface="Inter" pitchFamily="34" charset="0"/>
                <a:ea typeface="Inter" pitchFamily="34" charset="-122"/>
                <a:cs typeface="Inter" pitchFamily="34" charset="-120"/>
              </a:rPr>
              <a:t>Doubao is China's largest AI chat app, with 345M monthly users (March 2026).</a:t>
            </a:r>
            <a:endParaRPr lang="en-US" sz="784" dirty="0"/>
          </a:p>
        </p:txBody>
      </p:sp>
      <p:sp>
        <p:nvSpPr>
          <p:cNvPr id="19" name="Shape 17"/>
          <p:cNvSpPr/>
          <p:nvPr/>
        </p:nvSpPr>
        <p:spPr>
          <a:xfrm>
            <a:off x="4667250" y="1381125"/>
            <a:ext cx="3905250" cy="3286125"/>
          </a:xfrm>
          <a:prstGeom prst="roundRect">
            <a:avLst>
              <a:gd name="adj" fmla="val 5565"/>
            </a:avLst>
          </a:prstGeom>
          <a:solidFill>
            <a:srgbClr val="FFFFFF"/>
          </a:solidFill>
          <a:ln/>
        </p:spPr>
      </p:sp>
      <p:sp>
        <p:nvSpPr>
          <p:cNvPr id="20" name="Shape 18"/>
          <p:cNvSpPr/>
          <p:nvPr/>
        </p:nvSpPr>
        <p:spPr>
          <a:xfrm>
            <a:off x="4667250" y="1381125"/>
            <a:ext cx="3905250" cy="47625"/>
          </a:xfrm>
          <a:prstGeom prst="rect">
            <a:avLst/>
          </a:prstGeom>
          <a:solidFill>
            <a:srgbClr val="FE2C55"/>
          </a:solidFill>
          <a:ln/>
        </p:spPr>
      </p:sp>
      <p:sp>
        <p:nvSpPr>
          <p:cNvPr id="21" name="Text 19"/>
          <p:cNvSpPr/>
          <p:nvPr/>
        </p:nvSpPr>
        <p:spPr>
          <a:xfrm>
            <a:off x="4876800" y="1590675"/>
            <a:ext cx="1257300" cy="209550"/>
          </a:xfrm>
          <a:prstGeom prst="rect">
            <a:avLst/>
          </a:prstGeom>
          <a:noFill/>
          <a:ln/>
        </p:spPr>
        <p:txBody>
          <a:bodyPr wrap="square" lIns="0" tIns="0" rIns="0" bIns="0" rtlCol="0" anchor="t"/>
          <a:lstStyle/>
          <a:p>
            <a:pPr marL="0" indent="0" algn="l">
              <a:lnSpc>
                <a:spcPts val="1552"/>
              </a:lnSpc>
              <a:buNone/>
            </a:pPr>
            <a:r>
              <a:rPr lang="en-US" sz="1283" b="1" dirty="0">
                <a:solidFill>
                  <a:srgbClr val="FE2C55">
                    <a:alpha val="99000"/>
                  </a:srgbClr>
                </a:solidFill>
                <a:latin typeface="Inter" pitchFamily="34" charset="0"/>
                <a:ea typeface="Inter" pitchFamily="34" charset="-122"/>
                <a:cs typeface="Inter" pitchFamily="34" charset="-120"/>
              </a:rPr>
              <a:t>Disadvantages</a:t>
            </a:r>
            <a:endParaRPr lang="en-US" sz="1283" dirty="0"/>
          </a:p>
        </p:txBody>
      </p:sp>
      <p:sp>
        <p:nvSpPr>
          <p:cNvPr id="22" name="Text 20"/>
          <p:cNvSpPr/>
          <p:nvPr/>
        </p:nvSpPr>
        <p:spPr>
          <a:xfrm>
            <a:off x="4876800" y="1943100"/>
            <a:ext cx="3486150" cy="142875"/>
          </a:xfrm>
          <a:prstGeom prst="rect">
            <a:avLst/>
          </a:prstGeom>
          <a:noFill/>
          <a:ln/>
        </p:spPr>
        <p:txBody>
          <a:bodyPr wrap="square" lIns="0" tIns="0" rIns="0" bIns="0" rtlCol="0" anchor="t"/>
          <a:lstStyle/>
          <a:p>
            <a:pPr marL="0" indent="0" algn="l">
              <a:lnSpc>
                <a:spcPts val="1078"/>
              </a:lnSpc>
              <a:buNone/>
            </a:pPr>
            <a:r>
              <a:rPr lang="en-US" sz="891" b="1" dirty="0">
                <a:solidFill>
                  <a:srgbClr val="121726">
                    <a:alpha val="99000"/>
                  </a:srgbClr>
                </a:solidFill>
                <a:latin typeface="Inter" pitchFamily="34" charset="0"/>
                <a:ea typeface="Inter" pitchFamily="34" charset="-122"/>
                <a:cs typeface="Inter" pitchFamily="34" charset="-120"/>
              </a:rPr>
              <a:t>Regulatory &amp; geopolitical risk</a:t>
            </a:r>
            <a:endParaRPr lang="en-US" sz="891" dirty="0"/>
          </a:p>
        </p:txBody>
      </p:sp>
      <p:sp>
        <p:nvSpPr>
          <p:cNvPr id="23" name="Text 21"/>
          <p:cNvSpPr/>
          <p:nvPr/>
        </p:nvSpPr>
        <p:spPr>
          <a:xfrm>
            <a:off x="4876800" y="2124075"/>
            <a:ext cx="3486150" cy="295275"/>
          </a:xfrm>
          <a:prstGeom prst="rect">
            <a:avLst/>
          </a:prstGeom>
          <a:noFill/>
          <a:ln/>
        </p:spPr>
        <p:txBody>
          <a:bodyPr wrap="square" lIns="0" tIns="0" rIns="0" bIns="0" rtlCol="0" anchor="t"/>
          <a:lstStyle/>
          <a:p>
            <a:pPr marL="0" indent="0" algn="l">
              <a:lnSpc>
                <a:spcPts val="1097"/>
              </a:lnSpc>
              <a:buNone/>
            </a:pPr>
            <a:r>
              <a:rPr lang="en-US" sz="784" dirty="0">
                <a:solidFill>
                  <a:srgbClr val="596378">
                    <a:alpha val="99000"/>
                  </a:srgbClr>
                </a:solidFill>
                <a:latin typeface="Inter" pitchFamily="34" charset="0"/>
                <a:ea typeface="Inter" pitchFamily="34" charset="-122"/>
                <a:cs typeface="Inter" pitchFamily="34" charset="-120"/>
              </a:rPr>
              <a:t>A 2024 US law forced TikTok to divest or face a ban; India's 2020 ban cost it a major market.</a:t>
            </a:r>
            <a:endParaRPr lang="en-US" sz="784" dirty="0"/>
          </a:p>
        </p:txBody>
      </p:sp>
      <p:sp>
        <p:nvSpPr>
          <p:cNvPr id="24" name="Text 22"/>
          <p:cNvSpPr/>
          <p:nvPr/>
        </p:nvSpPr>
        <p:spPr>
          <a:xfrm>
            <a:off x="4876800" y="2562225"/>
            <a:ext cx="3486150" cy="142875"/>
          </a:xfrm>
          <a:prstGeom prst="rect">
            <a:avLst/>
          </a:prstGeom>
          <a:noFill/>
          <a:ln/>
        </p:spPr>
        <p:txBody>
          <a:bodyPr wrap="square" lIns="0" tIns="0" rIns="0" bIns="0" rtlCol="0" anchor="t"/>
          <a:lstStyle/>
          <a:p>
            <a:pPr marL="0" indent="0" algn="l">
              <a:lnSpc>
                <a:spcPts val="1078"/>
              </a:lnSpc>
              <a:buNone/>
            </a:pPr>
            <a:r>
              <a:rPr lang="en-US" sz="891" b="1" dirty="0">
                <a:solidFill>
                  <a:srgbClr val="121726">
                    <a:alpha val="99000"/>
                  </a:srgbClr>
                </a:solidFill>
                <a:latin typeface="Inter" pitchFamily="34" charset="0"/>
                <a:ea typeface="Inter" pitchFamily="34" charset="-122"/>
                <a:cs typeface="Inter" pitchFamily="34" charset="-120"/>
              </a:rPr>
              <a:t>Shrinking margins</a:t>
            </a:r>
            <a:endParaRPr lang="en-US" sz="891" dirty="0"/>
          </a:p>
        </p:txBody>
      </p:sp>
      <p:sp>
        <p:nvSpPr>
          <p:cNvPr id="25" name="Text 23"/>
          <p:cNvSpPr/>
          <p:nvPr/>
        </p:nvSpPr>
        <p:spPr>
          <a:xfrm>
            <a:off x="4876800" y="2743200"/>
            <a:ext cx="3486150" cy="295275"/>
          </a:xfrm>
          <a:prstGeom prst="rect">
            <a:avLst/>
          </a:prstGeom>
          <a:noFill/>
          <a:ln/>
        </p:spPr>
        <p:txBody>
          <a:bodyPr wrap="square" lIns="0" tIns="0" rIns="0" bIns="0" rtlCol="0" anchor="t"/>
          <a:lstStyle/>
          <a:p>
            <a:pPr marL="0" indent="0" algn="l">
              <a:lnSpc>
                <a:spcPts val="1097"/>
              </a:lnSpc>
              <a:buNone/>
            </a:pPr>
            <a:r>
              <a:rPr lang="en-US" sz="784" dirty="0">
                <a:solidFill>
                  <a:srgbClr val="596378">
                    <a:alpha val="99000"/>
                  </a:srgbClr>
                </a:solidFill>
                <a:latin typeface="Inter" pitchFamily="34" charset="0"/>
                <a:ea typeface="Inter" pitchFamily="34" charset="-122"/>
                <a:cs typeface="Inter" pitchFamily="34" charset="-120"/>
              </a:rPr>
              <a:t>Heavy AI spending cut the net profit margin from over 20% to about 16.7%.</a:t>
            </a:r>
            <a:endParaRPr lang="en-US" sz="784" dirty="0"/>
          </a:p>
        </p:txBody>
      </p:sp>
      <p:sp>
        <p:nvSpPr>
          <p:cNvPr id="26" name="Text 24"/>
          <p:cNvSpPr/>
          <p:nvPr/>
        </p:nvSpPr>
        <p:spPr>
          <a:xfrm>
            <a:off x="4876800" y="3181350"/>
            <a:ext cx="3486150" cy="142875"/>
          </a:xfrm>
          <a:prstGeom prst="rect">
            <a:avLst/>
          </a:prstGeom>
          <a:noFill/>
          <a:ln/>
        </p:spPr>
        <p:txBody>
          <a:bodyPr wrap="square" lIns="0" tIns="0" rIns="0" bIns="0" rtlCol="0" anchor="t"/>
          <a:lstStyle/>
          <a:p>
            <a:pPr marL="0" indent="0" algn="l">
              <a:lnSpc>
                <a:spcPts val="1078"/>
              </a:lnSpc>
              <a:buNone/>
            </a:pPr>
            <a:r>
              <a:rPr lang="en-US" sz="891" b="1" dirty="0">
                <a:solidFill>
                  <a:srgbClr val="121726">
                    <a:alpha val="99000"/>
                  </a:srgbClr>
                </a:solidFill>
                <a:latin typeface="Inter" pitchFamily="34" charset="0"/>
                <a:ea typeface="Inter" pitchFamily="34" charset="-122"/>
                <a:cs typeface="Inter" pitchFamily="34" charset="-120"/>
              </a:rPr>
              <a:t>Privacy controversies</a:t>
            </a:r>
            <a:endParaRPr lang="en-US" sz="891" dirty="0"/>
          </a:p>
        </p:txBody>
      </p:sp>
      <p:sp>
        <p:nvSpPr>
          <p:cNvPr id="27" name="Text 25"/>
          <p:cNvSpPr/>
          <p:nvPr/>
        </p:nvSpPr>
        <p:spPr>
          <a:xfrm>
            <a:off x="4876800" y="3362325"/>
            <a:ext cx="3486150" cy="295275"/>
          </a:xfrm>
          <a:prstGeom prst="rect">
            <a:avLst/>
          </a:prstGeom>
          <a:noFill/>
          <a:ln/>
        </p:spPr>
        <p:txBody>
          <a:bodyPr wrap="square" lIns="0" tIns="0" rIns="0" bIns="0" rtlCol="0" anchor="t"/>
          <a:lstStyle/>
          <a:p>
            <a:pPr marL="0" indent="0" algn="l">
              <a:lnSpc>
                <a:spcPts val="1097"/>
              </a:lnSpc>
              <a:buNone/>
            </a:pPr>
            <a:r>
              <a:rPr lang="en-US" sz="784" dirty="0">
                <a:solidFill>
                  <a:srgbClr val="596378">
                    <a:alpha val="99000"/>
                  </a:srgbClr>
                </a:solidFill>
                <a:latin typeface="Inter" pitchFamily="34" charset="0"/>
                <a:ea typeface="Inter" pitchFamily="34" charset="-122"/>
                <a:cs typeface="Inter" pitchFamily="34" charset="-120"/>
              </a:rPr>
              <a:t>Company officials admitted employees had accessed data of American TikTok users, including journalists.</a:t>
            </a:r>
            <a:endParaRPr lang="en-US" sz="784" dirty="0"/>
          </a:p>
        </p:txBody>
      </p:sp>
      <p:sp>
        <p:nvSpPr>
          <p:cNvPr id="28" name="Text 26"/>
          <p:cNvSpPr/>
          <p:nvPr/>
        </p:nvSpPr>
        <p:spPr>
          <a:xfrm>
            <a:off x="4876800" y="3800475"/>
            <a:ext cx="3486150" cy="142875"/>
          </a:xfrm>
          <a:prstGeom prst="rect">
            <a:avLst/>
          </a:prstGeom>
          <a:noFill/>
          <a:ln/>
        </p:spPr>
        <p:txBody>
          <a:bodyPr wrap="square" lIns="0" tIns="0" rIns="0" bIns="0" rtlCol="0" anchor="t"/>
          <a:lstStyle/>
          <a:p>
            <a:pPr marL="0" indent="0" algn="l">
              <a:lnSpc>
                <a:spcPts val="1078"/>
              </a:lnSpc>
              <a:buNone/>
            </a:pPr>
            <a:r>
              <a:rPr lang="en-US" sz="891" b="1" dirty="0">
                <a:solidFill>
                  <a:srgbClr val="121726">
                    <a:alpha val="99000"/>
                  </a:srgbClr>
                </a:solidFill>
                <a:latin typeface="Inter" pitchFamily="34" charset="0"/>
                <a:ea typeface="Inter" pitchFamily="34" charset="-122"/>
                <a:cs typeface="Inter" pitchFamily="34" charset="-120"/>
              </a:rPr>
              <a:t>Lingering scrutiny</a:t>
            </a:r>
            <a:endParaRPr lang="en-US" sz="891" dirty="0"/>
          </a:p>
        </p:txBody>
      </p:sp>
      <p:sp>
        <p:nvSpPr>
          <p:cNvPr id="29" name="Text 27"/>
          <p:cNvSpPr/>
          <p:nvPr/>
        </p:nvSpPr>
        <p:spPr>
          <a:xfrm>
            <a:off x="4876800" y="3981450"/>
            <a:ext cx="3486150" cy="295275"/>
          </a:xfrm>
          <a:prstGeom prst="rect">
            <a:avLst/>
          </a:prstGeom>
          <a:noFill/>
          <a:ln/>
        </p:spPr>
        <p:txBody>
          <a:bodyPr wrap="square" lIns="0" tIns="0" rIns="0" bIns="0" rtlCol="0" anchor="t"/>
          <a:lstStyle/>
          <a:p>
            <a:pPr marL="0" indent="0" algn="l">
              <a:lnSpc>
                <a:spcPts val="1097"/>
              </a:lnSpc>
              <a:buNone/>
            </a:pPr>
            <a:r>
              <a:rPr lang="en-US" sz="784" dirty="0">
                <a:solidFill>
                  <a:srgbClr val="596378">
                    <a:alpha val="99000"/>
                  </a:srgbClr>
                </a:solidFill>
                <a:latin typeface="Inter" pitchFamily="34" charset="0"/>
                <a:ea typeface="Inter" pitchFamily="34" charset="-122"/>
                <a:cs typeface="Inter" pitchFamily="34" charset="-120"/>
              </a:rPr>
              <a:t>The US joint venture reportedly still uses ByteDance's Lark and Aime AI tools.</a:t>
            </a:r>
            <a:endParaRPr lang="en-US" sz="784"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8FC"/>
        </a:solidFill>
        <a:effectLst/>
      </p:bgPr>
    </p:bg>
    <p:spTree>
      <p:nvGrpSpPr>
        <p:cNvPr id="1" name=""/>
        <p:cNvGrpSpPr/>
        <p:nvPr/>
      </p:nvGrpSpPr>
      <p:grpSpPr>
        <a:xfrm>
          <a:off x="0" y="0"/>
          <a:ext cx="0" cy="0"/>
          <a:chOff x="0" y="0"/>
          <a:chExt cx="0" cy="0"/>
        </a:xfrm>
      </p:grpSpPr>
      <p:sp>
        <p:nvSpPr>
          <p:cNvPr id="2" name="Shape 0"/>
          <p:cNvSpPr/>
          <p:nvPr/>
        </p:nvSpPr>
        <p:spPr>
          <a:xfrm>
            <a:off x="571500" y="533400"/>
            <a:ext cx="38100" cy="285750"/>
          </a:xfrm>
          <a:prstGeom prst="rect">
            <a:avLst/>
          </a:prstGeom>
          <a:solidFill>
            <a:srgbClr val="25F4EE"/>
          </a:solidFill>
          <a:ln/>
        </p:spPr>
      </p:sp>
      <p:sp>
        <p:nvSpPr>
          <p:cNvPr id="3" name="Shape 1"/>
          <p:cNvSpPr/>
          <p:nvPr/>
        </p:nvSpPr>
        <p:spPr>
          <a:xfrm>
            <a:off x="638175" y="571500"/>
            <a:ext cx="38100" cy="285750"/>
          </a:xfrm>
          <a:prstGeom prst="rect">
            <a:avLst/>
          </a:prstGeom>
          <a:solidFill>
            <a:srgbClr val="FE2C55"/>
          </a:solidFill>
          <a:ln/>
        </p:spPr>
      </p:sp>
      <p:sp>
        <p:nvSpPr>
          <p:cNvPr id="4" name="Text 2"/>
          <p:cNvSpPr/>
          <p:nvPr/>
        </p:nvSpPr>
        <p:spPr>
          <a:xfrm>
            <a:off x="781050" y="514350"/>
            <a:ext cx="1743075" cy="128588"/>
          </a:xfrm>
          <a:prstGeom prst="rect">
            <a:avLst/>
          </a:prstGeom>
          <a:noFill/>
          <a:ln/>
        </p:spPr>
        <p:txBody>
          <a:bodyPr wrap="square" lIns="0" tIns="0" rIns="0" bIns="0" rtlCol="0" anchor="t"/>
          <a:lstStyle/>
          <a:p>
            <a:pPr marL="0" indent="0" algn="l">
              <a:lnSpc>
                <a:spcPts val="949"/>
              </a:lnSpc>
              <a:buNone/>
            </a:pPr>
            <a:r>
              <a:rPr lang="en-US" sz="784" b="1" kern="0" spc="94" dirty="0">
                <a:solidFill>
                  <a:srgbClr val="FE2C55">
                    <a:alpha val="99000"/>
                  </a:srgbClr>
                </a:solidFill>
                <a:latin typeface="Inter" pitchFamily="34" charset="0"/>
                <a:ea typeface="Inter" pitchFamily="34" charset="-122"/>
                <a:cs typeface="Inter" pitchFamily="34" charset="-120"/>
              </a:rPr>
              <a:t>WORKING OF THE COMPANY</a:t>
            </a:r>
            <a:endParaRPr lang="en-US" sz="784" dirty="0"/>
          </a:p>
        </p:txBody>
      </p:sp>
      <p:sp>
        <p:nvSpPr>
          <p:cNvPr id="5" name="Text 3"/>
          <p:cNvSpPr/>
          <p:nvPr/>
        </p:nvSpPr>
        <p:spPr>
          <a:xfrm>
            <a:off x="781050" y="666750"/>
            <a:ext cx="7429500" cy="314325"/>
          </a:xfrm>
          <a:prstGeom prst="rect">
            <a:avLst/>
          </a:prstGeom>
          <a:noFill/>
          <a:ln/>
        </p:spPr>
        <p:txBody>
          <a:bodyPr wrap="square" lIns="0" tIns="0" rIns="0" bIns="0" rtlCol="0" anchor="t"/>
          <a:lstStyle/>
          <a:p>
            <a:pPr marL="0" indent="0" algn="l">
              <a:lnSpc>
                <a:spcPts val="2351"/>
              </a:lnSpc>
              <a:buNone/>
            </a:pPr>
            <a:r>
              <a:rPr lang="en-US" sz="2138" b="1" dirty="0">
                <a:solidFill>
                  <a:srgbClr val="121726">
                    <a:alpha val="99000"/>
                  </a:srgbClr>
                </a:solidFill>
                <a:latin typeface="Inter" pitchFamily="34" charset="0"/>
                <a:ea typeface="Inter" pitchFamily="34" charset="-122"/>
                <a:cs typeface="Inter" pitchFamily="34" charset="-120"/>
              </a:rPr>
              <a:t>How ByteDance makes money</a:t>
            </a:r>
            <a:endParaRPr lang="en-US" sz="2138" dirty="0"/>
          </a:p>
        </p:txBody>
      </p:sp>
      <p:sp>
        <p:nvSpPr>
          <p:cNvPr id="6" name="Text 4"/>
          <p:cNvSpPr/>
          <p:nvPr/>
        </p:nvSpPr>
        <p:spPr>
          <a:xfrm>
            <a:off x="571500" y="4819650"/>
            <a:ext cx="2547938" cy="104775"/>
          </a:xfrm>
          <a:prstGeom prst="rect">
            <a:avLst/>
          </a:prstGeom>
          <a:noFill/>
          <a:ln/>
        </p:spPr>
        <p:txBody>
          <a:bodyPr wrap="square" lIns="0" tIns="0" rIns="0" bIns="0" rtlCol="0" anchor="t"/>
          <a:lstStyle/>
          <a:p>
            <a:pPr marL="0" indent="0" algn="l">
              <a:lnSpc>
                <a:spcPts val="776"/>
              </a:lnSpc>
              <a:buNone/>
            </a:pPr>
            <a:r>
              <a:rPr lang="en-US" sz="641" dirty="0">
                <a:solidFill>
                  <a:srgbClr val="596378">
                    <a:alpha val="99000"/>
                  </a:srgbClr>
                </a:solidFill>
                <a:latin typeface="Inter" pitchFamily="34" charset="0"/>
                <a:ea typeface="Inter" pitchFamily="34" charset="-122"/>
                <a:cs typeface="Inter" pitchFamily="34" charset="-120"/>
              </a:rPr>
              <a:t>ByteDance  ·  Unicorn Company Case Study  ·  ISE, Semester 7</a:t>
            </a:r>
            <a:endParaRPr lang="en-US" sz="641" dirty="0"/>
          </a:p>
        </p:txBody>
      </p:sp>
      <p:sp>
        <p:nvSpPr>
          <p:cNvPr id="7" name="Text 5"/>
          <p:cNvSpPr/>
          <p:nvPr/>
        </p:nvSpPr>
        <p:spPr>
          <a:xfrm>
            <a:off x="8096250" y="4819650"/>
            <a:ext cx="476250" cy="104775"/>
          </a:xfrm>
          <a:prstGeom prst="rect">
            <a:avLst/>
          </a:prstGeom>
          <a:noFill/>
          <a:ln/>
        </p:spPr>
        <p:txBody>
          <a:bodyPr wrap="square" lIns="0" tIns="0" rIns="0" bIns="0" rtlCol="0" anchor="t"/>
          <a:lstStyle/>
          <a:p>
            <a:pPr marL="0" indent="0" algn="r">
              <a:lnSpc>
                <a:spcPts val="776"/>
              </a:lnSpc>
              <a:buNone/>
            </a:pPr>
            <a:r>
              <a:rPr lang="en-US" sz="641" b="1" dirty="0">
                <a:solidFill>
                  <a:srgbClr val="FE2C55">
                    <a:alpha val="99000"/>
                  </a:srgbClr>
                </a:solidFill>
                <a:latin typeface="Inter" pitchFamily="34" charset="0"/>
                <a:ea typeface="Inter" pitchFamily="34" charset="-122"/>
                <a:cs typeface="Inter" pitchFamily="34" charset="-120"/>
              </a:rPr>
              <a:t>10</a:t>
            </a:r>
            <a:endParaRPr lang="en-US" sz="641" dirty="0"/>
          </a:p>
        </p:txBody>
      </p:sp>
      <p:sp>
        <p:nvSpPr>
          <p:cNvPr id="8" name="Shape 6"/>
          <p:cNvSpPr/>
          <p:nvPr/>
        </p:nvSpPr>
        <p:spPr>
          <a:xfrm>
            <a:off x="781050" y="1381125"/>
            <a:ext cx="1619250" cy="1047750"/>
          </a:xfrm>
          <a:prstGeom prst="roundRect">
            <a:avLst>
              <a:gd name="adj" fmla="val 17455"/>
            </a:avLst>
          </a:prstGeom>
          <a:solidFill>
            <a:srgbClr val="FFFFFF"/>
          </a:solidFill>
          <a:ln/>
        </p:spPr>
      </p:sp>
      <p:sp>
        <p:nvSpPr>
          <p:cNvPr id="9" name="Text 7"/>
          <p:cNvSpPr/>
          <p:nvPr/>
        </p:nvSpPr>
        <p:spPr>
          <a:xfrm>
            <a:off x="933450" y="1524000"/>
            <a:ext cx="338138" cy="104775"/>
          </a:xfrm>
          <a:prstGeom prst="rect">
            <a:avLst/>
          </a:prstGeom>
          <a:noFill/>
          <a:ln/>
        </p:spPr>
        <p:txBody>
          <a:bodyPr wrap="square" lIns="0" tIns="0" rIns="0" bIns="0" rtlCol="0" anchor="t"/>
          <a:lstStyle/>
          <a:p>
            <a:pPr marL="0" indent="0" algn="l">
              <a:lnSpc>
                <a:spcPts val="776"/>
              </a:lnSpc>
              <a:buNone/>
            </a:pPr>
            <a:r>
              <a:rPr lang="en-US" sz="641" b="1" kern="0" spc="77" dirty="0">
                <a:solidFill>
                  <a:srgbClr val="FE2C55">
                    <a:alpha val="99000"/>
                  </a:srgbClr>
                </a:solidFill>
                <a:latin typeface="Inter" pitchFamily="34" charset="0"/>
                <a:ea typeface="Inter" pitchFamily="34" charset="-122"/>
                <a:cs typeface="Inter" pitchFamily="34" charset="-120"/>
              </a:rPr>
              <a:t>STEP 1</a:t>
            </a:r>
            <a:endParaRPr lang="en-US" sz="641" dirty="0"/>
          </a:p>
        </p:txBody>
      </p:sp>
      <p:sp>
        <p:nvSpPr>
          <p:cNvPr id="10" name="Text 8"/>
          <p:cNvSpPr/>
          <p:nvPr/>
        </p:nvSpPr>
        <p:spPr>
          <a:xfrm>
            <a:off x="933450" y="1676400"/>
            <a:ext cx="1314450" cy="171450"/>
          </a:xfrm>
          <a:prstGeom prst="rect">
            <a:avLst/>
          </a:prstGeom>
          <a:noFill/>
          <a:ln/>
        </p:spPr>
        <p:txBody>
          <a:bodyPr wrap="square" lIns="0" tIns="0" rIns="0" bIns="0" rtlCol="0" anchor="t"/>
          <a:lstStyle/>
          <a:p>
            <a:pPr marL="0" indent="0" algn="l">
              <a:lnSpc>
                <a:spcPts val="1293"/>
              </a:lnSpc>
              <a:buNone/>
            </a:pPr>
            <a:r>
              <a:rPr lang="en-US" sz="1069" b="1" dirty="0">
                <a:solidFill>
                  <a:srgbClr val="121726">
                    <a:alpha val="99000"/>
                  </a:srgbClr>
                </a:solidFill>
                <a:latin typeface="Inter" pitchFamily="34" charset="0"/>
                <a:ea typeface="Inter" pitchFamily="34" charset="-122"/>
                <a:cs typeface="Inter" pitchFamily="34" charset="-120"/>
              </a:rPr>
              <a:t>Create &amp; watch</a:t>
            </a:r>
            <a:endParaRPr lang="en-US" sz="1069" dirty="0"/>
          </a:p>
        </p:txBody>
      </p:sp>
      <p:sp>
        <p:nvSpPr>
          <p:cNvPr id="11" name="Text 9"/>
          <p:cNvSpPr/>
          <p:nvPr/>
        </p:nvSpPr>
        <p:spPr>
          <a:xfrm>
            <a:off x="933450" y="1895475"/>
            <a:ext cx="1314450" cy="400050"/>
          </a:xfrm>
          <a:prstGeom prst="rect">
            <a:avLst/>
          </a:prstGeom>
          <a:noFill/>
          <a:ln/>
        </p:spPr>
        <p:txBody>
          <a:bodyPr wrap="square" lIns="0" tIns="0" rIns="0" bIns="0" rtlCol="0" anchor="t"/>
          <a:lstStyle/>
          <a:p>
            <a:pPr marL="0" indent="0" algn="l">
              <a:lnSpc>
                <a:spcPts val="998"/>
              </a:lnSpc>
              <a:buNone/>
            </a:pPr>
            <a:r>
              <a:rPr lang="en-US" sz="713" dirty="0">
                <a:solidFill>
                  <a:srgbClr val="596378">
                    <a:alpha val="99000"/>
                  </a:srgbClr>
                </a:solidFill>
                <a:latin typeface="Inter" pitchFamily="34" charset="0"/>
                <a:ea typeface="Inter" pitchFamily="34" charset="-122"/>
                <a:cs typeface="Inter" pitchFamily="34" charset="-120"/>
              </a:rPr>
              <a:t>Users create and watch short videos, news and live streams</a:t>
            </a:r>
            <a:endParaRPr lang="en-US" sz="713" dirty="0"/>
          </a:p>
        </p:txBody>
      </p:sp>
      <p:sp>
        <p:nvSpPr>
          <p:cNvPr id="12" name="Text 10"/>
          <p:cNvSpPr/>
          <p:nvPr/>
        </p:nvSpPr>
        <p:spPr>
          <a:xfrm>
            <a:off x="2419350" y="1762125"/>
            <a:ext cx="342900" cy="276225"/>
          </a:xfrm>
          <a:prstGeom prst="rect">
            <a:avLst/>
          </a:prstGeom>
          <a:noFill/>
          <a:ln/>
        </p:spPr>
        <p:txBody>
          <a:bodyPr wrap="square" lIns="0" tIns="0" rIns="0" bIns="0" rtlCol="0" anchor="t"/>
          <a:lstStyle/>
          <a:p>
            <a:pPr marL="0" indent="0" algn="ctr">
              <a:lnSpc>
                <a:spcPts val="2069"/>
              </a:lnSpc>
              <a:buNone/>
            </a:pPr>
            <a:r>
              <a:rPr lang="en-US" sz="1710" b="1" dirty="0">
                <a:solidFill>
                  <a:srgbClr val="FE2C55">
                    <a:alpha val="99000"/>
                  </a:srgbClr>
                </a:solidFill>
                <a:latin typeface="Inter" pitchFamily="34" charset="0"/>
                <a:ea typeface="Inter" pitchFamily="34" charset="-122"/>
                <a:cs typeface="Inter" pitchFamily="34" charset="-120"/>
              </a:rPr>
              <a:t>→</a:t>
            </a:r>
            <a:endParaRPr lang="en-US" sz="1710" dirty="0"/>
          </a:p>
        </p:txBody>
      </p:sp>
      <p:sp>
        <p:nvSpPr>
          <p:cNvPr id="13" name="Shape 11"/>
          <p:cNvSpPr/>
          <p:nvPr/>
        </p:nvSpPr>
        <p:spPr>
          <a:xfrm>
            <a:off x="2781300" y="1381125"/>
            <a:ext cx="1619250" cy="1047750"/>
          </a:xfrm>
          <a:prstGeom prst="roundRect">
            <a:avLst>
              <a:gd name="adj" fmla="val 17455"/>
            </a:avLst>
          </a:prstGeom>
          <a:solidFill>
            <a:srgbClr val="FFFFFF"/>
          </a:solidFill>
          <a:ln/>
        </p:spPr>
      </p:sp>
      <p:sp>
        <p:nvSpPr>
          <p:cNvPr id="14" name="Text 12"/>
          <p:cNvSpPr/>
          <p:nvPr/>
        </p:nvSpPr>
        <p:spPr>
          <a:xfrm>
            <a:off x="2933700" y="1524000"/>
            <a:ext cx="347663" cy="104775"/>
          </a:xfrm>
          <a:prstGeom prst="rect">
            <a:avLst/>
          </a:prstGeom>
          <a:noFill/>
          <a:ln/>
        </p:spPr>
        <p:txBody>
          <a:bodyPr wrap="square" lIns="0" tIns="0" rIns="0" bIns="0" rtlCol="0" anchor="t"/>
          <a:lstStyle/>
          <a:p>
            <a:pPr marL="0" indent="0" algn="l">
              <a:lnSpc>
                <a:spcPts val="776"/>
              </a:lnSpc>
              <a:buNone/>
            </a:pPr>
            <a:r>
              <a:rPr lang="en-US" sz="641" b="1" kern="0" spc="77" dirty="0">
                <a:solidFill>
                  <a:srgbClr val="FE2C55">
                    <a:alpha val="99000"/>
                  </a:srgbClr>
                </a:solidFill>
                <a:latin typeface="Inter" pitchFamily="34" charset="0"/>
                <a:ea typeface="Inter" pitchFamily="34" charset="-122"/>
                <a:cs typeface="Inter" pitchFamily="34" charset="-120"/>
              </a:rPr>
              <a:t>STEP 2</a:t>
            </a:r>
            <a:endParaRPr lang="en-US" sz="641" dirty="0"/>
          </a:p>
        </p:txBody>
      </p:sp>
      <p:sp>
        <p:nvSpPr>
          <p:cNvPr id="15" name="Text 13"/>
          <p:cNvSpPr/>
          <p:nvPr/>
        </p:nvSpPr>
        <p:spPr>
          <a:xfrm>
            <a:off x="2933700" y="1676400"/>
            <a:ext cx="1314450" cy="171450"/>
          </a:xfrm>
          <a:prstGeom prst="rect">
            <a:avLst/>
          </a:prstGeom>
          <a:noFill/>
          <a:ln/>
        </p:spPr>
        <p:txBody>
          <a:bodyPr wrap="square" lIns="0" tIns="0" rIns="0" bIns="0" rtlCol="0" anchor="t"/>
          <a:lstStyle/>
          <a:p>
            <a:pPr marL="0" indent="0" algn="l">
              <a:lnSpc>
                <a:spcPts val="1293"/>
              </a:lnSpc>
              <a:buNone/>
            </a:pPr>
            <a:r>
              <a:rPr lang="en-US" sz="1069" b="1" dirty="0">
                <a:solidFill>
                  <a:srgbClr val="121726">
                    <a:alpha val="99000"/>
                  </a:srgbClr>
                </a:solidFill>
                <a:latin typeface="Inter" pitchFamily="34" charset="0"/>
                <a:ea typeface="Inter" pitchFamily="34" charset="-122"/>
                <a:cs typeface="Inter" pitchFamily="34" charset="-120"/>
              </a:rPr>
              <a:t>AI learns</a:t>
            </a:r>
            <a:endParaRPr lang="en-US" sz="1069" dirty="0"/>
          </a:p>
        </p:txBody>
      </p:sp>
      <p:sp>
        <p:nvSpPr>
          <p:cNvPr id="16" name="Text 14"/>
          <p:cNvSpPr/>
          <p:nvPr/>
        </p:nvSpPr>
        <p:spPr>
          <a:xfrm>
            <a:off x="2933700" y="1895475"/>
            <a:ext cx="1314450" cy="400050"/>
          </a:xfrm>
          <a:prstGeom prst="rect">
            <a:avLst/>
          </a:prstGeom>
          <a:noFill/>
          <a:ln/>
        </p:spPr>
        <p:txBody>
          <a:bodyPr wrap="square" lIns="0" tIns="0" rIns="0" bIns="0" rtlCol="0" anchor="t"/>
          <a:lstStyle/>
          <a:p>
            <a:pPr marL="0" indent="0" algn="l">
              <a:lnSpc>
                <a:spcPts val="998"/>
              </a:lnSpc>
              <a:buNone/>
            </a:pPr>
            <a:r>
              <a:rPr lang="en-US" sz="713" dirty="0">
                <a:solidFill>
                  <a:srgbClr val="596378">
                    <a:alpha val="99000"/>
                  </a:srgbClr>
                </a:solidFill>
                <a:latin typeface="Inter" pitchFamily="34" charset="0"/>
                <a:ea typeface="Inter" pitchFamily="34" charset="-122"/>
                <a:cs typeface="Inter" pitchFamily="34" charset="-120"/>
              </a:rPr>
              <a:t>The recommendation algorithm learns each user's interests</a:t>
            </a:r>
            <a:endParaRPr lang="en-US" sz="713" dirty="0"/>
          </a:p>
        </p:txBody>
      </p:sp>
      <p:sp>
        <p:nvSpPr>
          <p:cNvPr id="17" name="Text 15"/>
          <p:cNvSpPr/>
          <p:nvPr/>
        </p:nvSpPr>
        <p:spPr>
          <a:xfrm>
            <a:off x="4419600" y="1762125"/>
            <a:ext cx="342900" cy="276225"/>
          </a:xfrm>
          <a:prstGeom prst="rect">
            <a:avLst/>
          </a:prstGeom>
          <a:noFill/>
          <a:ln/>
        </p:spPr>
        <p:txBody>
          <a:bodyPr wrap="square" lIns="0" tIns="0" rIns="0" bIns="0" rtlCol="0" anchor="t"/>
          <a:lstStyle/>
          <a:p>
            <a:pPr marL="0" indent="0" algn="ctr">
              <a:lnSpc>
                <a:spcPts val="2069"/>
              </a:lnSpc>
              <a:buNone/>
            </a:pPr>
            <a:r>
              <a:rPr lang="en-US" sz="1710" b="1" dirty="0">
                <a:solidFill>
                  <a:srgbClr val="FE2C55">
                    <a:alpha val="99000"/>
                  </a:srgbClr>
                </a:solidFill>
                <a:latin typeface="Inter" pitchFamily="34" charset="0"/>
                <a:ea typeface="Inter" pitchFamily="34" charset="-122"/>
                <a:cs typeface="Inter" pitchFamily="34" charset="-120"/>
              </a:rPr>
              <a:t>→</a:t>
            </a:r>
            <a:endParaRPr lang="en-US" sz="1710" dirty="0"/>
          </a:p>
        </p:txBody>
      </p:sp>
      <p:sp>
        <p:nvSpPr>
          <p:cNvPr id="18" name="Shape 16"/>
          <p:cNvSpPr/>
          <p:nvPr/>
        </p:nvSpPr>
        <p:spPr>
          <a:xfrm>
            <a:off x="4781550" y="1381125"/>
            <a:ext cx="1619250" cy="1047750"/>
          </a:xfrm>
          <a:prstGeom prst="roundRect">
            <a:avLst>
              <a:gd name="adj" fmla="val 17455"/>
            </a:avLst>
          </a:prstGeom>
          <a:solidFill>
            <a:srgbClr val="FFFFFF"/>
          </a:solidFill>
          <a:ln/>
        </p:spPr>
      </p:sp>
      <p:sp>
        <p:nvSpPr>
          <p:cNvPr id="19" name="Text 17"/>
          <p:cNvSpPr/>
          <p:nvPr/>
        </p:nvSpPr>
        <p:spPr>
          <a:xfrm>
            <a:off x="4933950" y="1524000"/>
            <a:ext cx="352425" cy="104775"/>
          </a:xfrm>
          <a:prstGeom prst="rect">
            <a:avLst/>
          </a:prstGeom>
          <a:noFill/>
          <a:ln/>
        </p:spPr>
        <p:txBody>
          <a:bodyPr wrap="square" lIns="0" tIns="0" rIns="0" bIns="0" rtlCol="0" anchor="t"/>
          <a:lstStyle/>
          <a:p>
            <a:pPr marL="0" indent="0" algn="l">
              <a:lnSpc>
                <a:spcPts val="776"/>
              </a:lnSpc>
              <a:buNone/>
            </a:pPr>
            <a:r>
              <a:rPr lang="en-US" sz="641" b="1" kern="0" spc="77" dirty="0">
                <a:solidFill>
                  <a:srgbClr val="FE2C55">
                    <a:alpha val="99000"/>
                  </a:srgbClr>
                </a:solidFill>
                <a:latin typeface="Inter" pitchFamily="34" charset="0"/>
                <a:ea typeface="Inter" pitchFamily="34" charset="-122"/>
                <a:cs typeface="Inter" pitchFamily="34" charset="-120"/>
              </a:rPr>
              <a:t>STEP 3</a:t>
            </a:r>
            <a:endParaRPr lang="en-US" sz="641" dirty="0"/>
          </a:p>
        </p:txBody>
      </p:sp>
      <p:sp>
        <p:nvSpPr>
          <p:cNvPr id="20" name="Text 18"/>
          <p:cNvSpPr/>
          <p:nvPr/>
        </p:nvSpPr>
        <p:spPr>
          <a:xfrm>
            <a:off x="4933950" y="1676400"/>
            <a:ext cx="1314450" cy="171450"/>
          </a:xfrm>
          <a:prstGeom prst="rect">
            <a:avLst/>
          </a:prstGeom>
          <a:noFill/>
          <a:ln/>
        </p:spPr>
        <p:txBody>
          <a:bodyPr wrap="square" lIns="0" tIns="0" rIns="0" bIns="0" rtlCol="0" anchor="t"/>
          <a:lstStyle/>
          <a:p>
            <a:pPr marL="0" indent="0" algn="l">
              <a:lnSpc>
                <a:spcPts val="1293"/>
              </a:lnSpc>
              <a:buNone/>
            </a:pPr>
            <a:r>
              <a:rPr lang="en-US" sz="1069" b="1" dirty="0">
                <a:solidFill>
                  <a:srgbClr val="121726">
                    <a:alpha val="99000"/>
                  </a:srgbClr>
                </a:solidFill>
                <a:latin typeface="Inter" pitchFamily="34" charset="0"/>
                <a:ea typeface="Inter" pitchFamily="34" charset="-122"/>
                <a:cs typeface="Inter" pitchFamily="34" charset="-120"/>
              </a:rPr>
              <a:t>Monetise</a:t>
            </a:r>
            <a:endParaRPr lang="en-US" sz="1069" dirty="0"/>
          </a:p>
        </p:txBody>
      </p:sp>
      <p:sp>
        <p:nvSpPr>
          <p:cNvPr id="21" name="Text 19"/>
          <p:cNvSpPr/>
          <p:nvPr/>
        </p:nvSpPr>
        <p:spPr>
          <a:xfrm>
            <a:off x="4933950" y="1895475"/>
            <a:ext cx="1314450" cy="400050"/>
          </a:xfrm>
          <a:prstGeom prst="rect">
            <a:avLst/>
          </a:prstGeom>
          <a:noFill/>
          <a:ln/>
        </p:spPr>
        <p:txBody>
          <a:bodyPr wrap="square" lIns="0" tIns="0" rIns="0" bIns="0" rtlCol="0" anchor="t"/>
          <a:lstStyle/>
          <a:p>
            <a:pPr marL="0" indent="0" algn="l">
              <a:lnSpc>
                <a:spcPts val="998"/>
              </a:lnSpc>
              <a:buNone/>
            </a:pPr>
            <a:r>
              <a:rPr lang="en-US" sz="713" dirty="0">
                <a:solidFill>
                  <a:srgbClr val="596378">
                    <a:alpha val="99000"/>
                  </a:srgbClr>
                </a:solidFill>
                <a:latin typeface="Inter" pitchFamily="34" charset="0"/>
                <a:ea typeface="Inter" pitchFamily="34" charset="-122"/>
                <a:cs typeface="Inter" pitchFamily="34" charset="-120"/>
              </a:rPr>
              <a:t>Attention earns money via ads, TikTok Shop and subscriptions</a:t>
            </a:r>
            <a:endParaRPr lang="en-US" sz="713" dirty="0"/>
          </a:p>
        </p:txBody>
      </p:sp>
      <p:sp>
        <p:nvSpPr>
          <p:cNvPr id="22" name="Text 20"/>
          <p:cNvSpPr/>
          <p:nvPr/>
        </p:nvSpPr>
        <p:spPr>
          <a:xfrm>
            <a:off x="6419850" y="1762125"/>
            <a:ext cx="342900" cy="276225"/>
          </a:xfrm>
          <a:prstGeom prst="rect">
            <a:avLst/>
          </a:prstGeom>
          <a:noFill/>
          <a:ln/>
        </p:spPr>
        <p:txBody>
          <a:bodyPr wrap="square" lIns="0" tIns="0" rIns="0" bIns="0" rtlCol="0" anchor="t"/>
          <a:lstStyle/>
          <a:p>
            <a:pPr marL="0" indent="0" algn="ctr">
              <a:lnSpc>
                <a:spcPts val="2069"/>
              </a:lnSpc>
              <a:buNone/>
            </a:pPr>
            <a:r>
              <a:rPr lang="en-US" sz="1710" b="1" dirty="0">
                <a:solidFill>
                  <a:srgbClr val="FE2C55">
                    <a:alpha val="99000"/>
                  </a:srgbClr>
                </a:solidFill>
                <a:latin typeface="Inter" pitchFamily="34" charset="0"/>
                <a:ea typeface="Inter" pitchFamily="34" charset="-122"/>
                <a:cs typeface="Inter" pitchFamily="34" charset="-120"/>
              </a:rPr>
              <a:t>→</a:t>
            </a:r>
            <a:endParaRPr lang="en-US" sz="1710" dirty="0"/>
          </a:p>
        </p:txBody>
      </p:sp>
      <p:sp>
        <p:nvSpPr>
          <p:cNvPr id="23" name="Shape 21"/>
          <p:cNvSpPr/>
          <p:nvPr/>
        </p:nvSpPr>
        <p:spPr>
          <a:xfrm>
            <a:off x="6781800" y="1381125"/>
            <a:ext cx="1619250" cy="1047750"/>
          </a:xfrm>
          <a:prstGeom prst="roundRect">
            <a:avLst>
              <a:gd name="adj" fmla="val 17455"/>
            </a:avLst>
          </a:prstGeom>
          <a:solidFill>
            <a:srgbClr val="0B1223"/>
          </a:solidFill>
          <a:ln/>
        </p:spPr>
      </p:sp>
      <p:sp>
        <p:nvSpPr>
          <p:cNvPr id="24" name="Text 22"/>
          <p:cNvSpPr/>
          <p:nvPr/>
        </p:nvSpPr>
        <p:spPr>
          <a:xfrm>
            <a:off x="6934200" y="1524000"/>
            <a:ext cx="352425" cy="104775"/>
          </a:xfrm>
          <a:prstGeom prst="rect">
            <a:avLst/>
          </a:prstGeom>
          <a:noFill/>
          <a:ln/>
        </p:spPr>
        <p:txBody>
          <a:bodyPr wrap="square" lIns="0" tIns="0" rIns="0" bIns="0" rtlCol="0" anchor="t"/>
          <a:lstStyle/>
          <a:p>
            <a:pPr marL="0" indent="0" algn="l">
              <a:lnSpc>
                <a:spcPts val="776"/>
              </a:lnSpc>
              <a:buNone/>
            </a:pPr>
            <a:r>
              <a:rPr lang="en-US" sz="641" b="1" kern="0" spc="77" dirty="0">
                <a:solidFill>
                  <a:srgbClr val="25F4EE">
                    <a:alpha val="99000"/>
                  </a:srgbClr>
                </a:solidFill>
                <a:latin typeface="Inter" pitchFamily="34" charset="0"/>
                <a:ea typeface="Inter" pitchFamily="34" charset="-122"/>
                <a:cs typeface="Inter" pitchFamily="34" charset="-120"/>
              </a:rPr>
              <a:t>STEP 4</a:t>
            </a:r>
            <a:endParaRPr lang="en-US" sz="641" dirty="0"/>
          </a:p>
        </p:txBody>
      </p:sp>
      <p:sp>
        <p:nvSpPr>
          <p:cNvPr id="25" name="Text 23"/>
          <p:cNvSpPr/>
          <p:nvPr/>
        </p:nvSpPr>
        <p:spPr>
          <a:xfrm>
            <a:off x="6934200" y="1676400"/>
            <a:ext cx="1314450" cy="171450"/>
          </a:xfrm>
          <a:prstGeom prst="rect">
            <a:avLst/>
          </a:prstGeom>
          <a:noFill/>
          <a:ln/>
        </p:spPr>
        <p:txBody>
          <a:bodyPr wrap="square" lIns="0" tIns="0" rIns="0" bIns="0" rtlCol="0" anchor="t"/>
          <a:lstStyle/>
          <a:p>
            <a:pPr marL="0" indent="0" algn="l">
              <a:lnSpc>
                <a:spcPts val="1293"/>
              </a:lnSpc>
              <a:buNone/>
            </a:pPr>
            <a:r>
              <a:rPr lang="en-US" sz="1069" b="1" dirty="0">
                <a:solidFill>
                  <a:srgbClr val="FFFFFF">
                    <a:alpha val="99000"/>
                  </a:srgbClr>
                </a:solidFill>
                <a:latin typeface="Inter" pitchFamily="34" charset="0"/>
                <a:ea typeface="Inter" pitchFamily="34" charset="-122"/>
                <a:cs typeface="Inter" pitchFamily="34" charset="-120"/>
              </a:rPr>
              <a:t>Reinvest</a:t>
            </a:r>
            <a:endParaRPr lang="en-US" sz="1069" dirty="0"/>
          </a:p>
        </p:txBody>
      </p:sp>
      <p:sp>
        <p:nvSpPr>
          <p:cNvPr id="26" name="Text 24"/>
          <p:cNvSpPr/>
          <p:nvPr/>
        </p:nvSpPr>
        <p:spPr>
          <a:xfrm>
            <a:off x="6934200" y="1895475"/>
            <a:ext cx="1314450" cy="266700"/>
          </a:xfrm>
          <a:prstGeom prst="rect">
            <a:avLst/>
          </a:prstGeom>
          <a:noFill/>
          <a:ln/>
        </p:spPr>
        <p:txBody>
          <a:bodyPr wrap="square" lIns="0" tIns="0" rIns="0" bIns="0" rtlCol="0" anchor="t"/>
          <a:lstStyle/>
          <a:p>
            <a:pPr marL="0" indent="0" algn="l">
              <a:lnSpc>
                <a:spcPts val="998"/>
              </a:lnSpc>
              <a:buNone/>
            </a:pPr>
            <a:r>
              <a:rPr lang="en-US" sz="713" dirty="0">
                <a:solidFill>
                  <a:srgbClr val="A8B5CC">
                    <a:alpha val="99000"/>
                  </a:srgbClr>
                </a:solidFill>
                <a:latin typeface="Inter" pitchFamily="34" charset="0"/>
                <a:ea typeface="Inter" pitchFamily="34" charset="-122"/>
                <a:cs typeface="Inter" pitchFamily="34" charset="-120"/>
              </a:rPr>
              <a:t>Profits are reinvested into AI models and data centres</a:t>
            </a:r>
            <a:endParaRPr lang="en-US" sz="713" dirty="0"/>
          </a:p>
        </p:txBody>
      </p:sp>
      <p:sp>
        <p:nvSpPr>
          <p:cNvPr id="27" name="Text 25"/>
          <p:cNvSpPr/>
          <p:nvPr/>
        </p:nvSpPr>
        <p:spPr>
          <a:xfrm>
            <a:off x="781050" y="2562225"/>
            <a:ext cx="7620000" cy="128588"/>
          </a:xfrm>
          <a:prstGeom prst="rect">
            <a:avLst/>
          </a:prstGeom>
          <a:noFill/>
          <a:ln/>
        </p:spPr>
        <p:txBody>
          <a:bodyPr wrap="square" lIns="0" tIns="0" rIns="0" bIns="0" rtlCol="0" anchor="t"/>
          <a:lstStyle/>
          <a:p>
            <a:pPr marL="0" indent="0" algn="ctr">
              <a:lnSpc>
                <a:spcPts val="949"/>
              </a:lnSpc>
              <a:buNone/>
            </a:pPr>
            <a:r>
              <a:rPr lang="en-US" sz="784" dirty="0">
                <a:solidFill>
                  <a:srgbClr val="00999E">
                    <a:alpha val="99000"/>
                  </a:srgbClr>
                </a:solidFill>
                <a:latin typeface="Inter" pitchFamily="34" charset="0"/>
                <a:ea typeface="Inter" pitchFamily="34" charset="-122"/>
                <a:cs typeface="Inter" pitchFamily="34" charset="-120"/>
              </a:rPr>
              <a:t>↻  A flywheel: better AI → more engagement → more revenue → better AI</a:t>
            </a:r>
            <a:endParaRPr lang="en-US" sz="784" dirty="0"/>
          </a:p>
        </p:txBody>
      </p:sp>
      <p:sp>
        <p:nvSpPr>
          <p:cNvPr id="28" name="Shape 26"/>
          <p:cNvSpPr/>
          <p:nvPr/>
        </p:nvSpPr>
        <p:spPr>
          <a:xfrm>
            <a:off x="781050" y="2905125"/>
            <a:ext cx="2476500" cy="1666875"/>
          </a:xfrm>
          <a:prstGeom prst="roundRect">
            <a:avLst>
              <a:gd name="adj" fmla="val 10971"/>
            </a:avLst>
          </a:prstGeom>
          <a:solidFill>
            <a:srgbClr val="FFFFFF"/>
          </a:solidFill>
          <a:ln/>
        </p:spPr>
      </p:sp>
      <p:sp>
        <p:nvSpPr>
          <p:cNvPr id="29" name="Text 27"/>
          <p:cNvSpPr/>
          <p:nvPr/>
        </p:nvSpPr>
        <p:spPr>
          <a:xfrm>
            <a:off x="952500" y="3067050"/>
            <a:ext cx="871538" cy="114300"/>
          </a:xfrm>
          <a:prstGeom prst="rect">
            <a:avLst/>
          </a:prstGeom>
          <a:noFill/>
          <a:ln/>
        </p:spPr>
        <p:txBody>
          <a:bodyPr wrap="square" lIns="0" tIns="0" rIns="0" bIns="0" rtlCol="0" anchor="t"/>
          <a:lstStyle/>
          <a:p>
            <a:pPr marL="0" indent="0" algn="l">
              <a:lnSpc>
                <a:spcPts val="862"/>
              </a:lnSpc>
              <a:buNone/>
            </a:pPr>
            <a:r>
              <a:rPr lang="en-US" sz="713" b="1" kern="0" spc="85" dirty="0">
                <a:solidFill>
                  <a:srgbClr val="FE2C55">
                    <a:alpha val="99000"/>
                  </a:srgbClr>
                </a:solidFill>
                <a:latin typeface="Inter" pitchFamily="34" charset="0"/>
                <a:ea typeface="Inter" pitchFamily="34" charset="-122"/>
                <a:cs typeface="Inter" pitchFamily="34" charset="-120"/>
              </a:rPr>
              <a:t>KEY PRODUCTS</a:t>
            </a:r>
            <a:endParaRPr lang="en-US" sz="713" dirty="0"/>
          </a:p>
        </p:txBody>
      </p:sp>
      <p:sp>
        <p:nvSpPr>
          <p:cNvPr id="30" name="Text 28"/>
          <p:cNvSpPr/>
          <p:nvPr/>
        </p:nvSpPr>
        <p:spPr>
          <a:xfrm>
            <a:off x="952500" y="3276600"/>
            <a:ext cx="2133600" cy="857250"/>
          </a:xfrm>
          <a:prstGeom prst="rect">
            <a:avLst/>
          </a:prstGeom>
          <a:noFill/>
          <a:ln/>
        </p:spPr>
        <p:txBody>
          <a:bodyPr wrap="square" lIns="0" tIns="0" rIns="0" bIns="0" rtlCol="0" anchor="t"/>
          <a:lstStyle/>
          <a:p>
            <a:pPr marL="0" indent="0" algn="l">
              <a:lnSpc>
                <a:spcPts val="1283"/>
              </a:lnSpc>
              <a:buNone/>
            </a:pPr>
            <a:r>
              <a:rPr lang="en-US" sz="855" dirty="0">
                <a:solidFill>
                  <a:srgbClr val="121726">
                    <a:alpha val="99000"/>
                  </a:srgbClr>
                </a:solidFill>
                <a:latin typeface="Inter" pitchFamily="34" charset="0"/>
                <a:ea typeface="Inter" pitchFamily="34" charset="-122"/>
                <a:cs typeface="Inter" pitchFamily="34" charset="-120"/>
              </a:rPr>
              <a:t>TikTok · CapCut · TikTok Shop</a:t>
            </a:r>
            <a:endParaRPr lang="en-US" sz="855" dirty="0"/>
          </a:p>
          <a:p>
            <a:pPr marL="0" indent="0" algn="l">
              <a:lnSpc>
                <a:spcPts val="1283"/>
              </a:lnSpc>
              <a:buNone/>
            </a:pPr>
            <a:r>
              <a:rPr lang="en-US" sz="855" dirty="0">
                <a:solidFill>
                  <a:srgbClr val="121726">
                    <a:alpha val="99000"/>
                  </a:srgbClr>
                </a:solidFill>
                <a:latin typeface="Inter" pitchFamily="34" charset="0"/>
                <a:ea typeface="Inter" pitchFamily="34" charset="-122"/>
                <a:cs typeface="Inter" pitchFamily="34" charset="-120"/>
              </a:rPr>
              <a:t>Lark · Pico · Douyin · Toutiao</a:t>
            </a:r>
            <a:endParaRPr lang="en-US" sz="855" dirty="0"/>
          </a:p>
          <a:p>
            <a:pPr marL="0" indent="0" algn="l">
              <a:lnSpc>
                <a:spcPts val="1283"/>
              </a:lnSpc>
              <a:buNone/>
            </a:pPr>
            <a:r>
              <a:rPr lang="en-US" sz="855" dirty="0">
                <a:solidFill>
                  <a:srgbClr val="121726">
                    <a:alpha val="99000"/>
                  </a:srgbClr>
                </a:solidFill>
                <a:latin typeface="Inter" pitchFamily="34" charset="0"/>
                <a:ea typeface="Inter" pitchFamily="34" charset="-122"/>
                <a:cs typeface="Inter" pitchFamily="34" charset="-120"/>
              </a:rPr>
              <a:t>Doubao AI assistant</a:t>
            </a:r>
            <a:endParaRPr lang="en-US" sz="855" dirty="0"/>
          </a:p>
          <a:p>
            <a:pPr marL="0" indent="0" algn="l">
              <a:lnSpc>
                <a:spcPts val="1283"/>
              </a:lnSpc>
              <a:buNone/>
            </a:pPr>
            <a:r>
              <a:rPr lang="en-US" sz="855" dirty="0">
                <a:solidFill>
                  <a:srgbClr val="121726">
                    <a:alpha val="99000"/>
                  </a:srgbClr>
                </a:solidFill>
                <a:latin typeface="Inter" pitchFamily="34" charset="0"/>
                <a:ea typeface="Inter" pitchFamily="34" charset="-122"/>
                <a:cs typeface="Inter" pitchFamily="34" charset="-120"/>
              </a:rPr>
              <a:t>Seedance video model</a:t>
            </a:r>
            <a:endParaRPr lang="en-US" sz="855" dirty="0"/>
          </a:p>
          <a:p>
            <a:pPr marL="0" indent="0" algn="l">
              <a:lnSpc>
                <a:spcPts val="1283"/>
              </a:lnSpc>
              <a:buNone/>
            </a:pPr>
            <a:r>
              <a:rPr lang="en-US" sz="855" dirty="0">
                <a:solidFill>
                  <a:srgbClr val="121726">
                    <a:alpha val="99000"/>
                  </a:srgbClr>
                </a:solidFill>
                <a:latin typeface="Inter" pitchFamily="34" charset="0"/>
                <a:ea typeface="Inter" pitchFamily="34" charset="-122"/>
                <a:cs typeface="Inter" pitchFamily="34" charset="-120"/>
              </a:rPr>
              <a:t>Volcano Engine cloud</a:t>
            </a:r>
            <a:endParaRPr lang="en-US" sz="855" dirty="0"/>
          </a:p>
        </p:txBody>
      </p:sp>
      <p:sp>
        <p:nvSpPr>
          <p:cNvPr id="31" name="Shape 29"/>
          <p:cNvSpPr/>
          <p:nvPr/>
        </p:nvSpPr>
        <p:spPr>
          <a:xfrm>
            <a:off x="3333750" y="2905125"/>
            <a:ext cx="2476500" cy="1666875"/>
          </a:xfrm>
          <a:prstGeom prst="roundRect">
            <a:avLst>
              <a:gd name="adj" fmla="val 10971"/>
            </a:avLst>
          </a:prstGeom>
          <a:solidFill>
            <a:srgbClr val="FFFFFF"/>
          </a:solidFill>
          <a:ln/>
        </p:spPr>
      </p:sp>
      <p:sp>
        <p:nvSpPr>
          <p:cNvPr id="32" name="Text 30"/>
          <p:cNvSpPr/>
          <p:nvPr/>
        </p:nvSpPr>
        <p:spPr>
          <a:xfrm>
            <a:off x="3505200" y="3067050"/>
            <a:ext cx="1038225" cy="114300"/>
          </a:xfrm>
          <a:prstGeom prst="rect">
            <a:avLst/>
          </a:prstGeom>
          <a:noFill/>
          <a:ln/>
        </p:spPr>
        <p:txBody>
          <a:bodyPr wrap="square" lIns="0" tIns="0" rIns="0" bIns="0" rtlCol="0" anchor="t"/>
          <a:lstStyle/>
          <a:p>
            <a:pPr marL="0" indent="0" algn="l">
              <a:lnSpc>
                <a:spcPts val="862"/>
              </a:lnSpc>
              <a:buNone/>
            </a:pPr>
            <a:r>
              <a:rPr lang="en-US" sz="713" b="1" kern="0" spc="85" dirty="0">
                <a:solidFill>
                  <a:srgbClr val="00999E">
                    <a:alpha val="99000"/>
                  </a:srgbClr>
                </a:solidFill>
                <a:latin typeface="Inter" pitchFamily="34" charset="0"/>
                <a:ea typeface="Inter" pitchFamily="34" charset="-122"/>
                <a:cs typeface="Inter" pitchFamily="34" charset="-120"/>
              </a:rPr>
              <a:t>FINANCIALS (US$)</a:t>
            </a:r>
            <a:endParaRPr lang="en-US" sz="713" dirty="0"/>
          </a:p>
        </p:txBody>
      </p:sp>
      <p:sp>
        <p:nvSpPr>
          <p:cNvPr id="33" name="Text 31"/>
          <p:cNvSpPr/>
          <p:nvPr/>
        </p:nvSpPr>
        <p:spPr>
          <a:xfrm>
            <a:off x="3505200" y="3305175"/>
            <a:ext cx="1095375" cy="128588"/>
          </a:xfrm>
          <a:prstGeom prst="rect">
            <a:avLst/>
          </a:prstGeom>
          <a:noFill/>
          <a:ln/>
        </p:spPr>
        <p:txBody>
          <a:bodyPr wrap="square" lIns="0" tIns="0" rIns="0" bIns="0" rtlCol="0" anchor="t"/>
          <a:lstStyle/>
          <a:p>
            <a:pPr marL="0" indent="0" algn="l">
              <a:lnSpc>
                <a:spcPts val="949"/>
              </a:lnSpc>
              <a:buNone/>
            </a:pPr>
            <a:r>
              <a:rPr lang="en-US" sz="784" dirty="0">
                <a:solidFill>
                  <a:srgbClr val="596378">
                    <a:alpha val="99000"/>
                  </a:srgbClr>
                </a:solidFill>
                <a:latin typeface="Inter" pitchFamily="34" charset="0"/>
                <a:ea typeface="Inter" pitchFamily="34" charset="-122"/>
                <a:cs typeface="Inter" pitchFamily="34" charset="-120"/>
              </a:rPr>
              <a:t>2024 revenue</a:t>
            </a:r>
            <a:endParaRPr lang="en-US" sz="784" dirty="0"/>
          </a:p>
        </p:txBody>
      </p:sp>
      <p:sp>
        <p:nvSpPr>
          <p:cNvPr id="34" name="Text 32"/>
          <p:cNvSpPr/>
          <p:nvPr/>
        </p:nvSpPr>
        <p:spPr>
          <a:xfrm>
            <a:off x="4552950" y="3295650"/>
            <a:ext cx="1085850" cy="147638"/>
          </a:xfrm>
          <a:prstGeom prst="rect">
            <a:avLst/>
          </a:prstGeom>
          <a:noFill/>
          <a:ln/>
        </p:spPr>
        <p:txBody>
          <a:bodyPr wrap="square" lIns="0" tIns="0" rIns="0" bIns="0" rtlCol="0" anchor="t"/>
          <a:lstStyle/>
          <a:p>
            <a:pPr marL="0" indent="0" algn="r">
              <a:lnSpc>
                <a:spcPts val="1121"/>
              </a:lnSpc>
              <a:buNone/>
            </a:pPr>
            <a:r>
              <a:rPr lang="en-US" sz="926" b="1" dirty="0">
                <a:solidFill>
                  <a:srgbClr val="121726">
                    <a:alpha val="99000"/>
                  </a:srgbClr>
                </a:solidFill>
                <a:latin typeface="Inter" pitchFamily="34" charset="0"/>
                <a:ea typeface="Inter" pitchFamily="34" charset="-122"/>
                <a:cs typeface="Inter" pitchFamily="34" charset="-120"/>
              </a:rPr>
              <a:t>$155B</a:t>
            </a:r>
            <a:endParaRPr lang="en-US" sz="926" dirty="0"/>
          </a:p>
        </p:txBody>
      </p:sp>
      <p:sp>
        <p:nvSpPr>
          <p:cNvPr id="35" name="Shape 33"/>
          <p:cNvSpPr/>
          <p:nvPr/>
        </p:nvSpPr>
        <p:spPr>
          <a:xfrm>
            <a:off x="3505200" y="3505200"/>
            <a:ext cx="2133600" cy="4763"/>
          </a:xfrm>
          <a:prstGeom prst="rect">
            <a:avLst/>
          </a:prstGeom>
          <a:solidFill>
            <a:srgbClr val="D9DEE8"/>
          </a:solidFill>
          <a:ln/>
        </p:spPr>
      </p:sp>
      <p:sp>
        <p:nvSpPr>
          <p:cNvPr id="36" name="Text 34"/>
          <p:cNvSpPr/>
          <p:nvPr/>
        </p:nvSpPr>
        <p:spPr>
          <a:xfrm>
            <a:off x="3505200" y="3571875"/>
            <a:ext cx="1095375" cy="128588"/>
          </a:xfrm>
          <a:prstGeom prst="rect">
            <a:avLst/>
          </a:prstGeom>
          <a:noFill/>
          <a:ln/>
        </p:spPr>
        <p:txBody>
          <a:bodyPr wrap="square" lIns="0" tIns="0" rIns="0" bIns="0" rtlCol="0" anchor="t"/>
          <a:lstStyle/>
          <a:p>
            <a:pPr marL="0" indent="0" algn="l">
              <a:lnSpc>
                <a:spcPts val="949"/>
              </a:lnSpc>
              <a:buNone/>
            </a:pPr>
            <a:r>
              <a:rPr lang="en-US" sz="784" dirty="0">
                <a:solidFill>
                  <a:srgbClr val="596378">
                    <a:alpha val="99000"/>
                  </a:srgbClr>
                </a:solidFill>
                <a:latin typeface="Inter" pitchFamily="34" charset="0"/>
                <a:ea typeface="Inter" pitchFamily="34" charset="-122"/>
                <a:cs typeface="Inter" pitchFamily="34" charset="-120"/>
              </a:rPr>
              <a:t>2025 revenue</a:t>
            </a:r>
            <a:endParaRPr lang="en-US" sz="784" dirty="0"/>
          </a:p>
        </p:txBody>
      </p:sp>
      <p:sp>
        <p:nvSpPr>
          <p:cNvPr id="37" name="Text 35"/>
          <p:cNvSpPr/>
          <p:nvPr/>
        </p:nvSpPr>
        <p:spPr>
          <a:xfrm>
            <a:off x="4552950" y="3562350"/>
            <a:ext cx="1085850" cy="147638"/>
          </a:xfrm>
          <a:prstGeom prst="rect">
            <a:avLst/>
          </a:prstGeom>
          <a:noFill/>
          <a:ln/>
        </p:spPr>
        <p:txBody>
          <a:bodyPr wrap="square" lIns="0" tIns="0" rIns="0" bIns="0" rtlCol="0" anchor="t"/>
          <a:lstStyle/>
          <a:p>
            <a:pPr marL="0" indent="0" algn="r">
              <a:lnSpc>
                <a:spcPts val="1121"/>
              </a:lnSpc>
              <a:buNone/>
            </a:pPr>
            <a:r>
              <a:rPr lang="en-US" sz="926" b="1" dirty="0">
                <a:solidFill>
                  <a:srgbClr val="121726">
                    <a:alpha val="99000"/>
                  </a:srgbClr>
                </a:solidFill>
                <a:latin typeface="Inter" pitchFamily="34" charset="0"/>
                <a:ea typeface="Inter" pitchFamily="34" charset="-122"/>
                <a:cs typeface="Inter" pitchFamily="34" charset="-120"/>
              </a:rPr>
              <a:t>~$186–200B</a:t>
            </a:r>
            <a:endParaRPr lang="en-US" sz="926" dirty="0"/>
          </a:p>
        </p:txBody>
      </p:sp>
      <p:sp>
        <p:nvSpPr>
          <p:cNvPr id="38" name="Shape 36"/>
          <p:cNvSpPr/>
          <p:nvPr/>
        </p:nvSpPr>
        <p:spPr>
          <a:xfrm>
            <a:off x="3505200" y="3771900"/>
            <a:ext cx="2133600" cy="4763"/>
          </a:xfrm>
          <a:prstGeom prst="rect">
            <a:avLst/>
          </a:prstGeom>
          <a:solidFill>
            <a:srgbClr val="D9DEE8"/>
          </a:solidFill>
          <a:ln/>
        </p:spPr>
      </p:sp>
      <p:sp>
        <p:nvSpPr>
          <p:cNvPr id="39" name="Text 37"/>
          <p:cNvSpPr/>
          <p:nvPr/>
        </p:nvSpPr>
        <p:spPr>
          <a:xfrm>
            <a:off x="3505200" y="3838575"/>
            <a:ext cx="1095375" cy="128588"/>
          </a:xfrm>
          <a:prstGeom prst="rect">
            <a:avLst/>
          </a:prstGeom>
          <a:noFill/>
          <a:ln/>
        </p:spPr>
        <p:txBody>
          <a:bodyPr wrap="square" lIns="0" tIns="0" rIns="0" bIns="0" rtlCol="0" anchor="t"/>
          <a:lstStyle/>
          <a:p>
            <a:pPr marL="0" indent="0" algn="l">
              <a:lnSpc>
                <a:spcPts val="949"/>
              </a:lnSpc>
              <a:buNone/>
            </a:pPr>
            <a:r>
              <a:rPr lang="en-US" sz="784" dirty="0">
                <a:solidFill>
                  <a:srgbClr val="596378">
                    <a:alpha val="99000"/>
                  </a:srgbClr>
                </a:solidFill>
                <a:latin typeface="Inter" pitchFamily="34" charset="0"/>
                <a:ea typeface="Inter" pitchFamily="34" charset="-122"/>
                <a:cs typeface="Inter" pitchFamily="34" charset="-120"/>
              </a:rPr>
              <a:t>H1 2026 revenue</a:t>
            </a:r>
            <a:endParaRPr lang="en-US" sz="784" dirty="0"/>
          </a:p>
        </p:txBody>
      </p:sp>
      <p:sp>
        <p:nvSpPr>
          <p:cNvPr id="40" name="Text 38"/>
          <p:cNvSpPr/>
          <p:nvPr/>
        </p:nvSpPr>
        <p:spPr>
          <a:xfrm>
            <a:off x="4552950" y="3829050"/>
            <a:ext cx="1085850" cy="147638"/>
          </a:xfrm>
          <a:prstGeom prst="rect">
            <a:avLst/>
          </a:prstGeom>
          <a:noFill/>
          <a:ln/>
        </p:spPr>
        <p:txBody>
          <a:bodyPr wrap="square" lIns="0" tIns="0" rIns="0" bIns="0" rtlCol="0" anchor="t"/>
          <a:lstStyle/>
          <a:p>
            <a:pPr marL="0" indent="0" algn="r">
              <a:lnSpc>
                <a:spcPts val="1121"/>
              </a:lnSpc>
              <a:buNone/>
            </a:pPr>
            <a:r>
              <a:rPr lang="en-US" sz="926" b="1" dirty="0">
                <a:solidFill>
                  <a:srgbClr val="121726">
                    <a:alpha val="99000"/>
                  </a:srgbClr>
                </a:solidFill>
                <a:latin typeface="Inter" pitchFamily="34" charset="0"/>
                <a:ea typeface="Inter" pitchFamily="34" charset="-122"/>
                <a:cs typeface="Inter" pitchFamily="34" charset="-120"/>
              </a:rPr>
              <a:t>~$120B (+30%)</a:t>
            </a:r>
            <a:endParaRPr lang="en-US" sz="926" dirty="0"/>
          </a:p>
        </p:txBody>
      </p:sp>
      <p:sp>
        <p:nvSpPr>
          <p:cNvPr id="41" name="Shape 39"/>
          <p:cNvSpPr/>
          <p:nvPr/>
        </p:nvSpPr>
        <p:spPr>
          <a:xfrm>
            <a:off x="3505200" y="4038600"/>
            <a:ext cx="2133600" cy="4763"/>
          </a:xfrm>
          <a:prstGeom prst="rect">
            <a:avLst/>
          </a:prstGeom>
          <a:solidFill>
            <a:srgbClr val="D9DEE8"/>
          </a:solidFill>
          <a:ln/>
        </p:spPr>
      </p:sp>
      <p:sp>
        <p:nvSpPr>
          <p:cNvPr id="42" name="Text 40"/>
          <p:cNvSpPr/>
          <p:nvPr/>
        </p:nvSpPr>
        <p:spPr>
          <a:xfrm>
            <a:off x="3505200" y="4105275"/>
            <a:ext cx="1095375" cy="128588"/>
          </a:xfrm>
          <a:prstGeom prst="rect">
            <a:avLst/>
          </a:prstGeom>
          <a:noFill/>
          <a:ln/>
        </p:spPr>
        <p:txBody>
          <a:bodyPr wrap="square" lIns="0" tIns="0" rIns="0" bIns="0" rtlCol="0" anchor="t"/>
          <a:lstStyle/>
          <a:p>
            <a:pPr marL="0" indent="0" algn="l">
              <a:lnSpc>
                <a:spcPts val="949"/>
              </a:lnSpc>
              <a:buNone/>
            </a:pPr>
            <a:r>
              <a:rPr lang="en-US" sz="784" dirty="0">
                <a:solidFill>
                  <a:srgbClr val="596378">
                    <a:alpha val="99000"/>
                  </a:srgbClr>
                </a:solidFill>
                <a:latin typeface="Inter" pitchFamily="34" charset="0"/>
                <a:ea typeface="Inter" pitchFamily="34" charset="-122"/>
                <a:cs typeface="Inter" pitchFamily="34" charset="-120"/>
              </a:rPr>
              <a:t>H1 2026 net profit</a:t>
            </a:r>
            <a:endParaRPr lang="en-US" sz="784" dirty="0"/>
          </a:p>
        </p:txBody>
      </p:sp>
      <p:sp>
        <p:nvSpPr>
          <p:cNvPr id="43" name="Text 41"/>
          <p:cNvSpPr/>
          <p:nvPr/>
        </p:nvSpPr>
        <p:spPr>
          <a:xfrm>
            <a:off x="4552950" y="4095750"/>
            <a:ext cx="1085850" cy="147638"/>
          </a:xfrm>
          <a:prstGeom prst="rect">
            <a:avLst/>
          </a:prstGeom>
          <a:noFill/>
          <a:ln/>
        </p:spPr>
        <p:txBody>
          <a:bodyPr wrap="square" lIns="0" tIns="0" rIns="0" bIns="0" rtlCol="0" anchor="t"/>
          <a:lstStyle/>
          <a:p>
            <a:pPr marL="0" indent="0" algn="r">
              <a:lnSpc>
                <a:spcPts val="1121"/>
              </a:lnSpc>
              <a:buNone/>
            </a:pPr>
            <a:r>
              <a:rPr lang="en-US" sz="926" b="1" dirty="0">
                <a:solidFill>
                  <a:srgbClr val="FE2C55">
                    <a:alpha val="99000"/>
                  </a:srgbClr>
                </a:solidFill>
                <a:latin typeface="Inter" pitchFamily="34" charset="0"/>
                <a:ea typeface="Inter" pitchFamily="34" charset="-122"/>
                <a:cs typeface="Inter" pitchFamily="34" charset="-120"/>
              </a:rPr>
              <a:t>~$20B</a:t>
            </a:r>
            <a:endParaRPr lang="en-US" sz="926" dirty="0"/>
          </a:p>
        </p:txBody>
      </p:sp>
      <p:sp>
        <p:nvSpPr>
          <p:cNvPr id="44" name="Text 42"/>
          <p:cNvSpPr/>
          <p:nvPr/>
        </p:nvSpPr>
        <p:spPr>
          <a:xfrm>
            <a:off x="3505200" y="4391025"/>
            <a:ext cx="2133600" cy="90488"/>
          </a:xfrm>
          <a:prstGeom prst="rect">
            <a:avLst/>
          </a:prstGeom>
          <a:noFill/>
          <a:ln/>
        </p:spPr>
        <p:txBody>
          <a:bodyPr wrap="square" lIns="0" tIns="0" rIns="0" bIns="0" rtlCol="0" anchor="t"/>
          <a:lstStyle/>
          <a:p>
            <a:pPr marL="0" indent="0" algn="l">
              <a:lnSpc>
                <a:spcPts val="690"/>
              </a:lnSpc>
              <a:buNone/>
            </a:pPr>
            <a:r>
              <a:rPr lang="en-US" sz="570" dirty="0">
                <a:solidFill>
                  <a:srgbClr val="596378">
                    <a:alpha val="99000"/>
                  </a:srgbClr>
                </a:solidFill>
                <a:latin typeface="Inter" pitchFamily="34" charset="0"/>
                <a:ea typeface="Inter" pitchFamily="34" charset="-122"/>
                <a:cs typeface="Inter" pitchFamily="34" charset="-120"/>
              </a:rPr>
              <a:t>Media &amp; analyst estimates, as ByteDance is private</a:t>
            </a:r>
            <a:endParaRPr lang="en-US" sz="570" dirty="0"/>
          </a:p>
        </p:txBody>
      </p:sp>
      <p:sp>
        <p:nvSpPr>
          <p:cNvPr id="45" name="Shape 43"/>
          <p:cNvSpPr/>
          <p:nvPr/>
        </p:nvSpPr>
        <p:spPr>
          <a:xfrm>
            <a:off x="5886450" y="2905125"/>
            <a:ext cx="2476500" cy="1666875"/>
          </a:xfrm>
          <a:prstGeom prst="roundRect">
            <a:avLst>
              <a:gd name="adj" fmla="val 10971"/>
            </a:avLst>
          </a:prstGeom>
          <a:solidFill>
            <a:srgbClr val="0B1223"/>
          </a:solidFill>
          <a:ln/>
        </p:spPr>
      </p:sp>
      <p:sp>
        <p:nvSpPr>
          <p:cNvPr id="46" name="Text 44"/>
          <p:cNvSpPr/>
          <p:nvPr/>
        </p:nvSpPr>
        <p:spPr>
          <a:xfrm>
            <a:off x="6057900" y="3067050"/>
            <a:ext cx="1023938" cy="114300"/>
          </a:xfrm>
          <a:prstGeom prst="rect">
            <a:avLst/>
          </a:prstGeom>
          <a:noFill/>
          <a:ln/>
        </p:spPr>
        <p:txBody>
          <a:bodyPr wrap="square" lIns="0" tIns="0" rIns="0" bIns="0" rtlCol="0" anchor="t"/>
          <a:lstStyle/>
          <a:p>
            <a:pPr marL="0" indent="0" algn="l">
              <a:lnSpc>
                <a:spcPts val="862"/>
              </a:lnSpc>
              <a:buNone/>
            </a:pPr>
            <a:r>
              <a:rPr lang="en-US" sz="713" b="1" kern="0" spc="85" dirty="0">
                <a:solidFill>
                  <a:srgbClr val="25F4EE">
                    <a:alpha val="99000"/>
                  </a:srgbClr>
                </a:solidFill>
                <a:latin typeface="Inter" pitchFamily="34" charset="0"/>
                <a:ea typeface="Inter" pitchFamily="34" charset="-122"/>
                <a:cs typeface="Inter" pitchFamily="34" charset="-120"/>
              </a:rPr>
              <a:t>TIKTOK US (2026)</a:t>
            </a:r>
            <a:endParaRPr lang="en-US" sz="713" dirty="0"/>
          </a:p>
        </p:txBody>
      </p:sp>
      <p:sp>
        <p:nvSpPr>
          <p:cNvPr id="47" name="Text 45"/>
          <p:cNvSpPr/>
          <p:nvPr/>
        </p:nvSpPr>
        <p:spPr>
          <a:xfrm>
            <a:off x="6057900" y="3276600"/>
            <a:ext cx="2133600" cy="833438"/>
          </a:xfrm>
          <a:prstGeom prst="rect">
            <a:avLst/>
          </a:prstGeom>
          <a:noFill/>
          <a:ln/>
        </p:spPr>
        <p:txBody>
          <a:bodyPr wrap="square" lIns="0" tIns="0" rIns="0" bIns="0" rtlCol="0" anchor="t"/>
          <a:lstStyle/>
          <a:p>
            <a:pPr marL="0" indent="0" algn="l">
              <a:lnSpc>
                <a:spcPts val="1240"/>
              </a:lnSpc>
              <a:buNone/>
            </a:pPr>
            <a:r>
              <a:rPr lang="en-US" sz="855" dirty="0">
                <a:solidFill>
                  <a:srgbClr val="FFFFFF">
                    <a:alpha val="99000"/>
                  </a:srgbClr>
                </a:solidFill>
                <a:latin typeface="Inter" pitchFamily="34" charset="0"/>
                <a:ea typeface="Inter" pitchFamily="34" charset="-122"/>
                <a:cs typeface="Inter" pitchFamily="34" charset="-120"/>
              </a:rPr>
              <a:t>The US business moved into a joint venture valued at ~$14B. ByteDance keeps 19.9%; Oracle, Silver Lake and MGX hold 15% each. ByteDance still runs ads and TikTok Shop.</a:t>
            </a:r>
            <a:endParaRPr lang="en-US" sz="85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8FC"/>
        </a:solidFill>
        <a:effectLst/>
      </p:bgPr>
    </p:bg>
    <p:spTree>
      <p:nvGrpSpPr>
        <p:cNvPr id="1" name=""/>
        <p:cNvGrpSpPr/>
        <p:nvPr/>
      </p:nvGrpSpPr>
      <p:grpSpPr>
        <a:xfrm>
          <a:off x="0" y="0"/>
          <a:ext cx="0" cy="0"/>
          <a:chOff x="0" y="0"/>
          <a:chExt cx="0" cy="0"/>
        </a:xfrm>
      </p:grpSpPr>
      <p:sp>
        <p:nvSpPr>
          <p:cNvPr id="2" name="Shape 0"/>
          <p:cNvSpPr/>
          <p:nvPr/>
        </p:nvSpPr>
        <p:spPr>
          <a:xfrm>
            <a:off x="571500" y="533400"/>
            <a:ext cx="38100" cy="285750"/>
          </a:xfrm>
          <a:prstGeom prst="rect">
            <a:avLst/>
          </a:prstGeom>
          <a:solidFill>
            <a:srgbClr val="25F4EE"/>
          </a:solidFill>
          <a:ln/>
        </p:spPr>
      </p:sp>
      <p:sp>
        <p:nvSpPr>
          <p:cNvPr id="3" name="Shape 1"/>
          <p:cNvSpPr/>
          <p:nvPr/>
        </p:nvSpPr>
        <p:spPr>
          <a:xfrm>
            <a:off x="638175" y="571500"/>
            <a:ext cx="38100" cy="285750"/>
          </a:xfrm>
          <a:prstGeom prst="rect">
            <a:avLst/>
          </a:prstGeom>
          <a:solidFill>
            <a:srgbClr val="FE2C55"/>
          </a:solidFill>
          <a:ln/>
        </p:spPr>
      </p:sp>
      <p:sp>
        <p:nvSpPr>
          <p:cNvPr id="4" name="Text 2"/>
          <p:cNvSpPr/>
          <p:nvPr/>
        </p:nvSpPr>
        <p:spPr>
          <a:xfrm>
            <a:off x="781050" y="514350"/>
            <a:ext cx="628650" cy="128588"/>
          </a:xfrm>
          <a:prstGeom prst="rect">
            <a:avLst/>
          </a:prstGeom>
          <a:noFill/>
          <a:ln/>
        </p:spPr>
        <p:txBody>
          <a:bodyPr wrap="square" lIns="0" tIns="0" rIns="0" bIns="0" rtlCol="0" anchor="t"/>
          <a:lstStyle/>
          <a:p>
            <a:pPr marL="0" indent="0" algn="l">
              <a:lnSpc>
                <a:spcPts val="949"/>
              </a:lnSpc>
              <a:buNone/>
            </a:pPr>
            <a:r>
              <a:rPr lang="en-US" sz="784" b="1" kern="0" spc="94" dirty="0">
                <a:solidFill>
                  <a:srgbClr val="FE2C55">
                    <a:alpha val="99000"/>
                  </a:srgbClr>
                </a:solidFill>
                <a:latin typeface="Inter" pitchFamily="34" charset="0"/>
                <a:ea typeface="Inter" pitchFamily="34" charset="-122"/>
                <a:cs typeface="Inter" pitchFamily="34" charset="-120"/>
              </a:rPr>
              <a:t>MY VIEWS</a:t>
            </a:r>
            <a:endParaRPr lang="en-US" sz="784" dirty="0"/>
          </a:p>
        </p:txBody>
      </p:sp>
      <p:sp>
        <p:nvSpPr>
          <p:cNvPr id="5" name="Text 3"/>
          <p:cNvSpPr/>
          <p:nvPr/>
        </p:nvSpPr>
        <p:spPr>
          <a:xfrm>
            <a:off x="781050" y="666750"/>
            <a:ext cx="7429500" cy="314325"/>
          </a:xfrm>
          <a:prstGeom prst="rect">
            <a:avLst/>
          </a:prstGeom>
          <a:noFill/>
          <a:ln/>
        </p:spPr>
        <p:txBody>
          <a:bodyPr wrap="square" lIns="0" tIns="0" rIns="0" bIns="0" rtlCol="0" anchor="t"/>
          <a:lstStyle/>
          <a:p>
            <a:pPr marL="0" indent="0" algn="l">
              <a:lnSpc>
                <a:spcPts val="2351"/>
              </a:lnSpc>
              <a:buNone/>
            </a:pPr>
            <a:r>
              <a:rPr lang="en-US" sz="2138" b="1" dirty="0">
                <a:solidFill>
                  <a:srgbClr val="121726">
                    <a:alpha val="99000"/>
                  </a:srgbClr>
                </a:solidFill>
                <a:latin typeface="Inter" pitchFamily="34" charset="0"/>
                <a:ea typeface="Inter" pitchFamily="34" charset="-122"/>
                <a:cs typeface="Inter" pitchFamily="34" charset="-120"/>
              </a:rPr>
              <a:t>My views on the company</a:t>
            </a:r>
            <a:endParaRPr lang="en-US" sz="2138" dirty="0"/>
          </a:p>
        </p:txBody>
      </p:sp>
      <p:sp>
        <p:nvSpPr>
          <p:cNvPr id="6" name="Text 4"/>
          <p:cNvSpPr/>
          <p:nvPr/>
        </p:nvSpPr>
        <p:spPr>
          <a:xfrm>
            <a:off x="571500" y="4819650"/>
            <a:ext cx="2547938" cy="104775"/>
          </a:xfrm>
          <a:prstGeom prst="rect">
            <a:avLst/>
          </a:prstGeom>
          <a:noFill/>
          <a:ln/>
        </p:spPr>
        <p:txBody>
          <a:bodyPr wrap="square" lIns="0" tIns="0" rIns="0" bIns="0" rtlCol="0" anchor="t"/>
          <a:lstStyle/>
          <a:p>
            <a:pPr marL="0" indent="0" algn="l">
              <a:lnSpc>
                <a:spcPts val="776"/>
              </a:lnSpc>
              <a:buNone/>
            </a:pPr>
            <a:r>
              <a:rPr lang="en-US" sz="641" dirty="0">
                <a:solidFill>
                  <a:srgbClr val="596378">
                    <a:alpha val="99000"/>
                  </a:srgbClr>
                </a:solidFill>
                <a:latin typeface="Inter" pitchFamily="34" charset="0"/>
                <a:ea typeface="Inter" pitchFamily="34" charset="-122"/>
                <a:cs typeface="Inter" pitchFamily="34" charset="-120"/>
              </a:rPr>
              <a:t>ByteDance  ·  Unicorn Company Case Study  ·  ISE, Semester 7</a:t>
            </a:r>
            <a:endParaRPr lang="en-US" sz="641" dirty="0"/>
          </a:p>
        </p:txBody>
      </p:sp>
      <p:sp>
        <p:nvSpPr>
          <p:cNvPr id="7" name="Text 5"/>
          <p:cNvSpPr/>
          <p:nvPr/>
        </p:nvSpPr>
        <p:spPr>
          <a:xfrm>
            <a:off x="8096250" y="4819650"/>
            <a:ext cx="476250" cy="104775"/>
          </a:xfrm>
          <a:prstGeom prst="rect">
            <a:avLst/>
          </a:prstGeom>
          <a:noFill/>
          <a:ln/>
        </p:spPr>
        <p:txBody>
          <a:bodyPr wrap="square" lIns="0" tIns="0" rIns="0" bIns="0" rtlCol="0" anchor="t"/>
          <a:lstStyle/>
          <a:p>
            <a:pPr marL="0" indent="0" algn="r">
              <a:lnSpc>
                <a:spcPts val="776"/>
              </a:lnSpc>
              <a:buNone/>
            </a:pPr>
            <a:r>
              <a:rPr lang="en-US" sz="641" b="1" dirty="0">
                <a:solidFill>
                  <a:srgbClr val="FE2C55">
                    <a:alpha val="99000"/>
                  </a:srgbClr>
                </a:solidFill>
                <a:latin typeface="Inter" pitchFamily="34" charset="0"/>
                <a:ea typeface="Inter" pitchFamily="34" charset="-122"/>
                <a:cs typeface="Inter" pitchFamily="34" charset="-120"/>
              </a:rPr>
              <a:t>11</a:t>
            </a:r>
            <a:endParaRPr lang="en-US" sz="641" dirty="0"/>
          </a:p>
        </p:txBody>
      </p:sp>
      <p:sp>
        <p:nvSpPr>
          <p:cNvPr id="8" name="Shape 6"/>
          <p:cNvSpPr/>
          <p:nvPr/>
        </p:nvSpPr>
        <p:spPr>
          <a:xfrm>
            <a:off x="571500" y="1381125"/>
            <a:ext cx="3048000" cy="3238500"/>
          </a:xfrm>
          <a:prstGeom prst="roundRect">
            <a:avLst>
              <a:gd name="adj" fmla="val 6000"/>
            </a:avLst>
          </a:prstGeom>
          <a:solidFill>
            <a:srgbClr val="0B1223"/>
          </a:solidFill>
          <a:ln/>
        </p:spPr>
      </p:sp>
      <p:sp>
        <p:nvSpPr>
          <p:cNvPr id="9" name="Shape 7"/>
          <p:cNvSpPr/>
          <p:nvPr/>
        </p:nvSpPr>
        <p:spPr>
          <a:xfrm>
            <a:off x="800100" y="1647825"/>
            <a:ext cx="38100" cy="228600"/>
          </a:xfrm>
          <a:prstGeom prst="rect">
            <a:avLst/>
          </a:prstGeom>
          <a:solidFill>
            <a:srgbClr val="25F4EE"/>
          </a:solidFill>
          <a:ln/>
        </p:spPr>
      </p:sp>
      <p:sp>
        <p:nvSpPr>
          <p:cNvPr id="10" name="Shape 8"/>
          <p:cNvSpPr/>
          <p:nvPr/>
        </p:nvSpPr>
        <p:spPr>
          <a:xfrm>
            <a:off x="866775" y="1685925"/>
            <a:ext cx="38100" cy="228600"/>
          </a:xfrm>
          <a:prstGeom prst="rect">
            <a:avLst/>
          </a:prstGeom>
          <a:solidFill>
            <a:srgbClr val="FE2C55"/>
          </a:solidFill>
          <a:ln/>
        </p:spPr>
      </p:sp>
      <p:sp>
        <p:nvSpPr>
          <p:cNvPr id="11" name="Text 9"/>
          <p:cNvSpPr/>
          <p:nvPr/>
        </p:nvSpPr>
        <p:spPr>
          <a:xfrm>
            <a:off x="1009650" y="1695450"/>
            <a:ext cx="495300" cy="114300"/>
          </a:xfrm>
          <a:prstGeom prst="rect">
            <a:avLst/>
          </a:prstGeom>
          <a:noFill/>
          <a:ln/>
        </p:spPr>
        <p:txBody>
          <a:bodyPr wrap="square" lIns="0" tIns="0" rIns="0" bIns="0" rtlCol="0" anchor="t"/>
          <a:lstStyle/>
          <a:p>
            <a:pPr marL="0" indent="0" algn="l">
              <a:lnSpc>
                <a:spcPts val="862"/>
              </a:lnSpc>
              <a:buNone/>
            </a:pPr>
            <a:r>
              <a:rPr lang="en-US" sz="713" b="1" kern="0" spc="85" dirty="0">
                <a:solidFill>
                  <a:srgbClr val="25F4EE">
                    <a:alpha val="99000"/>
                  </a:srgbClr>
                </a:solidFill>
                <a:latin typeface="Inter" pitchFamily="34" charset="0"/>
                <a:ea typeface="Inter" pitchFamily="34" charset="-122"/>
                <a:cs typeface="Inter" pitchFamily="34" charset="-120"/>
              </a:rPr>
              <a:t>MY TAKE</a:t>
            </a:r>
            <a:endParaRPr lang="en-US" sz="713" dirty="0"/>
          </a:p>
        </p:txBody>
      </p:sp>
      <p:sp>
        <p:nvSpPr>
          <p:cNvPr id="12" name="Text 10"/>
          <p:cNvSpPr/>
          <p:nvPr/>
        </p:nvSpPr>
        <p:spPr>
          <a:xfrm>
            <a:off x="800100" y="2143125"/>
            <a:ext cx="2590800" cy="1309688"/>
          </a:xfrm>
          <a:prstGeom prst="rect">
            <a:avLst/>
          </a:prstGeom>
          <a:noFill/>
          <a:ln/>
        </p:spPr>
        <p:txBody>
          <a:bodyPr wrap="square" lIns="0" tIns="0" rIns="0" bIns="0" rtlCol="0" anchor="t"/>
          <a:lstStyle/>
          <a:p>
            <a:pPr marL="0" indent="0" algn="l">
              <a:lnSpc>
                <a:spcPts val="1959"/>
              </a:lnSpc>
              <a:buNone/>
            </a:pPr>
            <a:r>
              <a:rPr lang="en-US" sz="1568" b="1" dirty="0">
                <a:solidFill>
                  <a:srgbClr val="FFFFFF">
                    <a:alpha val="99000"/>
                  </a:srgbClr>
                </a:solidFill>
                <a:latin typeface="Inter" pitchFamily="34" charset="0"/>
                <a:ea typeface="Inter" pitchFamily="34" charset="-122"/>
                <a:cs typeface="Inter" pitchFamily="34" charset="-120"/>
              </a:rPr>
              <a:t>ByteDance's real innovation was the interest graph: content based on what you like, not who you follow.</a:t>
            </a:r>
            <a:endParaRPr lang="en-US" sz="1568" dirty="0"/>
          </a:p>
        </p:txBody>
      </p:sp>
      <p:sp>
        <p:nvSpPr>
          <p:cNvPr id="13" name="Text 11"/>
          <p:cNvSpPr/>
          <p:nvPr/>
        </p:nvSpPr>
        <p:spPr>
          <a:xfrm>
            <a:off x="800100" y="4048125"/>
            <a:ext cx="2590800" cy="295275"/>
          </a:xfrm>
          <a:prstGeom prst="rect">
            <a:avLst/>
          </a:prstGeom>
          <a:noFill/>
          <a:ln/>
        </p:spPr>
        <p:txBody>
          <a:bodyPr wrap="square" lIns="0" tIns="0" rIns="0" bIns="0" rtlCol="0" anchor="t"/>
          <a:lstStyle/>
          <a:p>
            <a:pPr marL="0" indent="0" algn="l">
              <a:lnSpc>
                <a:spcPts val="1097"/>
              </a:lnSpc>
              <a:buNone/>
            </a:pPr>
            <a:r>
              <a:rPr lang="en-US" sz="784" dirty="0">
                <a:solidFill>
                  <a:srgbClr val="A8B5CC">
                    <a:alpha val="99000"/>
                  </a:srgbClr>
                </a:solidFill>
                <a:latin typeface="Inter" pitchFamily="34" charset="0"/>
                <a:ea typeface="Inter" pitchFamily="34" charset="-122"/>
                <a:cs typeface="Inter" pitchFamily="34" charset="-120"/>
              </a:rPr>
              <a:t>That one idea disrupted the whole social media industry.</a:t>
            </a:r>
            <a:endParaRPr lang="en-US" sz="784" dirty="0"/>
          </a:p>
        </p:txBody>
      </p:sp>
      <p:sp>
        <p:nvSpPr>
          <p:cNvPr id="14" name="Text 12"/>
          <p:cNvSpPr/>
          <p:nvPr/>
        </p:nvSpPr>
        <p:spPr>
          <a:xfrm>
            <a:off x="3905250" y="1409700"/>
            <a:ext cx="171450" cy="209550"/>
          </a:xfrm>
          <a:prstGeom prst="rect">
            <a:avLst/>
          </a:prstGeom>
          <a:noFill/>
          <a:ln/>
        </p:spPr>
        <p:txBody>
          <a:bodyPr wrap="square" lIns="0" tIns="0" rIns="0" bIns="0" rtlCol="0" anchor="t"/>
          <a:lstStyle/>
          <a:p>
            <a:pPr marL="0" indent="0" algn="l">
              <a:lnSpc>
                <a:spcPts val="1552"/>
              </a:lnSpc>
              <a:buNone/>
            </a:pPr>
            <a:r>
              <a:rPr lang="en-US" sz="1283" b="1" dirty="0">
                <a:solidFill>
                  <a:srgbClr val="FE2C55">
                    <a:alpha val="99000"/>
                  </a:srgbClr>
                </a:solidFill>
                <a:latin typeface="Inter" pitchFamily="34" charset="0"/>
                <a:ea typeface="Inter" pitchFamily="34" charset="-122"/>
                <a:cs typeface="Inter" pitchFamily="34" charset="-120"/>
              </a:rPr>
              <a:t>11</a:t>
            </a:r>
            <a:endParaRPr lang="en-US" sz="1283" dirty="0"/>
          </a:p>
        </p:txBody>
      </p:sp>
      <p:sp>
        <p:nvSpPr>
          <p:cNvPr id="15" name="Text 13"/>
          <p:cNvSpPr/>
          <p:nvPr/>
        </p:nvSpPr>
        <p:spPr>
          <a:xfrm>
            <a:off x="4333875" y="1428750"/>
            <a:ext cx="4191000" cy="161925"/>
          </a:xfrm>
          <a:prstGeom prst="rect">
            <a:avLst/>
          </a:prstGeom>
          <a:noFill/>
          <a:ln/>
        </p:spPr>
        <p:txBody>
          <a:bodyPr wrap="square" lIns="0" tIns="0" rIns="0" bIns="0" rtlCol="0" anchor="t"/>
          <a:lstStyle/>
          <a:p>
            <a:pPr marL="0" indent="0" algn="l">
              <a:lnSpc>
                <a:spcPts val="1207"/>
              </a:lnSpc>
              <a:buNone/>
            </a:pPr>
            <a:r>
              <a:rPr lang="en-US" sz="998" b="1" dirty="0">
                <a:solidFill>
                  <a:srgbClr val="121726">
                    <a:alpha val="99000"/>
                  </a:srgbClr>
                </a:solidFill>
                <a:latin typeface="Inter" pitchFamily="34" charset="0"/>
                <a:ea typeface="Inter" pitchFamily="34" charset="-122"/>
                <a:cs typeface="Inter" pitchFamily="34" charset="-120"/>
              </a:rPr>
              <a:t>App-factory culture</a:t>
            </a:r>
            <a:endParaRPr lang="en-US" sz="998" dirty="0"/>
          </a:p>
        </p:txBody>
      </p:sp>
      <p:sp>
        <p:nvSpPr>
          <p:cNvPr id="16" name="Text 14"/>
          <p:cNvSpPr/>
          <p:nvPr/>
        </p:nvSpPr>
        <p:spPr>
          <a:xfrm>
            <a:off x="4333875" y="1628775"/>
            <a:ext cx="4191000" cy="304800"/>
          </a:xfrm>
          <a:prstGeom prst="rect">
            <a:avLst/>
          </a:prstGeom>
          <a:noFill/>
          <a:ln/>
        </p:spPr>
        <p:txBody>
          <a:bodyPr wrap="square" lIns="0" tIns="0" rIns="0" bIns="0" rtlCol="0" anchor="t"/>
          <a:lstStyle/>
          <a:p>
            <a:pPr marL="0" indent="0" algn="l">
              <a:lnSpc>
                <a:spcPts val="1147"/>
              </a:lnSpc>
              <a:buNone/>
            </a:pPr>
            <a:r>
              <a:rPr lang="en-US" sz="819" dirty="0">
                <a:solidFill>
                  <a:srgbClr val="596378">
                    <a:alpha val="99000"/>
                  </a:srgbClr>
                </a:solidFill>
                <a:latin typeface="Inter" pitchFamily="34" charset="0"/>
                <a:ea typeface="Inter" pitchFamily="34" charset="-122"/>
                <a:cs typeface="Inter" pitchFamily="34" charset="-120"/>
              </a:rPr>
              <a:t>Testing many products quickly and scaling the winners is a strong lesson for startups.</a:t>
            </a:r>
            <a:endParaRPr lang="en-US" sz="819" dirty="0"/>
          </a:p>
        </p:txBody>
      </p:sp>
      <p:sp>
        <p:nvSpPr>
          <p:cNvPr id="17" name="Text 15"/>
          <p:cNvSpPr/>
          <p:nvPr/>
        </p:nvSpPr>
        <p:spPr>
          <a:xfrm>
            <a:off x="3905250" y="2124075"/>
            <a:ext cx="171450" cy="209550"/>
          </a:xfrm>
          <a:prstGeom prst="rect">
            <a:avLst/>
          </a:prstGeom>
          <a:noFill/>
          <a:ln/>
        </p:spPr>
        <p:txBody>
          <a:bodyPr wrap="square" lIns="0" tIns="0" rIns="0" bIns="0" rtlCol="0" anchor="t"/>
          <a:lstStyle/>
          <a:p>
            <a:pPr marL="0" indent="0" algn="l">
              <a:lnSpc>
                <a:spcPts val="1552"/>
              </a:lnSpc>
              <a:buNone/>
            </a:pPr>
            <a:r>
              <a:rPr lang="en-US" sz="1283" b="1" dirty="0">
                <a:solidFill>
                  <a:srgbClr val="00999E">
                    <a:alpha val="99000"/>
                  </a:srgbClr>
                </a:solidFill>
                <a:latin typeface="Inter" pitchFamily="34" charset="0"/>
                <a:ea typeface="Inter" pitchFamily="34" charset="-122"/>
                <a:cs typeface="Inter" pitchFamily="34" charset="-120"/>
              </a:rPr>
              <a:t>11</a:t>
            </a:r>
            <a:endParaRPr lang="en-US" sz="1283" dirty="0"/>
          </a:p>
        </p:txBody>
      </p:sp>
      <p:sp>
        <p:nvSpPr>
          <p:cNvPr id="18" name="Text 16"/>
          <p:cNvSpPr/>
          <p:nvPr/>
        </p:nvSpPr>
        <p:spPr>
          <a:xfrm>
            <a:off x="4333875" y="2143125"/>
            <a:ext cx="4191000" cy="161925"/>
          </a:xfrm>
          <a:prstGeom prst="rect">
            <a:avLst/>
          </a:prstGeom>
          <a:noFill/>
          <a:ln/>
        </p:spPr>
        <p:txBody>
          <a:bodyPr wrap="square" lIns="0" tIns="0" rIns="0" bIns="0" rtlCol="0" anchor="t"/>
          <a:lstStyle/>
          <a:p>
            <a:pPr marL="0" indent="0" algn="l">
              <a:lnSpc>
                <a:spcPts val="1207"/>
              </a:lnSpc>
              <a:buNone/>
            </a:pPr>
            <a:r>
              <a:rPr lang="en-US" sz="998" b="1" dirty="0">
                <a:solidFill>
                  <a:srgbClr val="121726">
                    <a:alpha val="99000"/>
                  </a:srgbClr>
                </a:solidFill>
                <a:latin typeface="Inter" pitchFamily="34" charset="0"/>
                <a:ea typeface="Inter" pitchFamily="34" charset="-122"/>
                <a:cs typeface="Inter" pitchFamily="34" charset="-120"/>
              </a:rPr>
              <a:t>Regulation is strategy</a:t>
            </a:r>
            <a:endParaRPr lang="en-US" sz="998" dirty="0"/>
          </a:p>
        </p:txBody>
      </p:sp>
      <p:sp>
        <p:nvSpPr>
          <p:cNvPr id="19" name="Text 17"/>
          <p:cNvSpPr/>
          <p:nvPr/>
        </p:nvSpPr>
        <p:spPr>
          <a:xfrm>
            <a:off x="4333875" y="2343150"/>
            <a:ext cx="4191000" cy="304800"/>
          </a:xfrm>
          <a:prstGeom prst="rect">
            <a:avLst/>
          </a:prstGeom>
          <a:noFill/>
          <a:ln/>
        </p:spPr>
        <p:txBody>
          <a:bodyPr wrap="square" lIns="0" tIns="0" rIns="0" bIns="0" rtlCol="0" anchor="t"/>
          <a:lstStyle/>
          <a:p>
            <a:pPr marL="0" indent="0" algn="l">
              <a:lnSpc>
                <a:spcPts val="1147"/>
              </a:lnSpc>
              <a:buNone/>
            </a:pPr>
            <a:r>
              <a:rPr lang="en-US" sz="819" dirty="0">
                <a:solidFill>
                  <a:srgbClr val="596378">
                    <a:alpha val="99000"/>
                  </a:srgbClr>
                </a:solidFill>
                <a:latin typeface="Inter" pitchFamily="34" charset="0"/>
                <a:ea typeface="Inter" pitchFamily="34" charset="-122"/>
                <a:cs typeface="Inter" pitchFamily="34" charset="-120"/>
              </a:rPr>
              <a:t>The US joint venture shows even a $500B+ company must adapt to local laws. Plan for it from day one.</a:t>
            </a:r>
            <a:endParaRPr lang="en-US" sz="819" dirty="0"/>
          </a:p>
        </p:txBody>
      </p:sp>
      <p:sp>
        <p:nvSpPr>
          <p:cNvPr id="20" name="Text 18"/>
          <p:cNvSpPr/>
          <p:nvPr/>
        </p:nvSpPr>
        <p:spPr>
          <a:xfrm>
            <a:off x="3905250" y="2838450"/>
            <a:ext cx="171450" cy="209550"/>
          </a:xfrm>
          <a:prstGeom prst="rect">
            <a:avLst/>
          </a:prstGeom>
          <a:noFill/>
          <a:ln/>
        </p:spPr>
        <p:txBody>
          <a:bodyPr wrap="square" lIns="0" tIns="0" rIns="0" bIns="0" rtlCol="0" anchor="t"/>
          <a:lstStyle/>
          <a:p>
            <a:pPr marL="0" indent="0" algn="l">
              <a:lnSpc>
                <a:spcPts val="1552"/>
              </a:lnSpc>
              <a:buNone/>
            </a:pPr>
            <a:r>
              <a:rPr lang="en-US" sz="1283" b="1" dirty="0">
                <a:solidFill>
                  <a:srgbClr val="FE2C55">
                    <a:alpha val="99000"/>
                  </a:srgbClr>
                </a:solidFill>
                <a:latin typeface="Inter" pitchFamily="34" charset="0"/>
                <a:ea typeface="Inter" pitchFamily="34" charset="-122"/>
                <a:cs typeface="Inter" pitchFamily="34" charset="-120"/>
              </a:rPr>
              <a:t>11</a:t>
            </a:r>
            <a:endParaRPr lang="en-US" sz="1283" dirty="0"/>
          </a:p>
        </p:txBody>
      </p:sp>
      <p:sp>
        <p:nvSpPr>
          <p:cNvPr id="21" name="Text 19"/>
          <p:cNvSpPr/>
          <p:nvPr/>
        </p:nvSpPr>
        <p:spPr>
          <a:xfrm>
            <a:off x="4333875" y="2857500"/>
            <a:ext cx="4191000" cy="161925"/>
          </a:xfrm>
          <a:prstGeom prst="rect">
            <a:avLst/>
          </a:prstGeom>
          <a:noFill/>
          <a:ln/>
        </p:spPr>
        <p:txBody>
          <a:bodyPr wrap="square" lIns="0" tIns="0" rIns="0" bIns="0" rtlCol="0" anchor="t"/>
          <a:lstStyle/>
          <a:p>
            <a:pPr marL="0" indent="0" algn="l">
              <a:lnSpc>
                <a:spcPts val="1207"/>
              </a:lnSpc>
              <a:buNone/>
            </a:pPr>
            <a:r>
              <a:rPr lang="en-US" sz="998" b="1" dirty="0">
                <a:solidFill>
                  <a:srgbClr val="121726">
                    <a:alpha val="99000"/>
                  </a:srgbClr>
                </a:solidFill>
                <a:latin typeface="Inter" pitchFamily="34" charset="0"/>
                <a:ea typeface="Inter" pitchFamily="34" charset="-122"/>
                <a:cs typeface="Inter" pitchFamily="34" charset="-120"/>
              </a:rPr>
              <a:t>AI: bold but risky</a:t>
            </a:r>
            <a:endParaRPr lang="en-US" sz="998" dirty="0"/>
          </a:p>
        </p:txBody>
      </p:sp>
      <p:sp>
        <p:nvSpPr>
          <p:cNvPr id="22" name="Text 20"/>
          <p:cNvSpPr/>
          <p:nvPr/>
        </p:nvSpPr>
        <p:spPr>
          <a:xfrm>
            <a:off x="4333875" y="3057525"/>
            <a:ext cx="4191000" cy="304800"/>
          </a:xfrm>
          <a:prstGeom prst="rect">
            <a:avLst/>
          </a:prstGeom>
          <a:noFill/>
          <a:ln/>
        </p:spPr>
        <p:txBody>
          <a:bodyPr wrap="square" lIns="0" tIns="0" rIns="0" bIns="0" rtlCol="0" anchor="t"/>
          <a:lstStyle/>
          <a:p>
            <a:pPr marL="0" indent="0" algn="l">
              <a:lnSpc>
                <a:spcPts val="1147"/>
              </a:lnSpc>
              <a:buNone/>
            </a:pPr>
            <a:r>
              <a:rPr lang="en-US" sz="819" dirty="0">
                <a:solidFill>
                  <a:srgbClr val="596378">
                    <a:alpha val="99000"/>
                  </a:srgbClr>
                </a:solidFill>
                <a:latin typeface="Inter" pitchFamily="34" charset="0"/>
                <a:ea typeface="Inter" pitchFamily="34" charset="-122"/>
                <a:cs typeface="Inter" pitchFamily="34" charset="-120"/>
              </a:rPr>
              <a:t>Profits are falling now, but AI spending could secure its future the way cloud did for Amazon.</a:t>
            </a:r>
            <a:endParaRPr lang="en-US" sz="819" dirty="0"/>
          </a:p>
        </p:txBody>
      </p:sp>
      <p:sp>
        <p:nvSpPr>
          <p:cNvPr id="23" name="Text 21"/>
          <p:cNvSpPr/>
          <p:nvPr/>
        </p:nvSpPr>
        <p:spPr>
          <a:xfrm>
            <a:off x="3905250" y="3552825"/>
            <a:ext cx="171450" cy="209550"/>
          </a:xfrm>
          <a:prstGeom prst="rect">
            <a:avLst/>
          </a:prstGeom>
          <a:noFill/>
          <a:ln/>
        </p:spPr>
        <p:txBody>
          <a:bodyPr wrap="square" lIns="0" tIns="0" rIns="0" bIns="0" rtlCol="0" anchor="t"/>
          <a:lstStyle/>
          <a:p>
            <a:pPr marL="0" indent="0" algn="l">
              <a:lnSpc>
                <a:spcPts val="1552"/>
              </a:lnSpc>
              <a:buNone/>
            </a:pPr>
            <a:r>
              <a:rPr lang="en-US" sz="1283" b="1" dirty="0">
                <a:solidFill>
                  <a:srgbClr val="00999E">
                    <a:alpha val="99000"/>
                  </a:srgbClr>
                </a:solidFill>
                <a:latin typeface="Inter" pitchFamily="34" charset="0"/>
                <a:ea typeface="Inter" pitchFamily="34" charset="-122"/>
                <a:cs typeface="Inter" pitchFamily="34" charset="-120"/>
              </a:rPr>
              <a:t>11</a:t>
            </a:r>
            <a:endParaRPr lang="en-US" sz="1283" dirty="0"/>
          </a:p>
        </p:txBody>
      </p:sp>
      <p:sp>
        <p:nvSpPr>
          <p:cNvPr id="24" name="Text 22"/>
          <p:cNvSpPr/>
          <p:nvPr/>
        </p:nvSpPr>
        <p:spPr>
          <a:xfrm>
            <a:off x="4333875" y="3571875"/>
            <a:ext cx="4191000" cy="161925"/>
          </a:xfrm>
          <a:prstGeom prst="rect">
            <a:avLst/>
          </a:prstGeom>
          <a:noFill/>
          <a:ln/>
        </p:spPr>
        <p:txBody>
          <a:bodyPr wrap="square" lIns="0" tIns="0" rIns="0" bIns="0" rtlCol="0" anchor="t"/>
          <a:lstStyle/>
          <a:p>
            <a:pPr marL="0" indent="0" algn="l">
              <a:lnSpc>
                <a:spcPts val="1207"/>
              </a:lnSpc>
              <a:buNone/>
            </a:pPr>
            <a:r>
              <a:rPr lang="en-US" sz="998" b="1" dirty="0">
                <a:solidFill>
                  <a:srgbClr val="121726">
                    <a:alpha val="99000"/>
                  </a:srgbClr>
                </a:solidFill>
                <a:latin typeface="Inter" pitchFamily="34" charset="0"/>
                <a:ea typeface="Inter" pitchFamily="34" charset="-122"/>
                <a:cs typeface="Inter" pitchFamily="34" charset="-120"/>
              </a:rPr>
              <a:t>Lesson for India</a:t>
            </a:r>
            <a:endParaRPr lang="en-US" sz="998" dirty="0"/>
          </a:p>
        </p:txBody>
      </p:sp>
      <p:sp>
        <p:nvSpPr>
          <p:cNvPr id="25" name="Text 23"/>
          <p:cNvSpPr/>
          <p:nvPr/>
        </p:nvSpPr>
        <p:spPr>
          <a:xfrm>
            <a:off x="4333875" y="3771900"/>
            <a:ext cx="4191000" cy="304800"/>
          </a:xfrm>
          <a:prstGeom prst="rect">
            <a:avLst/>
          </a:prstGeom>
          <a:noFill/>
          <a:ln/>
        </p:spPr>
        <p:txBody>
          <a:bodyPr wrap="square" lIns="0" tIns="0" rIns="0" bIns="0" rtlCol="0" anchor="t"/>
          <a:lstStyle/>
          <a:p>
            <a:pPr marL="0" indent="0" algn="l">
              <a:lnSpc>
                <a:spcPts val="1147"/>
              </a:lnSpc>
              <a:buNone/>
            </a:pPr>
            <a:r>
              <a:rPr lang="en-US" sz="819" dirty="0">
                <a:solidFill>
                  <a:srgbClr val="596378">
                    <a:alpha val="99000"/>
                  </a:srgbClr>
                </a:solidFill>
                <a:latin typeface="Inter" pitchFamily="34" charset="0"/>
                <a:ea typeface="Inter" pitchFamily="34" charset="-122"/>
                <a:cs typeface="Inter" pitchFamily="34" charset="-120"/>
              </a:rPr>
              <a:t>Indian startups can build globally, but data trust and compliance must be core features.</a:t>
            </a:r>
            <a:endParaRPr lang="en-US" sz="819"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8FC"/>
        </a:solidFill>
        <a:effectLst/>
      </p:bgPr>
    </p:bg>
    <p:spTree>
      <p:nvGrpSpPr>
        <p:cNvPr id="1" name=""/>
        <p:cNvGrpSpPr/>
        <p:nvPr/>
      </p:nvGrpSpPr>
      <p:grpSpPr>
        <a:xfrm>
          <a:off x="0" y="0"/>
          <a:ext cx="0" cy="0"/>
          <a:chOff x="0" y="0"/>
          <a:chExt cx="0" cy="0"/>
        </a:xfrm>
      </p:grpSpPr>
      <p:sp>
        <p:nvSpPr>
          <p:cNvPr id="2" name="Shape 0"/>
          <p:cNvSpPr/>
          <p:nvPr/>
        </p:nvSpPr>
        <p:spPr>
          <a:xfrm>
            <a:off x="571500" y="533400"/>
            <a:ext cx="38100" cy="285750"/>
          </a:xfrm>
          <a:prstGeom prst="rect">
            <a:avLst/>
          </a:prstGeom>
          <a:solidFill>
            <a:srgbClr val="25F4EE"/>
          </a:solidFill>
          <a:ln/>
        </p:spPr>
      </p:sp>
      <p:sp>
        <p:nvSpPr>
          <p:cNvPr id="3" name="Shape 1"/>
          <p:cNvSpPr/>
          <p:nvPr/>
        </p:nvSpPr>
        <p:spPr>
          <a:xfrm>
            <a:off x="638175" y="571500"/>
            <a:ext cx="38100" cy="285750"/>
          </a:xfrm>
          <a:prstGeom prst="rect">
            <a:avLst/>
          </a:prstGeom>
          <a:solidFill>
            <a:srgbClr val="FE2C55"/>
          </a:solidFill>
          <a:ln/>
        </p:spPr>
      </p:sp>
      <p:sp>
        <p:nvSpPr>
          <p:cNvPr id="4" name="Text 2"/>
          <p:cNvSpPr/>
          <p:nvPr/>
        </p:nvSpPr>
        <p:spPr>
          <a:xfrm>
            <a:off x="781050" y="514350"/>
            <a:ext cx="790575" cy="128588"/>
          </a:xfrm>
          <a:prstGeom prst="rect">
            <a:avLst/>
          </a:prstGeom>
          <a:noFill/>
          <a:ln/>
        </p:spPr>
        <p:txBody>
          <a:bodyPr wrap="square" lIns="0" tIns="0" rIns="0" bIns="0" rtlCol="0" anchor="t"/>
          <a:lstStyle/>
          <a:p>
            <a:pPr marL="0" indent="0" algn="l">
              <a:lnSpc>
                <a:spcPts val="949"/>
              </a:lnSpc>
              <a:buNone/>
            </a:pPr>
            <a:r>
              <a:rPr lang="en-US" sz="784" b="1" kern="0" spc="94" dirty="0">
                <a:solidFill>
                  <a:srgbClr val="FE2C55">
                    <a:alpha val="99000"/>
                  </a:srgbClr>
                </a:solidFill>
                <a:latin typeface="Inter" pitchFamily="34" charset="0"/>
                <a:ea typeface="Inter" pitchFamily="34" charset="-122"/>
                <a:cs typeface="Inter" pitchFamily="34" charset="-120"/>
              </a:rPr>
              <a:t>REFERENCES</a:t>
            </a:r>
            <a:endParaRPr lang="en-US" sz="784" dirty="0"/>
          </a:p>
        </p:txBody>
      </p:sp>
      <p:sp>
        <p:nvSpPr>
          <p:cNvPr id="5" name="Text 3"/>
          <p:cNvSpPr/>
          <p:nvPr/>
        </p:nvSpPr>
        <p:spPr>
          <a:xfrm>
            <a:off x="781050" y="666750"/>
            <a:ext cx="7429500" cy="314325"/>
          </a:xfrm>
          <a:prstGeom prst="rect">
            <a:avLst/>
          </a:prstGeom>
          <a:noFill/>
          <a:ln/>
        </p:spPr>
        <p:txBody>
          <a:bodyPr wrap="square" lIns="0" tIns="0" rIns="0" bIns="0" rtlCol="0" anchor="t"/>
          <a:lstStyle/>
          <a:p>
            <a:pPr marL="0" indent="0" algn="l">
              <a:lnSpc>
                <a:spcPts val="2351"/>
              </a:lnSpc>
              <a:buNone/>
            </a:pPr>
            <a:r>
              <a:rPr lang="en-US" sz="2138" b="1" dirty="0">
                <a:solidFill>
                  <a:srgbClr val="121726">
                    <a:alpha val="99000"/>
                  </a:srgbClr>
                </a:solidFill>
                <a:latin typeface="Inter" pitchFamily="34" charset="0"/>
                <a:ea typeface="Inter" pitchFamily="34" charset="-122"/>
                <a:cs typeface="Inter" pitchFamily="34" charset="-120"/>
              </a:rPr>
              <a:t>References</a:t>
            </a:r>
            <a:endParaRPr lang="en-US" sz="2138" dirty="0"/>
          </a:p>
        </p:txBody>
      </p:sp>
      <p:sp>
        <p:nvSpPr>
          <p:cNvPr id="6" name="Text 4"/>
          <p:cNvSpPr/>
          <p:nvPr/>
        </p:nvSpPr>
        <p:spPr>
          <a:xfrm>
            <a:off x="571500" y="4819650"/>
            <a:ext cx="2547938" cy="104775"/>
          </a:xfrm>
          <a:prstGeom prst="rect">
            <a:avLst/>
          </a:prstGeom>
          <a:noFill/>
          <a:ln/>
        </p:spPr>
        <p:txBody>
          <a:bodyPr wrap="square" lIns="0" tIns="0" rIns="0" bIns="0" rtlCol="0" anchor="t"/>
          <a:lstStyle/>
          <a:p>
            <a:pPr marL="0" indent="0" algn="l">
              <a:lnSpc>
                <a:spcPts val="776"/>
              </a:lnSpc>
              <a:buNone/>
            </a:pPr>
            <a:r>
              <a:rPr lang="en-US" sz="641" dirty="0">
                <a:solidFill>
                  <a:srgbClr val="596378">
                    <a:alpha val="99000"/>
                  </a:srgbClr>
                </a:solidFill>
                <a:latin typeface="Inter" pitchFamily="34" charset="0"/>
                <a:ea typeface="Inter" pitchFamily="34" charset="-122"/>
                <a:cs typeface="Inter" pitchFamily="34" charset="-120"/>
              </a:rPr>
              <a:t>ByteDance  ·  Unicorn Company Case Study  ·  ISE, Semester 7</a:t>
            </a:r>
            <a:endParaRPr lang="en-US" sz="641" dirty="0"/>
          </a:p>
        </p:txBody>
      </p:sp>
      <p:sp>
        <p:nvSpPr>
          <p:cNvPr id="7" name="Text 5"/>
          <p:cNvSpPr/>
          <p:nvPr/>
        </p:nvSpPr>
        <p:spPr>
          <a:xfrm>
            <a:off x="8096250" y="4819650"/>
            <a:ext cx="476250" cy="104775"/>
          </a:xfrm>
          <a:prstGeom prst="rect">
            <a:avLst/>
          </a:prstGeom>
          <a:noFill/>
          <a:ln/>
        </p:spPr>
        <p:txBody>
          <a:bodyPr wrap="square" lIns="0" tIns="0" rIns="0" bIns="0" rtlCol="0" anchor="t"/>
          <a:lstStyle/>
          <a:p>
            <a:pPr marL="0" indent="0" algn="r">
              <a:lnSpc>
                <a:spcPts val="776"/>
              </a:lnSpc>
              <a:buNone/>
            </a:pPr>
            <a:r>
              <a:rPr lang="en-US" sz="641" b="1" dirty="0">
                <a:solidFill>
                  <a:srgbClr val="FE2C55">
                    <a:alpha val="99000"/>
                  </a:srgbClr>
                </a:solidFill>
                <a:latin typeface="Inter" pitchFamily="34" charset="0"/>
                <a:ea typeface="Inter" pitchFamily="34" charset="-122"/>
                <a:cs typeface="Inter" pitchFamily="34" charset="-120"/>
              </a:rPr>
              <a:t>12</a:t>
            </a:r>
            <a:endParaRPr lang="en-US" sz="641" dirty="0"/>
          </a:p>
        </p:txBody>
      </p:sp>
      <p:sp>
        <p:nvSpPr>
          <p:cNvPr id="8" name="Text 6"/>
          <p:cNvSpPr/>
          <p:nvPr/>
        </p:nvSpPr>
        <p:spPr>
          <a:xfrm>
            <a:off x="781050" y="1428750"/>
            <a:ext cx="128588" cy="138113"/>
          </a:xfrm>
          <a:prstGeom prst="rect">
            <a:avLst/>
          </a:prstGeom>
          <a:noFill/>
          <a:ln/>
        </p:spPr>
        <p:txBody>
          <a:bodyPr wrap="square" lIns="0" tIns="0" rIns="0" bIns="0" rtlCol="0" anchor="t"/>
          <a:lstStyle/>
          <a:p>
            <a:pPr marL="0" indent="0" algn="l">
              <a:lnSpc>
                <a:spcPts val="1035"/>
              </a:lnSpc>
              <a:buNone/>
            </a:pPr>
            <a:r>
              <a:rPr lang="en-US" sz="855" b="1" dirty="0">
                <a:solidFill>
                  <a:srgbClr val="FE2C55">
                    <a:alpha val="99000"/>
                  </a:srgbClr>
                </a:solidFill>
                <a:latin typeface="Inter" pitchFamily="34" charset="0"/>
                <a:ea typeface="Inter" pitchFamily="34" charset="-122"/>
                <a:cs typeface="Inter" pitchFamily="34" charset="-120"/>
              </a:rPr>
              <a:t>12</a:t>
            </a:r>
            <a:endParaRPr lang="en-US" sz="855" dirty="0"/>
          </a:p>
        </p:txBody>
      </p:sp>
      <p:sp>
        <p:nvSpPr>
          <p:cNvPr id="9" name="Text 7"/>
          <p:cNvSpPr/>
          <p:nvPr/>
        </p:nvSpPr>
        <p:spPr>
          <a:xfrm>
            <a:off x="1085850" y="1428750"/>
            <a:ext cx="3333750" cy="161925"/>
          </a:xfrm>
          <a:prstGeom prst="rect">
            <a:avLst/>
          </a:prstGeom>
          <a:noFill/>
          <a:ln/>
        </p:spPr>
        <p:txBody>
          <a:bodyPr wrap="square" lIns="0" tIns="0" rIns="0" bIns="0" rtlCol="0" anchor="t"/>
          <a:lstStyle/>
          <a:p>
            <a:pPr marL="0" indent="0" algn="l">
              <a:lnSpc>
                <a:spcPts val="1197"/>
              </a:lnSpc>
              <a:buNone/>
            </a:pPr>
            <a:r>
              <a:rPr lang="en-US" sz="855" dirty="0">
                <a:solidFill>
                  <a:srgbClr val="121726">
                    <a:alpha val="99000"/>
                  </a:srgbClr>
                </a:solidFill>
                <a:latin typeface="Inter" pitchFamily="34" charset="0"/>
                <a:ea typeface="Inter" pitchFamily="34" charset="-122"/>
                <a:cs typeface="Inter" pitchFamily="34" charset="-120"/>
              </a:rPr>
              <a:t>ByteDance official website – bytedance.com/en</a:t>
            </a:r>
            <a:endParaRPr lang="en-US" sz="855" dirty="0"/>
          </a:p>
        </p:txBody>
      </p:sp>
      <p:sp>
        <p:nvSpPr>
          <p:cNvPr id="10" name="Text 8"/>
          <p:cNvSpPr/>
          <p:nvPr/>
        </p:nvSpPr>
        <p:spPr>
          <a:xfrm>
            <a:off x="781050" y="1762125"/>
            <a:ext cx="128588" cy="138113"/>
          </a:xfrm>
          <a:prstGeom prst="rect">
            <a:avLst/>
          </a:prstGeom>
          <a:noFill/>
          <a:ln/>
        </p:spPr>
        <p:txBody>
          <a:bodyPr wrap="square" lIns="0" tIns="0" rIns="0" bIns="0" rtlCol="0" anchor="t"/>
          <a:lstStyle/>
          <a:p>
            <a:pPr marL="0" indent="0" algn="l">
              <a:lnSpc>
                <a:spcPts val="1035"/>
              </a:lnSpc>
              <a:buNone/>
            </a:pPr>
            <a:r>
              <a:rPr lang="en-US" sz="855" b="1" dirty="0">
                <a:solidFill>
                  <a:srgbClr val="FE2C55">
                    <a:alpha val="99000"/>
                  </a:srgbClr>
                </a:solidFill>
                <a:latin typeface="Inter" pitchFamily="34" charset="0"/>
                <a:ea typeface="Inter" pitchFamily="34" charset="-122"/>
                <a:cs typeface="Inter" pitchFamily="34" charset="-120"/>
              </a:rPr>
              <a:t>12</a:t>
            </a:r>
            <a:endParaRPr lang="en-US" sz="855" dirty="0"/>
          </a:p>
        </p:txBody>
      </p:sp>
      <p:sp>
        <p:nvSpPr>
          <p:cNvPr id="11" name="Text 9"/>
          <p:cNvSpPr/>
          <p:nvPr/>
        </p:nvSpPr>
        <p:spPr>
          <a:xfrm>
            <a:off x="1085850" y="1762125"/>
            <a:ext cx="3333750" cy="323850"/>
          </a:xfrm>
          <a:prstGeom prst="rect">
            <a:avLst/>
          </a:prstGeom>
          <a:noFill/>
          <a:ln/>
        </p:spPr>
        <p:txBody>
          <a:bodyPr wrap="square" lIns="0" tIns="0" rIns="0" bIns="0" rtlCol="0" anchor="t"/>
          <a:lstStyle/>
          <a:p>
            <a:pPr marL="0" indent="0" algn="l">
              <a:lnSpc>
                <a:spcPts val="1197"/>
              </a:lnSpc>
              <a:buNone/>
            </a:pPr>
            <a:r>
              <a:rPr lang="en-US" sz="855" dirty="0">
                <a:solidFill>
                  <a:srgbClr val="121726">
                    <a:alpha val="99000"/>
                  </a:srgbClr>
                </a:solidFill>
                <a:latin typeface="Inter" pitchFamily="34" charset="0"/>
                <a:ea typeface="Inter" pitchFamily="34" charset="-122"/>
                <a:cs typeface="Inter" pitchFamily="34" charset="-120"/>
              </a:rPr>
              <a:t>Sacra – ByteDance revenue &amp; valuation – sacra.com/c/bytedance</a:t>
            </a:r>
            <a:endParaRPr lang="en-US" sz="855" dirty="0"/>
          </a:p>
        </p:txBody>
      </p:sp>
      <p:sp>
        <p:nvSpPr>
          <p:cNvPr id="12" name="Text 10"/>
          <p:cNvSpPr/>
          <p:nvPr/>
        </p:nvSpPr>
        <p:spPr>
          <a:xfrm>
            <a:off x="781050" y="2257425"/>
            <a:ext cx="128588" cy="138113"/>
          </a:xfrm>
          <a:prstGeom prst="rect">
            <a:avLst/>
          </a:prstGeom>
          <a:noFill/>
          <a:ln/>
        </p:spPr>
        <p:txBody>
          <a:bodyPr wrap="square" lIns="0" tIns="0" rIns="0" bIns="0" rtlCol="0" anchor="t"/>
          <a:lstStyle/>
          <a:p>
            <a:pPr marL="0" indent="0" algn="l">
              <a:lnSpc>
                <a:spcPts val="1035"/>
              </a:lnSpc>
              <a:buNone/>
            </a:pPr>
            <a:r>
              <a:rPr lang="en-US" sz="855" b="1" dirty="0">
                <a:solidFill>
                  <a:srgbClr val="FE2C55">
                    <a:alpha val="99000"/>
                  </a:srgbClr>
                </a:solidFill>
                <a:latin typeface="Inter" pitchFamily="34" charset="0"/>
                <a:ea typeface="Inter" pitchFamily="34" charset="-122"/>
                <a:cs typeface="Inter" pitchFamily="34" charset="-120"/>
              </a:rPr>
              <a:t>12</a:t>
            </a:r>
            <a:endParaRPr lang="en-US" sz="855" dirty="0"/>
          </a:p>
        </p:txBody>
      </p:sp>
      <p:sp>
        <p:nvSpPr>
          <p:cNvPr id="13" name="Text 11"/>
          <p:cNvSpPr/>
          <p:nvPr/>
        </p:nvSpPr>
        <p:spPr>
          <a:xfrm>
            <a:off x="1085850" y="2257425"/>
            <a:ext cx="3333750" cy="161925"/>
          </a:xfrm>
          <a:prstGeom prst="rect">
            <a:avLst/>
          </a:prstGeom>
          <a:noFill/>
          <a:ln/>
        </p:spPr>
        <p:txBody>
          <a:bodyPr wrap="square" lIns="0" tIns="0" rIns="0" bIns="0" rtlCol="0" anchor="t"/>
          <a:lstStyle/>
          <a:p>
            <a:pPr marL="0" indent="0" algn="l">
              <a:lnSpc>
                <a:spcPts val="1197"/>
              </a:lnSpc>
              <a:buNone/>
            </a:pPr>
            <a:r>
              <a:rPr lang="en-US" sz="855" dirty="0">
                <a:solidFill>
                  <a:srgbClr val="121726">
                    <a:alpha val="99000"/>
                  </a:srgbClr>
                </a:solidFill>
                <a:latin typeface="Inter" pitchFamily="34" charset="0"/>
                <a:ea typeface="Inter" pitchFamily="34" charset="-122"/>
                <a:cs typeface="Inter" pitchFamily="34" charset="-120"/>
              </a:rPr>
              <a:t>Wikipedia – ByteDance; TikTok USDS; Doubao</a:t>
            </a:r>
            <a:endParaRPr lang="en-US" sz="855" dirty="0"/>
          </a:p>
        </p:txBody>
      </p:sp>
      <p:sp>
        <p:nvSpPr>
          <p:cNvPr id="14" name="Text 12"/>
          <p:cNvSpPr/>
          <p:nvPr/>
        </p:nvSpPr>
        <p:spPr>
          <a:xfrm>
            <a:off x="781050" y="2590800"/>
            <a:ext cx="128588" cy="138113"/>
          </a:xfrm>
          <a:prstGeom prst="rect">
            <a:avLst/>
          </a:prstGeom>
          <a:noFill/>
          <a:ln/>
        </p:spPr>
        <p:txBody>
          <a:bodyPr wrap="square" lIns="0" tIns="0" rIns="0" bIns="0" rtlCol="0" anchor="t"/>
          <a:lstStyle/>
          <a:p>
            <a:pPr marL="0" indent="0" algn="l">
              <a:lnSpc>
                <a:spcPts val="1035"/>
              </a:lnSpc>
              <a:buNone/>
            </a:pPr>
            <a:r>
              <a:rPr lang="en-US" sz="855" b="1" dirty="0">
                <a:solidFill>
                  <a:srgbClr val="FE2C55">
                    <a:alpha val="99000"/>
                  </a:srgbClr>
                </a:solidFill>
                <a:latin typeface="Inter" pitchFamily="34" charset="0"/>
                <a:ea typeface="Inter" pitchFamily="34" charset="-122"/>
                <a:cs typeface="Inter" pitchFamily="34" charset="-120"/>
              </a:rPr>
              <a:t>12</a:t>
            </a:r>
            <a:endParaRPr lang="en-US" sz="855" dirty="0"/>
          </a:p>
        </p:txBody>
      </p:sp>
      <p:sp>
        <p:nvSpPr>
          <p:cNvPr id="15" name="Text 13"/>
          <p:cNvSpPr/>
          <p:nvPr/>
        </p:nvSpPr>
        <p:spPr>
          <a:xfrm>
            <a:off x="1085850" y="2590800"/>
            <a:ext cx="3333750" cy="323850"/>
          </a:xfrm>
          <a:prstGeom prst="rect">
            <a:avLst/>
          </a:prstGeom>
          <a:noFill/>
          <a:ln/>
        </p:spPr>
        <p:txBody>
          <a:bodyPr wrap="square" lIns="0" tIns="0" rIns="0" bIns="0" rtlCol="0" anchor="t"/>
          <a:lstStyle/>
          <a:p>
            <a:pPr marL="0" indent="0" algn="l">
              <a:lnSpc>
                <a:spcPts val="1197"/>
              </a:lnSpc>
              <a:buNone/>
            </a:pPr>
            <a:r>
              <a:rPr lang="en-US" sz="855" dirty="0">
                <a:solidFill>
                  <a:srgbClr val="121726">
                    <a:alpha val="99000"/>
                  </a:srgbClr>
                </a:solidFill>
                <a:latin typeface="Inter" pitchFamily="34" charset="0"/>
                <a:ea typeface="Inter" pitchFamily="34" charset="-122"/>
                <a:cs typeface="Inter" pitchFamily="34" charset="-120"/>
              </a:rPr>
              <a:t>Forrester (Jan 2026) – "TikTok Seals the Deal with New US Joint Venture"</a:t>
            </a:r>
            <a:endParaRPr lang="en-US" sz="855" dirty="0"/>
          </a:p>
        </p:txBody>
      </p:sp>
      <p:sp>
        <p:nvSpPr>
          <p:cNvPr id="16" name="Text 14"/>
          <p:cNvSpPr/>
          <p:nvPr/>
        </p:nvSpPr>
        <p:spPr>
          <a:xfrm>
            <a:off x="781050" y="3086100"/>
            <a:ext cx="128588" cy="138113"/>
          </a:xfrm>
          <a:prstGeom prst="rect">
            <a:avLst/>
          </a:prstGeom>
          <a:noFill/>
          <a:ln/>
        </p:spPr>
        <p:txBody>
          <a:bodyPr wrap="square" lIns="0" tIns="0" rIns="0" bIns="0" rtlCol="0" anchor="t"/>
          <a:lstStyle/>
          <a:p>
            <a:pPr marL="0" indent="0" algn="l">
              <a:lnSpc>
                <a:spcPts val="1035"/>
              </a:lnSpc>
              <a:buNone/>
            </a:pPr>
            <a:r>
              <a:rPr lang="en-US" sz="855" b="1" dirty="0">
                <a:solidFill>
                  <a:srgbClr val="FE2C55">
                    <a:alpha val="99000"/>
                  </a:srgbClr>
                </a:solidFill>
                <a:latin typeface="Inter" pitchFamily="34" charset="0"/>
                <a:ea typeface="Inter" pitchFamily="34" charset="-122"/>
                <a:cs typeface="Inter" pitchFamily="34" charset="-120"/>
              </a:rPr>
              <a:t>12</a:t>
            </a:r>
            <a:endParaRPr lang="en-US" sz="855" dirty="0"/>
          </a:p>
        </p:txBody>
      </p:sp>
      <p:sp>
        <p:nvSpPr>
          <p:cNvPr id="17" name="Text 15"/>
          <p:cNvSpPr/>
          <p:nvPr/>
        </p:nvSpPr>
        <p:spPr>
          <a:xfrm>
            <a:off x="1085850" y="3086100"/>
            <a:ext cx="3333750" cy="323850"/>
          </a:xfrm>
          <a:prstGeom prst="rect">
            <a:avLst/>
          </a:prstGeom>
          <a:noFill/>
          <a:ln/>
        </p:spPr>
        <p:txBody>
          <a:bodyPr wrap="square" lIns="0" tIns="0" rIns="0" bIns="0" rtlCol="0" anchor="t"/>
          <a:lstStyle/>
          <a:p>
            <a:pPr marL="0" indent="0" algn="l">
              <a:lnSpc>
                <a:spcPts val="1197"/>
              </a:lnSpc>
              <a:buNone/>
            </a:pPr>
            <a:r>
              <a:rPr lang="en-US" sz="855" dirty="0">
                <a:solidFill>
                  <a:srgbClr val="121726">
                    <a:alpha val="99000"/>
                  </a:srgbClr>
                </a:solidFill>
                <a:latin typeface="Inter" pitchFamily="34" charset="0"/>
                <a:ea typeface="Inter" pitchFamily="34" charset="-122"/>
                <a:cs typeface="Inter" pitchFamily="34" charset="-120"/>
              </a:rPr>
              <a:t>Analytics Insight &amp; 36Kr (Sept 2026) – ByteDance H1 2026 results, citing The Information</a:t>
            </a:r>
            <a:endParaRPr lang="en-US" sz="855" dirty="0"/>
          </a:p>
        </p:txBody>
      </p:sp>
      <p:sp>
        <p:nvSpPr>
          <p:cNvPr id="18" name="Text 16"/>
          <p:cNvSpPr/>
          <p:nvPr/>
        </p:nvSpPr>
        <p:spPr>
          <a:xfrm>
            <a:off x="4762500" y="1428750"/>
            <a:ext cx="128588" cy="138113"/>
          </a:xfrm>
          <a:prstGeom prst="rect">
            <a:avLst/>
          </a:prstGeom>
          <a:noFill/>
          <a:ln/>
        </p:spPr>
        <p:txBody>
          <a:bodyPr wrap="square" lIns="0" tIns="0" rIns="0" bIns="0" rtlCol="0" anchor="t"/>
          <a:lstStyle/>
          <a:p>
            <a:pPr marL="0" indent="0" algn="l">
              <a:lnSpc>
                <a:spcPts val="1035"/>
              </a:lnSpc>
              <a:buNone/>
            </a:pPr>
            <a:r>
              <a:rPr lang="en-US" sz="855" b="1" dirty="0">
                <a:solidFill>
                  <a:srgbClr val="00999E">
                    <a:alpha val="99000"/>
                  </a:srgbClr>
                </a:solidFill>
                <a:latin typeface="Inter" pitchFamily="34" charset="0"/>
                <a:ea typeface="Inter" pitchFamily="34" charset="-122"/>
                <a:cs typeface="Inter" pitchFamily="34" charset="-120"/>
              </a:rPr>
              <a:t>12</a:t>
            </a:r>
            <a:endParaRPr lang="en-US" sz="855" dirty="0"/>
          </a:p>
        </p:txBody>
      </p:sp>
      <p:sp>
        <p:nvSpPr>
          <p:cNvPr id="19" name="Text 17"/>
          <p:cNvSpPr/>
          <p:nvPr/>
        </p:nvSpPr>
        <p:spPr>
          <a:xfrm>
            <a:off x="5067300" y="1428750"/>
            <a:ext cx="3333750" cy="161925"/>
          </a:xfrm>
          <a:prstGeom prst="rect">
            <a:avLst/>
          </a:prstGeom>
          <a:noFill/>
          <a:ln/>
        </p:spPr>
        <p:txBody>
          <a:bodyPr wrap="square" lIns="0" tIns="0" rIns="0" bIns="0" rtlCol="0" anchor="t"/>
          <a:lstStyle/>
          <a:p>
            <a:pPr marL="0" indent="0" algn="l">
              <a:lnSpc>
                <a:spcPts val="1197"/>
              </a:lnSpc>
              <a:buNone/>
            </a:pPr>
            <a:r>
              <a:rPr lang="en-US" sz="855" dirty="0">
                <a:solidFill>
                  <a:srgbClr val="121726">
                    <a:alpha val="99000"/>
                  </a:srgbClr>
                </a:solidFill>
                <a:latin typeface="Inter" pitchFamily="34" charset="0"/>
                <a:ea typeface="Inter" pitchFamily="34" charset="-122"/>
                <a:cs typeface="Inter" pitchFamily="34" charset="-120"/>
              </a:rPr>
              <a:t>Britannica – "ByteDance"</a:t>
            </a:r>
            <a:endParaRPr lang="en-US" sz="855" dirty="0"/>
          </a:p>
        </p:txBody>
      </p:sp>
      <p:sp>
        <p:nvSpPr>
          <p:cNvPr id="20" name="Text 18"/>
          <p:cNvSpPr/>
          <p:nvPr/>
        </p:nvSpPr>
        <p:spPr>
          <a:xfrm>
            <a:off x="4762500" y="1762125"/>
            <a:ext cx="128588" cy="138113"/>
          </a:xfrm>
          <a:prstGeom prst="rect">
            <a:avLst/>
          </a:prstGeom>
          <a:noFill/>
          <a:ln/>
        </p:spPr>
        <p:txBody>
          <a:bodyPr wrap="square" lIns="0" tIns="0" rIns="0" bIns="0" rtlCol="0" anchor="t"/>
          <a:lstStyle/>
          <a:p>
            <a:pPr marL="0" indent="0" algn="l">
              <a:lnSpc>
                <a:spcPts val="1035"/>
              </a:lnSpc>
              <a:buNone/>
            </a:pPr>
            <a:r>
              <a:rPr lang="en-US" sz="855" b="1" dirty="0">
                <a:solidFill>
                  <a:srgbClr val="00999E">
                    <a:alpha val="99000"/>
                  </a:srgbClr>
                </a:solidFill>
                <a:latin typeface="Inter" pitchFamily="34" charset="0"/>
                <a:ea typeface="Inter" pitchFamily="34" charset="-122"/>
                <a:cs typeface="Inter" pitchFamily="34" charset="-120"/>
              </a:rPr>
              <a:t>12</a:t>
            </a:r>
            <a:endParaRPr lang="en-US" sz="855" dirty="0"/>
          </a:p>
        </p:txBody>
      </p:sp>
      <p:sp>
        <p:nvSpPr>
          <p:cNvPr id="21" name="Text 19"/>
          <p:cNvSpPr/>
          <p:nvPr/>
        </p:nvSpPr>
        <p:spPr>
          <a:xfrm>
            <a:off x="5067300" y="1762125"/>
            <a:ext cx="3333750" cy="161925"/>
          </a:xfrm>
          <a:prstGeom prst="rect">
            <a:avLst/>
          </a:prstGeom>
          <a:noFill/>
          <a:ln/>
        </p:spPr>
        <p:txBody>
          <a:bodyPr wrap="square" lIns="0" tIns="0" rIns="0" bIns="0" rtlCol="0" anchor="t"/>
          <a:lstStyle/>
          <a:p>
            <a:pPr marL="0" indent="0" algn="l">
              <a:lnSpc>
                <a:spcPts val="1197"/>
              </a:lnSpc>
              <a:buNone/>
            </a:pPr>
            <a:r>
              <a:rPr lang="en-US" sz="855" dirty="0">
                <a:solidFill>
                  <a:srgbClr val="121726">
                    <a:alpha val="99000"/>
                  </a:srgbClr>
                </a:solidFill>
                <a:latin typeface="Inter" pitchFamily="34" charset="0"/>
                <a:ea typeface="Inter" pitchFamily="34" charset="-122"/>
                <a:cs typeface="Inter" pitchFamily="34" charset="-120"/>
              </a:rPr>
              <a:t>Lee, A. (2013). Welcome to the Unicorn Club. TechCrunch.</a:t>
            </a:r>
            <a:endParaRPr lang="en-US" sz="855" dirty="0"/>
          </a:p>
        </p:txBody>
      </p:sp>
      <p:sp>
        <p:nvSpPr>
          <p:cNvPr id="22" name="Text 20"/>
          <p:cNvSpPr/>
          <p:nvPr/>
        </p:nvSpPr>
        <p:spPr>
          <a:xfrm>
            <a:off x="4762500" y="2095500"/>
            <a:ext cx="128588" cy="138113"/>
          </a:xfrm>
          <a:prstGeom prst="rect">
            <a:avLst/>
          </a:prstGeom>
          <a:noFill/>
          <a:ln/>
        </p:spPr>
        <p:txBody>
          <a:bodyPr wrap="square" lIns="0" tIns="0" rIns="0" bIns="0" rtlCol="0" anchor="t"/>
          <a:lstStyle/>
          <a:p>
            <a:pPr marL="0" indent="0" algn="l">
              <a:lnSpc>
                <a:spcPts val="1035"/>
              </a:lnSpc>
              <a:buNone/>
            </a:pPr>
            <a:r>
              <a:rPr lang="en-US" sz="855" b="1" dirty="0">
                <a:solidFill>
                  <a:srgbClr val="00999E">
                    <a:alpha val="99000"/>
                  </a:srgbClr>
                </a:solidFill>
                <a:latin typeface="Inter" pitchFamily="34" charset="0"/>
                <a:ea typeface="Inter" pitchFamily="34" charset="-122"/>
                <a:cs typeface="Inter" pitchFamily="34" charset="-120"/>
              </a:rPr>
              <a:t>12</a:t>
            </a:r>
            <a:endParaRPr lang="en-US" sz="855" dirty="0"/>
          </a:p>
        </p:txBody>
      </p:sp>
      <p:sp>
        <p:nvSpPr>
          <p:cNvPr id="23" name="Text 21"/>
          <p:cNvSpPr/>
          <p:nvPr/>
        </p:nvSpPr>
        <p:spPr>
          <a:xfrm>
            <a:off x="5067300" y="2095500"/>
            <a:ext cx="3333750" cy="161925"/>
          </a:xfrm>
          <a:prstGeom prst="rect">
            <a:avLst/>
          </a:prstGeom>
          <a:noFill/>
          <a:ln/>
        </p:spPr>
        <p:txBody>
          <a:bodyPr wrap="square" lIns="0" tIns="0" rIns="0" bIns="0" rtlCol="0" anchor="t"/>
          <a:lstStyle/>
          <a:p>
            <a:pPr marL="0" indent="0" algn="l">
              <a:lnSpc>
                <a:spcPts val="1197"/>
              </a:lnSpc>
              <a:buNone/>
            </a:pPr>
            <a:r>
              <a:rPr lang="en-US" sz="855" dirty="0">
                <a:solidFill>
                  <a:srgbClr val="121726">
                    <a:alpha val="99000"/>
                  </a:srgbClr>
                </a:solidFill>
                <a:latin typeface="Inter" pitchFamily="34" charset="0"/>
                <a:ea typeface="Inter" pitchFamily="34" charset="-122"/>
                <a:cs typeface="Inter" pitchFamily="34" charset="-120"/>
              </a:rPr>
              <a:t>Christensen, C. (1997). The Innovator's Dilemma.</a:t>
            </a:r>
            <a:endParaRPr lang="en-US" sz="855" dirty="0"/>
          </a:p>
        </p:txBody>
      </p:sp>
      <p:sp>
        <p:nvSpPr>
          <p:cNvPr id="24" name="Text 22"/>
          <p:cNvSpPr/>
          <p:nvPr/>
        </p:nvSpPr>
        <p:spPr>
          <a:xfrm>
            <a:off x="4762500" y="2428875"/>
            <a:ext cx="128588" cy="138113"/>
          </a:xfrm>
          <a:prstGeom prst="rect">
            <a:avLst/>
          </a:prstGeom>
          <a:noFill/>
          <a:ln/>
        </p:spPr>
        <p:txBody>
          <a:bodyPr wrap="square" lIns="0" tIns="0" rIns="0" bIns="0" rtlCol="0" anchor="t"/>
          <a:lstStyle/>
          <a:p>
            <a:pPr marL="0" indent="0" algn="l">
              <a:lnSpc>
                <a:spcPts val="1035"/>
              </a:lnSpc>
              <a:buNone/>
            </a:pPr>
            <a:r>
              <a:rPr lang="en-US" sz="855" b="1" dirty="0">
                <a:solidFill>
                  <a:srgbClr val="00999E">
                    <a:alpha val="99000"/>
                  </a:srgbClr>
                </a:solidFill>
                <a:latin typeface="Inter" pitchFamily="34" charset="0"/>
                <a:ea typeface="Inter" pitchFamily="34" charset="-122"/>
                <a:cs typeface="Inter" pitchFamily="34" charset="-120"/>
              </a:rPr>
              <a:t>12</a:t>
            </a:r>
            <a:endParaRPr lang="en-US" sz="855" dirty="0"/>
          </a:p>
        </p:txBody>
      </p:sp>
      <p:sp>
        <p:nvSpPr>
          <p:cNvPr id="25" name="Text 23"/>
          <p:cNvSpPr/>
          <p:nvPr/>
        </p:nvSpPr>
        <p:spPr>
          <a:xfrm>
            <a:off x="5067300" y="2428875"/>
            <a:ext cx="3333750" cy="161925"/>
          </a:xfrm>
          <a:prstGeom prst="rect">
            <a:avLst/>
          </a:prstGeom>
          <a:noFill/>
          <a:ln/>
        </p:spPr>
        <p:txBody>
          <a:bodyPr wrap="square" lIns="0" tIns="0" rIns="0" bIns="0" rtlCol="0" anchor="t"/>
          <a:lstStyle/>
          <a:p>
            <a:pPr marL="0" indent="0" algn="l">
              <a:lnSpc>
                <a:spcPts val="1197"/>
              </a:lnSpc>
              <a:buNone/>
            </a:pPr>
            <a:r>
              <a:rPr lang="en-US" sz="855" dirty="0">
                <a:solidFill>
                  <a:srgbClr val="121726">
                    <a:alpha val="99000"/>
                  </a:srgbClr>
                </a:solidFill>
                <a:latin typeface="Inter" pitchFamily="34" charset="0"/>
                <a:ea typeface="Inter" pitchFamily="34" charset="-122"/>
                <a:cs typeface="Inter" pitchFamily="34" charset="-120"/>
              </a:rPr>
              <a:t>Ries, E. (2011). The Lean Startup.</a:t>
            </a:r>
            <a:endParaRPr lang="en-US" sz="855" dirty="0"/>
          </a:p>
        </p:txBody>
      </p:sp>
      <p:sp>
        <p:nvSpPr>
          <p:cNvPr id="26" name="Text 24"/>
          <p:cNvSpPr/>
          <p:nvPr/>
        </p:nvSpPr>
        <p:spPr>
          <a:xfrm>
            <a:off x="4762500" y="2762250"/>
            <a:ext cx="128588" cy="138113"/>
          </a:xfrm>
          <a:prstGeom prst="rect">
            <a:avLst/>
          </a:prstGeom>
          <a:noFill/>
          <a:ln/>
        </p:spPr>
        <p:txBody>
          <a:bodyPr wrap="square" lIns="0" tIns="0" rIns="0" bIns="0" rtlCol="0" anchor="t"/>
          <a:lstStyle/>
          <a:p>
            <a:pPr marL="0" indent="0" algn="l">
              <a:lnSpc>
                <a:spcPts val="1035"/>
              </a:lnSpc>
              <a:buNone/>
            </a:pPr>
            <a:r>
              <a:rPr lang="en-US" sz="855" b="1" dirty="0">
                <a:solidFill>
                  <a:srgbClr val="00999E">
                    <a:alpha val="99000"/>
                  </a:srgbClr>
                </a:solidFill>
                <a:latin typeface="Inter" pitchFamily="34" charset="0"/>
                <a:ea typeface="Inter" pitchFamily="34" charset="-122"/>
                <a:cs typeface="Inter" pitchFamily="34" charset="-120"/>
              </a:rPr>
              <a:t>12</a:t>
            </a:r>
            <a:endParaRPr lang="en-US" sz="855" dirty="0"/>
          </a:p>
        </p:txBody>
      </p:sp>
      <p:sp>
        <p:nvSpPr>
          <p:cNvPr id="27" name="Text 25"/>
          <p:cNvSpPr/>
          <p:nvPr/>
        </p:nvSpPr>
        <p:spPr>
          <a:xfrm>
            <a:off x="5067300" y="2762250"/>
            <a:ext cx="3333750" cy="161925"/>
          </a:xfrm>
          <a:prstGeom prst="rect">
            <a:avLst/>
          </a:prstGeom>
          <a:noFill/>
          <a:ln/>
        </p:spPr>
        <p:txBody>
          <a:bodyPr wrap="square" lIns="0" tIns="0" rIns="0" bIns="0" rtlCol="0" anchor="t"/>
          <a:lstStyle/>
          <a:p>
            <a:pPr marL="0" indent="0" algn="l">
              <a:lnSpc>
                <a:spcPts val="1197"/>
              </a:lnSpc>
              <a:buNone/>
            </a:pPr>
            <a:r>
              <a:rPr lang="en-US" sz="855" dirty="0">
                <a:solidFill>
                  <a:srgbClr val="121726">
                    <a:alpha val="99000"/>
                  </a:srgbClr>
                </a:solidFill>
                <a:latin typeface="Inter" pitchFamily="34" charset="0"/>
                <a:ea typeface="Inter" pitchFamily="34" charset="-122"/>
                <a:cs typeface="Inter" pitchFamily="34" charset="-120"/>
              </a:rPr>
              <a:t>Brennan, M. (2020). Attention Factory.</a:t>
            </a:r>
            <a:endParaRPr lang="en-US" sz="85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223"/>
        </a:solidFill>
        <a:effectLst/>
      </p:bgPr>
    </p:bg>
    <p:spTree>
      <p:nvGrpSpPr>
        <p:cNvPr id="1" name=""/>
        <p:cNvGrpSpPr/>
        <p:nvPr/>
      </p:nvGrpSpPr>
      <p:grpSpPr>
        <a:xfrm>
          <a:off x="0" y="0"/>
          <a:ext cx="0" cy="0"/>
          <a:chOff x="0" y="0"/>
          <a:chExt cx="0" cy="0"/>
        </a:xfrm>
      </p:grpSpPr>
      <p:sp>
        <p:nvSpPr>
          <p:cNvPr id="2" name="Shape 0"/>
          <p:cNvSpPr/>
          <p:nvPr/>
        </p:nvSpPr>
        <p:spPr>
          <a:xfrm>
            <a:off x="6572250" y="2667000"/>
            <a:ext cx="3619500" cy="3619500"/>
          </a:xfrm>
          <a:prstGeom prst="ellipse">
            <a:avLst/>
          </a:prstGeom>
          <a:noFill/>
          <a:ln w="13573">
            <a:solidFill>
              <a:srgbClr val="25F4EE">
                <a:alpha val="25000"/>
              </a:srgbClr>
            </a:solidFill>
            <a:prstDash val="solid"/>
          </a:ln>
        </p:spPr>
      </p:sp>
      <p:sp>
        <p:nvSpPr>
          <p:cNvPr id="3" name="Shape 1"/>
          <p:cNvSpPr/>
          <p:nvPr/>
        </p:nvSpPr>
        <p:spPr>
          <a:xfrm>
            <a:off x="7429500" y="3333750"/>
            <a:ext cx="2476500" cy="2476500"/>
          </a:xfrm>
          <a:prstGeom prst="ellipse">
            <a:avLst/>
          </a:prstGeom>
          <a:noFill/>
          <a:ln w="13573">
            <a:solidFill>
              <a:srgbClr val="FE2C55">
                <a:alpha val="30000"/>
              </a:srgbClr>
            </a:solidFill>
            <a:prstDash val="solid"/>
          </a:ln>
        </p:spPr>
      </p:sp>
      <p:sp>
        <p:nvSpPr>
          <p:cNvPr id="4" name="Shape 2"/>
          <p:cNvSpPr/>
          <p:nvPr/>
        </p:nvSpPr>
        <p:spPr>
          <a:xfrm>
            <a:off x="571500" y="1428750"/>
            <a:ext cx="47625" cy="1714500"/>
          </a:xfrm>
          <a:prstGeom prst="rect">
            <a:avLst/>
          </a:prstGeom>
          <a:solidFill>
            <a:srgbClr val="25F4EE"/>
          </a:solidFill>
          <a:ln/>
        </p:spPr>
      </p:sp>
      <p:sp>
        <p:nvSpPr>
          <p:cNvPr id="5" name="Shape 3"/>
          <p:cNvSpPr/>
          <p:nvPr/>
        </p:nvSpPr>
        <p:spPr>
          <a:xfrm>
            <a:off x="657225" y="1524000"/>
            <a:ext cx="47625" cy="1714500"/>
          </a:xfrm>
          <a:prstGeom prst="rect">
            <a:avLst/>
          </a:prstGeom>
          <a:solidFill>
            <a:srgbClr val="FE2C55"/>
          </a:solidFill>
          <a:ln/>
        </p:spPr>
      </p:sp>
      <p:sp>
        <p:nvSpPr>
          <p:cNvPr id="6" name="Text 4"/>
          <p:cNvSpPr/>
          <p:nvPr/>
        </p:nvSpPr>
        <p:spPr>
          <a:xfrm>
            <a:off x="904875" y="1428750"/>
            <a:ext cx="3152775" cy="923925"/>
          </a:xfrm>
          <a:prstGeom prst="rect">
            <a:avLst/>
          </a:prstGeom>
          <a:noFill/>
          <a:ln/>
        </p:spPr>
        <p:txBody>
          <a:bodyPr wrap="square" lIns="0" tIns="0" rIns="0" bIns="0" rtlCol="0" anchor="t"/>
          <a:lstStyle/>
          <a:p>
            <a:pPr marL="0" indent="0" algn="l">
              <a:lnSpc>
                <a:spcPts val="6898"/>
              </a:lnSpc>
              <a:buNone/>
            </a:pPr>
            <a:r>
              <a:rPr lang="en-US" sz="5700" b="1" dirty="0">
                <a:solidFill>
                  <a:srgbClr val="FFFFFF">
                    <a:alpha val="99000"/>
                  </a:srgbClr>
                </a:solidFill>
                <a:latin typeface="Inter" pitchFamily="34" charset="0"/>
                <a:ea typeface="Inter" pitchFamily="34" charset="-122"/>
                <a:cs typeface="Inter" pitchFamily="34" charset="-120"/>
              </a:rPr>
              <a:t>Thank You!</a:t>
            </a:r>
            <a:endParaRPr lang="en-US" sz="5700" dirty="0"/>
          </a:p>
        </p:txBody>
      </p:sp>
      <p:sp>
        <p:nvSpPr>
          <p:cNvPr id="8" name="Text 6"/>
          <p:cNvSpPr/>
          <p:nvPr/>
        </p:nvSpPr>
        <p:spPr>
          <a:xfrm>
            <a:off x="933450" y="4000500"/>
            <a:ext cx="3357563" cy="161925"/>
          </a:xfrm>
          <a:prstGeom prst="rect">
            <a:avLst/>
          </a:prstGeom>
          <a:noFill/>
          <a:ln/>
        </p:spPr>
        <p:txBody>
          <a:bodyPr wrap="square" lIns="0" tIns="0" rIns="0" bIns="0" rtlCol="0" anchor="t"/>
          <a:lstStyle/>
          <a:p>
            <a:pPr marL="0" indent="0" algn="l">
              <a:lnSpc>
                <a:spcPts val="1207"/>
              </a:lnSpc>
              <a:buNone/>
            </a:pPr>
            <a:r>
              <a:rPr lang="en-US" sz="998" dirty="0">
                <a:solidFill>
                  <a:srgbClr val="A8B5CC">
                    <a:alpha val="99000"/>
                  </a:srgbClr>
                </a:solidFill>
                <a:latin typeface="Inter" pitchFamily="34" charset="0"/>
                <a:ea typeface="Inter" pitchFamily="34" charset="-122"/>
                <a:cs typeface="Inter" pitchFamily="34" charset="-120"/>
              </a:rPr>
              <a:t>Bhavya Thakkar  ·  Enrolment No. 202302626010136</a:t>
            </a:r>
            <a:endParaRPr lang="en-US" sz="998" dirty="0"/>
          </a:p>
        </p:txBody>
      </p:sp>
      <p:sp>
        <p:nvSpPr>
          <p:cNvPr id="9" name="Text 7"/>
          <p:cNvSpPr/>
          <p:nvPr/>
        </p:nvSpPr>
        <p:spPr>
          <a:xfrm>
            <a:off x="933450" y="4819650"/>
            <a:ext cx="2547938" cy="104775"/>
          </a:xfrm>
          <a:prstGeom prst="rect">
            <a:avLst/>
          </a:prstGeom>
          <a:noFill/>
          <a:ln/>
        </p:spPr>
        <p:txBody>
          <a:bodyPr wrap="square" lIns="0" tIns="0" rIns="0" bIns="0" rtlCol="0" anchor="t"/>
          <a:lstStyle/>
          <a:p>
            <a:pPr marL="0" indent="0" algn="l">
              <a:lnSpc>
                <a:spcPts val="776"/>
              </a:lnSpc>
              <a:buNone/>
            </a:pPr>
            <a:r>
              <a:rPr lang="en-US" sz="641" dirty="0">
                <a:solidFill>
                  <a:srgbClr val="A8B5CC">
                    <a:alpha val="99000"/>
                  </a:srgbClr>
                </a:solidFill>
                <a:latin typeface="Inter" pitchFamily="34" charset="0"/>
                <a:ea typeface="Inter" pitchFamily="34" charset="-122"/>
                <a:cs typeface="Inter" pitchFamily="34" charset="-120"/>
              </a:rPr>
              <a:t>ByteDance  ·  Unicorn Company Case Study  ·  ISE, Semester 7</a:t>
            </a:r>
            <a:endParaRPr lang="en-US" sz="641"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25</TotalTime>
  <Words>1400</Words>
  <Application>Microsoft Office PowerPoint</Application>
  <PresentationFormat>On-screen Show (16:9)</PresentationFormat>
  <Paragraphs>247</Paragraphs>
  <Slides>13</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Times New Roman</vt:lpstr>
      <vt:lpstr>Arial</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Bhavya Thakkar</cp:lastModifiedBy>
  <cp:revision>4</cp:revision>
  <dcterms:created xsi:type="dcterms:W3CDTF">2026-10-14T05:00:42Z</dcterms:created>
  <dcterms:modified xsi:type="dcterms:W3CDTF">2026-10-14T05:40:56Z</dcterms:modified>
</cp:coreProperties>
</file>